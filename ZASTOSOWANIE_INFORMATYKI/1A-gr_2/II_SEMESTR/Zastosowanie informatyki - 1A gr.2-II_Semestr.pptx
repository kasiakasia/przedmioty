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Tahoma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3606b3a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3606b3a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3606b3a8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3606b3a8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3606b3a8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3606b3a8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3606b3a84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3606b3a84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3606b3a84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3606b3a84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3606b3a84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3606b3a84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3606b3a8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3606b3a8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3606b3a84_1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3606b3a84_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ode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400"/>
              <a:t>Przedmiot: Zastosowania informatyki</a:t>
            </a:r>
            <a:endParaRPr b="1" sz="2400"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semestr: 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Font typeface="Arial"/>
              <a:buNone/>
            </a:pPr>
            <a:r>
              <a:rPr b="1" lang="pl" sz="2688">
                <a:solidFill>
                  <a:srgbClr val="0F1115"/>
                </a:solidFill>
                <a:highlight>
                  <a:srgbClr val="FFFFFF"/>
                </a:highlight>
              </a:rPr>
              <a:t>Programowanie w chmurze (Cloud Computing)</a:t>
            </a:r>
            <a:endParaRPr b="1" sz="2688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B5394"/>
                </a:solidFill>
                <a:highlight>
                  <a:srgbClr val="FFFFFF"/>
                </a:highlight>
              </a:rPr>
              <a:t>Programowanie w chmurze to </a:t>
            </a:r>
            <a:r>
              <a:rPr b="1" lang="pl" sz="1400">
                <a:solidFill>
                  <a:srgbClr val="0B5394"/>
                </a:solidFill>
                <a:highlight>
                  <a:srgbClr val="FFFFFF"/>
                </a:highlight>
              </a:rPr>
              <a:t>tworzenie, wdrażanie i zarządzanie aplikacjami przy wykorzystaniu usług świadczonych przez dostawców chmury obliczeniowej (cloud computing)</a:t>
            </a:r>
            <a:r>
              <a:rPr lang="pl" sz="1400">
                <a:solidFill>
                  <a:srgbClr val="0B5394"/>
                </a:solidFill>
                <a:highlight>
                  <a:srgbClr val="FFFFFF"/>
                </a:highlight>
              </a:rPr>
              <a:t>. </a:t>
            </a:r>
            <a:endParaRPr sz="1400">
              <a:solidFill>
                <a:srgbClr val="0B539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B5394"/>
                </a:solidFill>
                <a:highlight>
                  <a:srgbClr val="FFFFFF"/>
                </a:highlight>
              </a:rPr>
              <a:t>Zamiast budować własną infrastrukturę serwerową, programiści korzystają z zasobów udostępnianych przez dostawców jak AWS, Google Cloud, Microsoft Azure czy Oracle Cloud.</a:t>
            </a:r>
            <a:endParaRPr sz="1400">
              <a:solidFill>
                <a:srgbClr val="0B539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B539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</a:rPr>
              <a:t>Kluczowe cechy:</a:t>
            </a:r>
            <a:endParaRPr b="1" sz="1400">
              <a:solidFill>
                <a:srgbClr val="38761D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rgbClr val="38761D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</a:rPr>
              <a:t>Elastyczność skalowania</a:t>
            </a:r>
            <a:r>
              <a:rPr lang="pl" sz="1400">
                <a:solidFill>
                  <a:srgbClr val="38761D"/>
                </a:solidFill>
                <a:highlight>
                  <a:srgbClr val="FFFFFF"/>
                </a:highlight>
              </a:rPr>
              <a:t> - </a:t>
            </a:r>
            <a:r>
              <a:rPr lang="pl" sz="1400">
                <a:solidFill>
                  <a:schemeClr val="dk1"/>
                </a:solidFill>
                <a:highlight>
                  <a:srgbClr val="FFFFFF"/>
                </a:highlight>
              </a:rPr>
              <a:t>automatyczne dopasowanie zasobów do obciążenia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</a:rPr>
              <a:t>Model płatności "pay-as-you-go" </a:t>
            </a:r>
            <a:r>
              <a:rPr lang="pl" sz="1400">
                <a:solidFill>
                  <a:schemeClr val="dk1"/>
                </a:solidFill>
                <a:highlight>
                  <a:srgbClr val="FFFFFF"/>
                </a:highlight>
              </a:rPr>
              <a:t>- płacisz tylko za faktycznie użyte zasoby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</a:rPr>
              <a:t>Zarządzana infrastruktura</a:t>
            </a:r>
            <a:r>
              <a:rPr lang="pl" sz="1400">
                <a:solidFill>
                  <a:srgbClr val="38761D"/>
                </a:solidFill>
                <a:highlight>
                  <a:srgbClr val="FFFFFF"/>
                </a:highlight>
              </a:rPr>
              <a:t> </a:t>
            </a:r>
            <a:r>
              <a:rPr lang="pl" sz="1400">
                <a:solidFill>
                  <a:schemeClr val="dk1"/>
                </a:solidFill>
                <a:highlight>
                  <a:srgbClr val="FFFFFF"/>
                </a:highlight>
              </a:rPr>
              <a:t>- dostawca zajmuje się serwerami, siecią, bezpieczeństwem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</a:rPr>
              <a:t>Globalna dostępność</a:t>
            </a:r>
            <a:r>
              <a:rPr lang="pl" sz="1400">
                <a:solidFill>
                  <a:srgbClr val="38761D"/>
                </a:solidFill>
                <a:highlight>
                  <a:srgbClr val="FFFFFF"/>
                </a:highlight>
              </a:rPr>
              <a:t> </a:t>
            </a:r>
            <a:r>
              <a:rPr lang="pl" sz="1400">
                <a:solidFill>
                  <a:schemeClr val="dk1"/>
                </a:solidFill>
                <a:highlight>
                  <a:srgbClr val="FFFFFF"/>
                </a:highlight>
              </a:rPr>
              <a:t>- aplikacje działają w wielu regionach świata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B539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pl" sz="2650">
                <a:solidFill>
                  <a:srgbClr val="0F1115"/>
                </a:solidFill>
                <a:highlight>
                  <a:srgbClr val="FFFFFF"/>
                </a:highlight>
              </a:rPr>
              <a:t>Zastosowania programowania w chmurze</a:t>
            </a:r>
            <a:endParaRPr b="1" sz="265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34F5C"/>
                </a:solidFill>
                <a:highlight>
                  <a:srgbClr val="FFFFFF"/>
                </a:highlight>
              </a:rPr>
              <a:t>1. Aplikacje webowe i mobilne</a:t>
            </a:r>
            <a:endParaRPr b="1" sz="1400">
              <a:solidFill>
                <a:srgbClr val="134F5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400">
                <a:solidFill>
                  <a:srgbClr val="134F5C"/>
                </a:solidFill>
                <a:highlight>
                  <a:srgbClr val="FFFFFF"/>
                </a:highlight>
              </a:rPr>
              <a:t>2. Przetwarzanie danych Big Data</a:t>
            </a:r>
            <a:endParaRPr b="1" sz="1400">
              <a:solidFill>
                <a:srgbClr val="134F5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rgbClr val="FFFFFF"/>
                </a:highlight>
              </a:rPr>
              <a:t>Analiza dużych zbiorów danych (Hadoop, Spark w chmurze)</a:t>
            </a:r>
            <a:endParaRPr sz="14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rgbClr val="FFFFFF"/>
                </a:highlight>
              </a:rPr>
              <a:t>Machine Learning (Google AI Platform, AWS SageMaker)</a:t>
            </a:r>
            <a:endParaRPr sz="14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rgbClr val="FFFFFF"/>
                </a:highlight>
              </a:rPr>
              <a:t>Streamowanie danych w czasie rzeczywistym</a:t>
            </a:r>
            <a:endParaRPr sz="14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34F5C"/>
                </a:solidFill>
                <a:highlight>
                  <a:srgbClr val="FFFFFF"/>
                </a:highlight>
              </a:rPr>
              <a:t>3. Internet Rzeczy (IoT)</a:t>
            </a:r>
            <a:endParaRPr b="1" sz="1400">
              <a:solidFill>
                <a:srgbClr val="134F5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IoT (Internet Rzeczy, ang. </a:t>
            </a:r>
            <a:r>
              <a:rPr i="1" lang="pl" sz="1400">
                <a:solidFill>
                  <a:srgbClr val="0A0A0A"/>
                </a:solidFill>
                <a:highlight>
                  <a:srgbClr val="FFFFFF"/>
                </a:highlight>
              </a:rPr>
              <a:t>Internet of Things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</a:rPr>
              <a:t>) to</a:t>
            </a:r>
            <a:r>
              <a:rPr lang="pl" sz="1400">
                <a:solidFill>
                  <a:srgbClr val="134F5C"/>
                </a:solidFill>
                <a:highlight>
                  <a:srgbClr val="FFFFFF"/>
                </a:highlight>
              </a:rPr>
              <a:t> </a:t>
            </a:r>
            <a:r>
              <a:rPr lang="pl" sz="1400">
                <a:solidFill>
                  <a:srgbClr val="134F5C"/>
                </a:solidFill>
              </a:rPr>
              <a:t>koncepcja sieci fizycznych obiektów („rzeczy”) wyposażonych w czujniki, oprogramowanie i moduły łączności, które komunikują się ze sobą oraz z użytkownikami przez internet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</a:rPr>
              <a:t>. Umożliwia to automatyzację, zbieranie danych i zdalne sterowanie urządzeniami (smart home, przemysł) przy minimalnej ingerencji człowieka. 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b="1" lang="pl" sz="2650">
                <a:solidFill>
                  <a:srgbClr val="0F1115"/>
                </a:solidFill>
                <a:highlight>
                  <a:schemeClr val="lt1"/>
                </a:highlight>
              </a:rPr>
              <a:t>Zastosowania programowania w chmurze</a:t>
            </a:r>
            <a:endParaRPr b="1" sz="265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b="1"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pl" sz="1400">
                <a:solidFill>
                  <a:srgbClr val="0F1115"/>
                </a:solidFill>
                <a:highlight>
                  <a:schemeClr val="lt1"/>
                </a:highlight>
              </a:rPr>
              <a:t>4. DevOps i CI/CD</a:t>
            </a:r>
            <a:endParaRPr b="1"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chemeClr val="lt1"/>
                </a:highlight>
              </a:rPr>
              <a:t>Automatyczne wdrażanie aplikacji (AWS CodeDeploy, Azure DevOps)</a:t>
            </a:r>
            <a:endParaRPr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chemeClr val="lt1"/>
                </a:highlight>
              </a:rPr>
              <a:t>Konteneryzacja (Docker + Kubernetes w chmurze)</a:t>
            </a:r>
            <a:endParaRPr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Arial"/>
              <a:buChar char="●"/>
            </a:pPr>
            <a:r>
              <a:rPr lang="pl" sz="1400">
                <a:solidFill>
                  <a:srgbClr val="0F1115"/>
                </a:solidFill>
                <a:highlight>
                  <a:schemeClr val="lt1"/>
                </a:highlight>
              </a:rPr>
              <a:t>Monitorowanie i logowanie</a:t>
            </a:r>
            <a:endParaRPr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F1115"/>
                </a:solidFill>
                <a:highlight>
                  <a:schemeClr val="lt1"/>
                </a:highlight>
              </a:rPr>
              <a:t>5. Aplikacje bezserwerowe (Serverless)</a:t>
            </a:r>
            <a:endParaRPr b="1"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pl" sz="1400">
                <a:solidFill>
                  <a:srgbClr val="0F1115"/>
                </a:solidFill>
                <a:highlight>
                  <a:srgbClr val="FFFFFF"/>
                </a:highlight>
              </a:rPr>
              <a:t>Serverless to model programowania w chmurze, w którym nie zarządzasz serwerami w ogóle. Dostawca chmury (AWS, Azure, Google) automatycznie obsługuje całą infrastrukturę serwerową. Płacisz tylko za czas rzeczywistego wykonania kodu, a nie za działające 24/7 serwery.</a:t>
            </a:r>
            <a:endParaRPr b="1"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b="1" sz="1400">
              <a:solidFill>
                <a:srgbClr val="0F1115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progr. rozproszonego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729450" y="2042500"/>
            <a:ext cx="76887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Rodzaj:</a:t>
            </a:r>
            <a:endParaRPr b="1"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Klient–serwer (Client–Server)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Klient wysyła żądania, serwer odpowiada.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Strona WWW (przeglądarka ↔ serwer)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Wielowarstwowe (n-warstwowe)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podzielony na warstwy: prezentacji, logiki i danych.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Aplikacja webowa: frontend – backend – baza danych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Peer-to-Peer (P2P)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Każdy komputer (węzeł) może być klientem i serwerem jednocześnie.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Torrent, komunikatory (np. Skype, BitTorrent)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programow. rozproszonego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Zdalne wywołania procedur (RPC)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Program na jednym komputerze wywołuje funkcję na innym.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Java RMI, gRPC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Systemy oparte o komunikaty (Message-Oriented)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Komputery komunikują się przez kolejki wiadomości.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RabbitMQ, Apache Kafka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Mikroserwisowe (Microservices)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składa się z wielu małych usług, które komunikują się przez sieć.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Aplikacje w chmurze (np. Netflix, Amazon)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Grid Computing / Cloud Computing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Wiele serwerów współdzieli zasoby obliczeniowe lub pamięć.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AWS, Azure, Google Cloud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używane w progr. rozproszonym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Obszar:			Przykłady</a:t>
            </a:r>
            <a:endParaRPr b="1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Backend 			Java (Spring Cloud), .NET, </a:t>
            </a:r>
            <a:r>
              <a:rPr lang="pl" sz="140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Komunikacja		REST API, gRPC, WebSocket, message queues (RabbitMQ, Kafka)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Bazy danych		MongoDB, Cassandra, PostgreSQL Cluster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Architektura		mikroserwisy, chmura (AWS, Azure, GCP)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Cechy systemów rozproszonych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729450" y="2078875"/>
            <a:ext cx="7688700" cy="27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Cecha				Znaczenie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Współbieżność			wiele komputerów działa jednocześnie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Komunikacja przez sieć		wymiana danych np. przez HTTP, TCP/IP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Niezależność sprzętowa		różne komputery i systemy operacyjne mogą współpracować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Odporność na awarie		gdy jeden element padnie, reszta może działać dalej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Skalowalność			łatwo dodać więcej maszyn, żeby system działał szybciej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 z życia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Wyobraź sobie aplikację bankową:</a:t>
            </a:r>
            <a:endParaRPr b="1"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A obsługuje logowanie,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B zapisuje dane klientów w bazie,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C przetwarza płatności.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Współpracują razem w sieci —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właśnie programowanie rozproszone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