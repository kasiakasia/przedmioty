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y="5143500" cx="9144000"/>
  <p:notesSz cx="6858000" cy="9144000"/>
  <p:embeddedFontLst>
    <p:embeddedFont>
      <p:font typeface="Raleway"/>
      <p:regular r:id="rId27"/>
      <p:bold r:id="rId28"/>
      <p:italic r:id="rId29"/>
      <p:boldItalic r:id="rId30"/>
    </p:embeddedFont>
    <p:embeddedFont>
      <p:font typeface="Lato"/>
      <p:regular r:id="rId31"/>
      <p:bold r:id="rId32"/>
      <p:italic r:id="rId33"/>
      <p:boldItalic r:id="rId34"/>
    </p:embeddedFont>
    <p:embeddedFont>
      <p:font typeface="Tahoma"/>
      <p:regular r:id="rId35"/>
      <p:bold r:id="rId3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font" Target="fonts/Raleway-bold.fntdata"/><Relationship Id="rId27" Type="http://schemas.openxmlformats.org/officeDocument/2006/relationships/font" Target="fonts/Raleway-regular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Raleway-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Lato-regular.fntdata"/><Relationship Id="rId30" Type="http://schemas.openxmlformats.org/officeDocument/2006/relationships/font" Target="fonts/Raleway-boldItalic.fntdata"/><Relationship Id="rId11" Type="http://schemas.openxmlformats.org/officeDocument/2006/relationships/slide" Target="slides/slide6.xml"/><Relationship Id="rId33" Type="http://schemas.openxmlformats.org/officeDocument/2006/relationships/font" Target="fonts/Lato-italic.fntdata"/><Relationship Id="rId10" Type="http://schemas.openxmlformats.org/officeDocument/2006/relationships/slide" Target="slides/slide5.xml"/><Relationship Id="rId32" Type="http://schemas.openxmlformats.org/officeDocument/2006/relationships/font" Target="fonts/Lato-bold.fntdata"/><Relationship Id="rId13" Type="http://schemas.openxmlformats.org/officeDocument/2006/relationships/slide" Target="slides/slide8.xml"/><Relationship Id="rId35" Type="http://schemas.openxmlformats.org/officeDocument/2006/relationships/font" Target="fonts/Tahoma-regular.fntdata"/><Relationship Id="rId12" Type="http://schemas.openxmlformats.org/officeDocument/2006/relationships/slide" Target="slides/slide7.xml"/><Relationship Id="rId34" Type="http://schemas.openxmlformats.org/officeDocument/2006/relationships/font" Target="fonts/Lato-boldItalic.fntdata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36" Type="http://schemas.openxmlformats.org/officeDocument/2006/relationships/font" Target="fonts/Tahoma-bold.fntdata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9edc685857_0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9edc685857_0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9edc685857_0_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9edc685857_0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9edc685857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9edc685857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9edc685857_0_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9edc685857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9edc685857_0_1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9edc685857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9edc685857_0_1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9edc685857_0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9edc685857_0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9edc685857_0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9edc685857_0_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9edc685857_0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9edc685857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9edc685857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9edc685857_0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9edc685857_0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6fbc4a1c5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6fbc4a1c5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6fbc4a1c57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6fbc4a1c57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6fbc4a1c57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6fbc4a1c57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6fbc4a1c57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6fbc4a1c57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6fbc4a1c57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6fbc4a1c57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6fbc4a1c57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6fbc4a1c57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6fbc4a1c57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6fbc4a1c57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fbc4a1c57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6fbc4a1c57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6fbc4a1c57_0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6fbc4a1c57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6fbc4a1c57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6fbc4a1c57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" name="Google Shape;14;p2"/>
          <p:cNvSpPr txBox="1"/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" name="Google Shape;15;p2"/>
          <p:cNvSpPr txBox="1"/>
          <p:nvPr>
            <p:ph idx="1" type="subTitle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p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9" name="Google Shape;19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" name="Google Shape;21;p3"/>
          <p:cNvSpPr txBox="1"/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" name="Google Shape;25;p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6" name="Google Shape;26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8" name="Google Shape;28;p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3" name="Google Shape;33;p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4" name="Google Shape;34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6" name="Google Shape;36;p5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729325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2" type="body"/>
          </p:nvPr>
        </p:nvSpPr>
        <p:spPr>
          <a:xfrm>
            <a:off x="4643604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2" name="Google Shape;42;p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3" name="Google Shape;43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6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9" name="Google Shape;49;p7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0" name="Google Shape;50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7"/>
          <p:cNvSpPr txBox="1"/>
          <p:nvPr>
            <p:ph type="title"/>
          </p:nvPr>
        </p:nvSpPr>
        <p:spPr>
          <a:xfrm>
            <a:off x="730000" y="1318650"/>
            <a:ext cx="3300900" cy="138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53" name="Google Shape;53;p7"/>
          <p:cNvSpPr txBox="1"/>
          <p:nvPr>
            <p:ph idx="1" type="body"/>
          </p:nvPr>
        </p:nvSpPr>
        <p:spPr>
          <a:xfrm>
            <a:off x="721225" y="2781725"/>
            <a:ext cx="3300900" cy="159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57" name="Google Shape;5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9" name="Google Shape;59;p8"/>
          <p:cNvSpPr txBox="1"/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3" name="Google Shape;63;p9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4" name="Google Shape;64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9"/>
          <p:cNvSpPr txBox="1"/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67" name="Google Shape;67;p9"/>
          <p:cNvSpPr txBox="1"/>
          <p:nvPr>
            <p:ph idx="1" type="subTitle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68" name="Google Shape;68;p9"/>
          <p:cNvSpPr txBox="1"/>
          <p:nvPr>
            <p:ph idx="2" type="body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idx="1" type="body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75" name="Google Shape;75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7" name="Google Shape;77;p11"/>
          <p:cNvSpPr txBox="1"/>
          <p:nvPr>
            <p:ph hasCustomPrompt="1" type="title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p11"/>
          <p:cNvSpPr txBox="1"/>
          <p:nvPr>
            <p:ph idx="1" type="body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treamlin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/>
          <p:nvPr>
            <p:ph type="ctrTitle"/>
          </p:nvPr>
        </p:nvSpPr>
        <p:spPr>
          <a:xfrm>
            <a:off x="729450" y="1322450"/>
            <a:ext cx="7688100" cy="51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Sieci przewodowe</a:t>
            </a:r>
            <a:endParaRPr sz="2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87" name="Google Shape;87;p13"/>
          <p:cNvSpPr txBox="1"/>
          <p:nvPr>
            <p:ph idx="1" type="subTitle"/>
          </p:nvPr>
        </p:nvSpPr>
        <p:spPr>
          <a:xfrm>
            <a:off x="729625" y="1996825"/>
            <a:ext cx="7688100" cy="28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Sieć przewodowa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to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rodzaj sieci komputerowej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w której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urządzenia są połączone za pomocą fizycznych kabli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— najczęściej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miedzianych (Ethernet)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lub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światłowodowych (fiber optic)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🧩 Najprościej mówiąc: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Sieć przewodowa = połączenie komputerów, drukarek, routerów itp.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 pomocą kabli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a nie przez Wi-Fi.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2300"/>
              </a:spcBef>
              <a:spcAft>
                <a:spcPts val="8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Główne cechy:</a:t>
            </a:r>
            <a:endParaRPr sz="35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93" name="Google Shape;93;p14"/>
          <p:cNvSpPr txBox="1"/>
          <p:nvPr>
            <p:ph idx="1" type="body"/>
          </p:nvPr>
        </p:nvSpPr>
        <p:spPr>
          <a:xfrm>
            <a:off x="729450" y="2078875"/>
            <a:ext cx="7688700" cy="280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Przesył danych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Dane są transmitowane przez przewodniki, co zapewnia stabilne i szybkie połączenie, zazwyczaj z mniejszą podatnością na zakłócenia niż w sieciach bezprzewodowych.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15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Przykłady zastosowań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Sieci LAN w domach, biurach, centrach danych czy systemy monitoringu CCTV.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5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pl" sz="243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Przykłady sieci przewodowych</a:t>
            </a:r>
            <a:endParaRPr sz="243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40"/>
          </a:p>
        </p:txBody>
      </p:sp>
      <p:sp>
        <p:nvSpPr>
          <p:cNvPr id="99" name="Google Shape;99;p15"/>
          <p:cNvSpPr txBox="1"/>
          <p:nvPr>
            <p:ph idx="1" type="body"/>
          </p:nvPr>
        </p:nvSpPr>
        <p:spPr>
          <a:xfrm>
            <a:off x="729450" y="2078875"/>
            <a:ext cx="7688700" cy="29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55000"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Ethernet (LAN)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— najczęściej spotykana sieć przewodowa w domach i firmach.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używa kabli </a:t>
            </a: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RJ-45 (skrętka)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prędkości np. </a:t>
            </a: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100 Mb/s, 1 Gb/s, 10 Gb/s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łączy komputery, routery, switche.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Światłowód (Fiber Optic)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— sieć zbudowana z kabli światłowodowych.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bardzo duża prędkość transmisji,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stosowana w łączach między miastami, serwerowniach lub w nowoczesnych domach (FTTH – Fiber To The Home).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Połączenia szeregowe / przemysłowe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— np. RS-232, RS-485 — używane w automatyce i systemach przemysłowych.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Jak działa sieć przewodowa</a:t>
            </a:r>
            <a:endParaRPr sz="2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16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AutoNum type="arabicPeriod"/>
            </a:pP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Każde urządzenie ma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kartę sieciową (NIC)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AutoNum type="arabicPeriod"/>
            </a:pP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Kable łączą urządzenia poprzez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switch</a:t>
            </a:r>
            <a:r>
              <a:rPr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router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lub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hub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AutoNum type="arabicPeriod"/>
            </a:pP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Dane przesyłane są w postaci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sygnałów elektrycznych lub optycznych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przez przewody.</a:t>
            </a:r>
            <a:endParaRPr sz="1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AutoNum type="arabicPeriod"/>
            </a:pP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Komunikacja odbywa się według określonych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protokołów sieciowych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(np. TCP/IP, Ethernet).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pl" sz="243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Zalety sieci przewodowej</a:t>
            </a:r>
            <a:endParaRPr sz="243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40"/>
          </a:p>
        </p:txBody>
      </p:sp>
      <p:sp>
        <p:nvSpPr>
          <p:cNvPr id="111" name="Google Shape;111;p1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✅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Szybka transmisja danych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stabilniejsze połączenie niż Wi-Fi.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✅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Niskie opóźnienia (ping)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ważne np. w grach i serwerach.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✅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Bezpieczeństwo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trudniej podsłuchać połączenie fizyczne.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✅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Odporność na zakłócenia radiowe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nie zależy od zasięgu Wi-Fi.</a:t>
            </a:r>
            <a:endParaRPr sz="16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pl" sz="27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Wady sieci przewodowej</a:t>
            </a:r>
            <a:endParaRPr sz="27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18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❌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Trudniejszy montaż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trzeba prowadzić kable w ścianach lub po podłodze.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❌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Mniejsza mobilność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urządzenia muszą być fizycznie podłączone.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❌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Koszty instalacji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więcej sprzętu (kable, gniazda, przełączniki).</a:t>
            </a:r>
            <a:endParaRPr sz="16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Sieć bezprzewodowa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3" name="Google Shape;123;p1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Sieć komputerowa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w której urządzenia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łączą się ze sobą bez użycia kabli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wykorzystując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fale radiowe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podczerwień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lub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mikrofale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do przesyłania danych.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8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🧩 Najprościej mówiąc:</a:t>
            </a:r>
            <a:endParaRPr b="1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81000" marR="3810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Sieć bezprzewodowa = połączenie komputerów, telefonów, tabletów i innych urządzeń bez kabli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np. przez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Wi-Fi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lub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Bluetooth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Przykłady sieci bezprzewodowych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9" name="Google Shape;129;p20"/>
          <p:cNvSpPr txBox="1"/>
          <p:nvPr>
            <p:ph idx="1" type="body"/>
          </p:nvPr>
        </p:nvSpPr>
        <p:spPr>
          <a:xfrm>
            <a:off x="729450" y="2078875"/>
            <a:ext cx="7688700" cy="288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40000" lnSpcReduction="20000"/>
          </a:bodyPr>
          <a:lstStyle/>
          <a:p>
            <a:pPr indent="-30607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b="1"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Wi-Fi (WLAN – Wireless Local Area Network)</a:t>
            </a:r>
            <a:endParaRPr b="1"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najpopularniejsza sieć domowa lub biurowa,</a:t>
            </a: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wykorzystuje fale radiowe (częstotliwości 2,4 GHz i 5 GHz),</a:t>
            </a: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umożliwia łączenie komputerów, smartfonów i innych urządzeń z routerem bez kabli.</a:t>
            </a: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7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b="1"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Bluetooth</a:t>
            </a:r>
            <a:endParaRPr b="1"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służy do połączenia urządzeń na krótką odległość (np. telefon ↔ słuchawki).</a:t>
            </a:r>
            <a:b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7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b="1"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Sieć komórkowa (LTE, 5G)</a:t>
            </a:r>
            <a:endParaRPr b="1"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zapewnia dostęp do Internetu przez operatorów sieci komórkowych,</a:t>
            </a: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obejmuje duże obszary (miasta, regiony).</a:t>
            </a:r>
            <a:b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7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b="1"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Hotspot Wi-Fi</a:t>
            </a:r>
            <a:endParaRPr b="1"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5654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36065"/>
              <a:buFont typeface="Arial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punkt dostępu umożliwiający innym urządzeniom korzystanie z Internetu bezprzewodowo.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 Jak działa sieć bezprzewodowa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35" name="Google Shape;135;p21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Urządzenie (np. laptop, telefon) ma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kartę sieciową Wi-Fi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Wysyła i odbiera dane przez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antenę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która komunikuje się z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routerem (punktem dostępowym)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Router przekazuje dane dalej – np. do Internetu przez kabel (światłowód lub Ethernet).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Komunikacja odbywa się wg ustalonych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protokołów sieciowych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(np. 802.11).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Zalety sieci bezprzewodowej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1" name="Google Shape;141;p22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1"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Mobilność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	Można się łączyć z dowolnego miejsca w zasięgu sygnału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Brak kabli	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Nie trzeba prowadzić przewodów przez ściany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Łatwość instalacji	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Wystarczy router i urządzenia z Wi-Fi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Wiele urządzeń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Może łączyć laptopy, smartfony, drukarki itd.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Wady sieci bezprzewodowej</a:t>
            </a:r>
            <a:endParaRPr sz="2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2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Tahoma"/>
              <a:buChar char="●"/>
            </a:pPr>
            <a:r>
              <a:rPr lang="pl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Mniejsza stabilność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	Sygnał może zanikać przez ściany lub zakłócenia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Tahoma"/>
              <a:buChar char="●"/>
            </a:pPr>
            <a:r>
              <a:rPr lang="pl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Bezpieczeństwo	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	Łatwiej podsłuchać lub włamać się niż w sieci przewodowej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Tahoma"/>
              <a:buChar char="●"/>
            </a:pPr>
            <a:r>
              <a:rPr lang="pl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Niższa prędkość	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	Wolniejsza transmisja niż przez kabel Ethernet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Tahoma"/>
              <a:buChar char="●"/>
            </a:pPr>
            <a:r>
              <a:rPr lang="pl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Zużycie energii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		Urządzenia mobilne szybciej rozładowują baterię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P</a:t>
            </a:r>
            <a:r>
              <a:rPr lang="pl" sz="2440">
                <a:latin typeface="Tahoma"/>
                <a:ea typeface="Tahoma"/>
                <a:cs typeface="Tahoma"/>
                <a:sym typeface="Tahoma"/>
              </a:rPr>
              <a:t>olityka bezpieczeństwa w sieci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3" name="Google Shape;153;p24"/>
          <p:cNvSpPr txBox="1"/>
          <p:nvPr>
            <p:ph idx="1" type="body"/>
          </p:nvPr>
        </p:nvSpPr>
        <p:spPr>
          <a:xfrm>
            <a:off x="729450" y="2078875"/>
            <a:ext cx="7688700" cy="276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bezpieczeństwa sieci (Network Security Policy)</a:t>
            </a: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zbiór zasad, procedur i wytycznych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które określają: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73763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jak chronić dane i zasoby sieciowe,</a:t>
            </a:r>
            <a:endParaRPr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73763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kto i w jaki sposób może korzystać z sieci,</a:t>
            </a:r>
            <a:endParaRPr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73763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jakie działania są dozwolone, a jakie zabronione,</a:t>
            </a:r>
            <a:endParaRPr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73763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jak reagować w razie incydentów bezpieczeństwa.</a:t>
            </a:r>
            <a:endParaRPr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Innymi słowy: to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plan działania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który pomaga organizacji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utrzymać poufność, integralność i dostępność danych (zasada CIA: Confidentiality, Integrity, Availability)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pl" sz="243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Główne cele polityki bezpieczeństwa</a:t>
            </a:r>
            <a:endParaRPr sz="243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153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25"/>
          <p:cNvSpPr txBox="1"/>
          <p:nvPr>
            <p:ph idx="1" type="body"/>
          </p:nvPr>
        </p:nvSpPr>
        <p:spPr>
          <a:xfrm>
            <a:off x="729450" y="2078875"/>
            <a:ext cx="7688700" cy="279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Poufność (Confidentiality)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ochrona danych przed nieautoryzowanym dostępem.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👉 np. szyfrowanie, uwierzytelnianie użytkowników.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Integralność (Integrity)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zapobieganie nieautoryzowanym zmianom danych.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👉 np. sumy kontrolne, kopie zapasowe.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AutoNum type="arabicPeriod"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Dostępność (Availability)</a:t>
            </a:r>
            <a:r>
              <a:rPr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– zapewnienie, że dane i usługi są dostępne, gdy są potrzebne.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👉 np. ochrona przed atakami DDoS, redundancja serwerów.</a:t>
            </a:r>
            <a:b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Rodzaje polityk bezpieczeństwa w sieci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5" name="Google Shape;165;p26"/>
          <p:cNvSpPr txBox="1"/>
          <p:nvPr>
            <p:ph idx="1" type="body"/>
          </p:nvPr>
        </p:nvSpPr>
        <p:spPr>
          <a:xfrm>
            <a:off x="729450" y="2078875"/>
            <a:ext cx="7688700" cy="298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-293265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AutoNum type="arabicPeriod"/>
            </a:pPr>
            <a:r>
              <a:rPr b="1" lang="pl" sz="145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dostępu do sieci (Access Control Policy)</a:t>
            </a:r>
            <a:br>
              <a:rPr b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b="1"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Określa, kto może korzystać z sieci i w jakim zakresie.</a:t>
            </a:r>
            <a:b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🔹 </a:t>
            </a:r>
            <a:r>
              <a:rPr i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pracownicy działu finansowego mają dostęp do serwera księgowego, ale nie do serwera HR.</a:t>
            </a:r>
            <a:b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3265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AutoNum type="arabicPeriod"/>
            </a:pPr>
            <a:r>
              <a:rPr b="1" lang="pl" sz="145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haseł (Password Policy)</a:t>
            </a:r>
            <a:br>
              <a:rPr b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b="1"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Ustala reguły dotyczące złożoności, długości i zmiany haseł.</a:t>
            </a:r>
            <a:b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🔹 </a:t>
            </a:r>
            <a:r>
              <a:rPr i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hasło musi mieć min. 10 znaków, zawierać litery, cyfry i znaki specjalne, zmiana co 90 dni.</a:t>
            </a:r>
            <a:endParaRPr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3265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ct val="100000"/>
              <a:buFont typeface="Tahoma"/>
              <a:buAutoNum type="arabicPeriod"/>
            </a:pPr>
            <a:r>
              <a:rPr b="1" lang="pl" sz="145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korzystania z Internetu (Acceptable Use Policy)</a:t>
            </a:r>
            <a:endParaRPr b="1" sz="1454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Określa, w jaki sposób można korzystać z Internetu w pracy.</a:t>
            </a:r>
            <a:b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🔹 </a:t>
            </a:r>
            <a:r>
              <a:rPr i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zakaz wchodzenia na strony o treści niezgodnej z prawem lub niezwiązanej z pracą.</a:t>
            </a:r>
            <a:endParaRPr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0573"/>
              <a:buFont typeface="Arial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Rodzaje polityk bezpieczeństwa w sieci c.d.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27"/>
          <p:cNvSpPr txBox="1"/>
          <p:nvPr>
            <p:ph idx="1" type="body"/>
          </p:nvPr>
        </p:nvSpPr>
        <p:spPr>
          <a:xfrm>
            <a:off x="729450" y="2078875"/>
            <a:ext cx="7688700" cy="297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62500"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4. 	</a:t>
            </a:r>
            <a:r>
              <a:rPr b="1" lang="pl" sz="167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zapory sieciowej (Firewall Policy)</a:t>
            </a:r>
            <a:b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Definiuje, które połączenia są dozwolone, a które blokowane.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		🔹 </a:t>
            </a:r>
            <a:r>
              <a:rPr i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ruch przychodzący na port 22 (SSH) dozwolony tylko z sieci firmowej.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67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5. 	</a:t>
            </a:r>
            <a:r>
              <a:rPr b="1" lang="pl" sz="167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aktualizacji i łatania systemów (Patch Management Policy)</a:t>
            </a:r>
            <a:b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Określa zasady instalowania poprawek bezpieczeństwa.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		🔹 </a:t>
            </a:r>
            <a:r>
              <a:rPr i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wszystkie serwery muszą być aktualizowane co najmniej raz w miesiącu.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67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6.	</a:t>
            </a:r>
            <a:r>
              <a:rPr b="1" lang="pl" sz="167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tworzenia kopii zapasowych (Backup Policy)</a:t>
            </a:r>
            <a:b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Wskazuje, jak i kiedy wykonywać backupy danych.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		🔹 </a:t>
            </a:r>
            <a:r>
              <a:rPr i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codzienna kopia danych na serwer zewnętrzny, przechowywana przez 30 dni.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67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7.	</a:t>
            </a:r>
            <a:r>
              <a:rPr b="1" lang="pl" sz="167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reagowania na incydenty (Incident Response Policy)</a:t>
            </a:r>
            <a:b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Opisuje procedury w razie włamania, ataku lub awarii.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🔹 </a:t>
            </a:r>
            <a:r>
              <a:rPr i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po wykryciu ataku DDoS administrator odłącza serwer i powiadamia zespół SOC.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pl" sz="243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Praktyczne zastosowania</a:t>
            </a:r>
            <a:endParaRPr sz="243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40"/>
          </a:p>
        </p:txBody>
      </p:sp>
      <p:sp>
        <p:nvSpPr>
          <p:cNvPr id="177" name="Google Shape;177;p28"/>
          <p:cNvSpPr txBox="1"/>
          <p:nvPr>
            <p:ph idx="1" type="body"/>
          </p:nvPr>
        </p:nvSpPr>
        <p:spPr>
          <a:xfrm>
            <a:off x="729450" y="2078875"/>
            <a:ext cx="7688700" cy="300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Pracownik loguje się do sieci VPN z domu 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dostępu + polityka haseł (Efekt: Bezpieczny, uwierzytelniony dostęp)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Firma blokuje porty 21 (FTP) i 23 (Telnet)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zapory sieciowej (Efekt: Ochrona przed niebezpiecznymi protokołami)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Użytkownicy mają ograniczony dostęp do pendrive’ów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dostępu do urządzeń (Efekt: Zapobieganie wyciekom danych)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Codzienne kopie zapasowe serwerów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backupu (Efekt: Ochrona przed utratą danych)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Pracownicy nie mogą instalować oprogramowania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uprawnień użytkownika (Efekt: Redukcja ryzyka złośliwego oprogramowania)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Polityka haseł</a:t>
            </a:r>
            <a:endParaRPr/>
          </a:p>
        </p:txBody>
      </p:sp>
      <p:sp>
        <p:nvSpPr>
          <p:cNvPr id="183" name="Google Shape;183;p29"/>
          <p:cNvSpPr txBox="1"/>
          <p:nvPr>
            <p:ph idx="1" type="body"/>
          </p:nvPr>
        </p:nvSpPr>
        <p:spPr>
          <a:xfrm>
            <a:off x="729450" y="2078875"/>
            <a:ext cx="7688700" cy="27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Polityka haseł określa, jak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trudne powinny być hasła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i jak często trzeba je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zmieniać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Ma to chronić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konta użytkowników przed włamaniami.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Hasło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powinno mieć duże i małe litery, cyfry i znaki specjalne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Nie powinno się używać tego samego hasła w kilku miejscach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W firmach często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wymaga się zmiany hasła co kilka miesięcy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To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pomaga zwiększyć bezpieczeństwo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danych i systemów.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latin typeface="Tahoma"/>
                <a:ea typeface="Tahoma"/>
                <a:cs typeface="Tahoma"/>
                <a:sym typeface="Tahoma"/>
              </a:rPr>
              <a:t>Polityka korzystania z Internetu</a:t>
            </a:r>
            <a:endParaRPr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9" name="Google Shape;189;p3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Ta polityka mówi, jak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pracownicy mogą używać Internetu w pracy.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Na przykład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zabrania wchodzenia na strony niezwiązane z obowiązkami służbowymi.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Chroni to firmę przed wirusami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i stratą czasu w pracy.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Dzięki niej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administratorzy mogą łatwiej monitorować ruch sieciowy.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W szkole taka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zasada też może obowiązywać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– np. nie wolno grać online podczas lekcji.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To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pomaga utrzymać porządek i bezpieczeństwo w sieci.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Polityka zapory sieciowej (Firewall)</a:t>
            </a:r>
            <a:endParaRPr/>
          </a:p>
        </p:txBody>
      </p:sp>
      <p:sp>
        <p:nvSpPr>
          <p:cNvPr id="195" name="Google Shape;195;p31"/>
          <p:cNvSpPr txBox="1"/>
          <p:nvPr>
            <p:ph idx="1" type="body"/>
          </p:nvPr>
        </p:nvSpPr>
        <p:spPr>
          <a:xfrm>
            <a:off x="729450" y="2078875"/>
            <a:ext cx="8019300" cy="294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Zapora sieciowa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to program lub urządzenie, które blokuje niebezpieczne połączenia z Internetu.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Polityka określa, które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połączenia są dozwolone, a które zablokowane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Na przykład może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pozwalać tylko na strony firmowe, a blokować porty używane przez hakerów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Dzięki temu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wirusy i nieautoryzowani użytkownicy nie dostają się do sieci.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Firewall działa jak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strażnik 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pilnujący bramy do firmy.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To jedna z podstawowych metod ochrony sieci komputerowych.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Polityka tworzenia kopii zapasowych (Backup)</a:t>
            </a:r>
            <a:endParaRPr/>
          </a:p>
        </p:txBody>
      </p:sp>
      <p:sp>
        <p:nvSpPr>
          <p:cNvPr id="201" name="Google Shape;201;p32"/>
          <p:cNvSpPr txBox="1"/>
          <p:nvPr>
            <p:ph idx="1" type="body"/>
          </p:nvPr>
        </p:nvSpPr>
        <p:spPr>
          <a:xfrm>
            <a:off x="729450" y="2078875"/>
            <a:ext cx="7688700" cy="297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Ta polityka mówi,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jak często trzeba robić kopie danych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, żeby ich nie stracić.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Backupy 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mogą być zapisywane na dysku zewnętrznym lub w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chmurze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W razie awarii,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ataku lub błędu można łatwo odzyskać dane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Firmy często robią kopie codziennie lub co tydzień.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W domu też warto robić kopie zdjęć czy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dokumentów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Dzięki temu nawet po awarii komputera dane nie przepadają.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Polityka reagowania na incydenty</a:t>
            </a:r>
            <a:endParaRPr/>
          </a:p>
        </p:txBody>
      </p:sp>
      <p:sp>
        <p:nvSpPr>
          <p:cNvPr id="207" name="Google Shape;207;p33"/>
          <p:cNvSpPr txBox="1"/>
          <p:nvPr>
            <p:ph idx="1" type="body"/>
          </p:nvPr>
        </p:nvSpPr>
        <p:spPr>
          <a:xfrm>
            <a:off x="729450" y="2078875"/>
            <a:ext cx="7688700" cy="302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Ta polityka określa, co robić, gdy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dojdzie do ataku lub problemu z bezpieczeństwem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Na przykład: kto ma zostać powiadomiony, jak zabezpieczyć dane i jak naprawić system.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Pomaga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szybko zareagować, zanim szkody będą duże.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W firmach często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tworzy się specjalne zespoły reagowania (tzw. CERT lub SOC)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Dzięki tej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polityce każdy wie, jakie są jego obowiązki.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To pozwala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utrzymać spokój i porządek w sytuacjach kryzysowych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