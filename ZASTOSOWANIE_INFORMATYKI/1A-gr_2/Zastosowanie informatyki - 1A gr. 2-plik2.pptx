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y="5143500" cx="9144000"/>
  <p:notesSz cx="6858000" cy="9144000"/>
  <p:embeddedFontLst>
    <p:embeddedFont>
      <p:font typeface="Raleway"/>
      <p:regular r:id="rId78"/>
      <p:bold r:id="rId79"/>
      <p:italic r:id="rId80"/>
      <p:boldItalic r:id="rId81"/>
    </p:embeddedFont>
    <p:embeddedFont>
      <p:font typeface="Lato"/>
      <p:regular r:id="rId82"/>
      <p:bold r:id="rId83"/>
      <p:italic r:id="rId84"/>
      <p:boldItalic r:id="rId85"/>
    </p:embeddedFont>
    <p:embeddedFont>
      <p:font typeface="Tahoma"/>
      <p:regular r:id="rId86"/>
      <p:bold r:id="rId87"/>
    </p:embeddedFont>
    <p:embeddedFont>
      <p:font typeface="Roboto Mono"/>
      <p:regular r:id="rId88"/>
      <p:bold r:id="rId89"/>
      <p:italic r:id="rId90"/>
      <p:boldItalic r:id="rId9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45308A-5DEC-4249-91B1-1B624FA821CF}">
  <a:tblStyle styleId="{8D45308A-5DEC-4249-91B1-1B624FA821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84" Type="http://schemas.openxmlformats.org/officeDocument/2006/relationships/font" Target="fonts/Lato-italic.fntdata"/><Relationship Id="rId83" Type="http://schemas.openxmlformats.org/officeDocument/2006/relationships/font" Target="fonts/Lato-bold.fntdata"/><Relationship Id="rId42" Type="http://schemas.openxmlformats.org/officeDocument/2006/relationships/slide" Target="slides/slide36.xml"/><Relationship Id="rId86" Type="http://schemas.openxmlformats.org/officeDocument/2006/relationships/font" Target="fonts/Tahoma-regular.fntdata"/><Relationship Id="rId41" Type="http://schemas.openxmlformats.org/officeDocument/2006/relationships/slide" Target="slides/slide35.xml"/><Relationship Id="rId85" Type="http://schemas.openxmlformats.org/officeDocument/2006/relationships/font" Target="fonts/Lato-boldItalic.fntdata"/><Relationship Id="rId44" Type="http://schemas.openxmlformats.org/officeDocument/2006/relationships/slide" Target="slides/slide38.xml"/><Relationship Id="rId88" Type="http://schemas.openxmlformats.org/officeDocument/2006/relationships/font" Target="fonts/RobotoMono-regular.fntdata"/><Relationship Id="rId43" Type="http://schemas.openxmlformats.org/officeDocument/2006/relationships/slide" Target="slides/slide37.xml"/><Relationship Id="rId87" Type="http://schemas.openxmlformats.org/officeDocument/2006/relationships/font" Target="fonts/Tahoma-bold.fntdata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9" Type="http://schemas.openxmlformats.org/officeDocument/2006/relationships/font" Target="fonts/RobotoMono-bold.fntdata"/><Relationship Id="rId80" Type="http://schemas.openxmlformats.org/officeDocument/2006/relationships/font" Target="fonts/Raleway-italic.fntdata"/><Relationship Id="rId82" Type="http://schemas.openxmlformats.org/officeDocument/2006/relationships/font" Target="fonts/Lato-regular.fntdata"/><Relationship Id="rId81" Type="http://schemas.openxmlformats.org/officeDocument/2006/relationships/font" Target="fonts/Raleway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slide" Target="slides/slide69.xml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slide" Target="slides/slide71.xml"/><Relationship Id="rId32" Type="http://schemas.openxmlformats.org/officeDocument/2006/relationships/slide" Target="slides/slide26.xml"/><Relationship Id="rId76" Type="http://schemas.openxmlformats.org/officeDocument/2006/relationships/slide" Target="slides/slide70.xml"/><Relationship Id="rId35" Type="http://schemas.openxmlformats.org/officeDocument/2006/relationships/slide" Target="slides/slide29.xml"/><Relationship Id="rId79" Type="http://schemas.openxmlformats.org/officeDocument/2006/relationships/font" Target="fonts/Raleway-bold.fntdata"/><Relationship Id="rId34" Type="http://schemas.openxmlformats.org/officeDocument/2006/relationships/slide" Target="slides/slide28.xml"/><Relationship Id="rId78" Type="http://schemas.openxmlformats.org/officeDocument/2006/relationships/font" Target="fonts/Raleway-regular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91" Type="http://schemas.openxmlformats.org/officeDocument/2006/relationships/font" Target="fonts/RobotoMono-boldItalic.fntdata"/><Relationship Id="rId90" Type="http://schemas.openxmlformats.org/officeDocument/2006/relationships/font" Target="fonts/RobotoMono-italic.fntdata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db029de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90db029de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0db029de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90db029de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0db029de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0db029de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0db029de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0db029de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0db029de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0db029de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b029de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b029de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0db029de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0db029de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0db029de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90db029de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0db029de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0db029de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0db029de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0db029de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0db029de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90db029de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0db029de9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90db029de9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90db029de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90db029de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0db029de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0db029de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0db029de9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0db029de9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0db029de9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90db029de9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aa99e5f2c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aa99e5f2c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aa99e5f2c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aa99e5f2c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aa99e5f2c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aa99e5f2c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a99e5f2c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aa99e5f2c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aa99e5f2c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aa99e5f2c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a99e5f2c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aa99e5f2c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a99e5f2c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aa99e5f2c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a99e5f2c3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a99e5f2c3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ac905aeb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ac905aeb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ac905aeb3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ac905aeb3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ac905aeb3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ac905aeb3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ac905aeb3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ac905aeb3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ac905aeb3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ac905aeb3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ac905aeb3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ac905aeb3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ac905aeb3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ac905aeb3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915c9749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915c9749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915c97491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3915c97491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915c974913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915c974913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915c97491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915c97491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915c97491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915c97491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915c974913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915c97491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15c97491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15c97491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915c97491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915c97491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bank.pl" TargetMode="External"/><Relationship Id="rId4" Type="http://schemas.openxmlformats.org/officeDocument/2006/relationships/hyperlink" Target="https://bank.pl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{8D45308A-5DEC-4249-91B1-1B624FA821CF}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{8D45308A-5DEC-4249-91B1-1B624FA821CF}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{8D45308A-5DEC-4249-91B1-1B624FA821CF}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{8D45308A-5DEC-4249-91B1-1B624FA821CF}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45"/>
          <p:cNvSpPr txBox="1"/>
          <p:nvPr>
            <p:ph idx="1" type="body"/>
          </p:nvPr>
        </p:nvSpPr>
        <p:spPr>
          <a:xfrm>
            <a:off x="729450" y="2078875"/>
            <a:ext cx="7688700" cy="30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commit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zapisania zmian, które zostały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wcześniej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dodane do obszaru index</a:t>
            </a:r>
            <a:r>
              <a:rPr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(za pomocą 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git add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Pomocne polecenia do wykonania commit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przejście w tryb –INSERT , modyfikowania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ESCAPE :wq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ESC (przełącza w tryb poleceń), w -zapisz, q-quit, wyjście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9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-m "tytuł commit"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Dodaje komunikat bezpośrednio w poleceniu.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--amend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edytować ostatni commit (np. poprawić wiadomość lub dodać zapomniane pliki).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-a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Automatycznie dodaje wszystkie śledzone pliki do staging przed commitem (skrót od git add dla zmodyfikowanych plików).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log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729450" y="2078875"/>
            <a:ext cx="7688700" cy="30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log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25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wyświetlania historii commitów w repozytorium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 kolejności chronologicznej – od najnowszego do najstarszego</a:t>
            </a:r>
            <a:r>
              <a:rPr lang="pl" sz="2500">
                <a:latin typeface="Tahoma"/>
                <a:ea typeface="Tahoma"/>
                <a:cs typeface="Tahoma"/>
                <a:sym typeface="Tahoma"/>
              </a:rPr>
              <a:t>.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Wyświetlane informacje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Dla każdego commita pokazuje: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Hash commita (unikalny identyfikator).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Autora i datę.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commita. 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--oneline</a:t>
            </a:r>
            <a:r>
              <a:rPr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 każdy commit w jednej linii (skrótowo: hash + wiadomość).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--graph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historię w formie grafu (drzewa branchy).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-n 5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Ogranicza do ostatnich n commitów (np. 5).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--author="Imię"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Filtruje po autorze.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--since="2023-01-01"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Commit'y od danej daty.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-p lub --patch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pełne zmiany (diff) w każdym commicie.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checkout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47"/>
          <p:cNvSpPr txBox="1"/>
          <p:nvPr>
            <p:ph idx="1" type="body"/>
          </p:nvPr>
        </p:nvSpPr>
        <p:spPr>
          <a:xfrm>
            <a:off x="729450" y="2078875"/>
            <a:ext cx="7688700" cy="29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Index w Git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(nazywany też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staging area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albo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strefą przejściową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miejsce, w którym Git przechowuje informacje o zmianach przygotowanych do zatwierdzenia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(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Tworzymy katalog w nim są plik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mkdir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touch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plik2.txt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Dodajemy je do index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za pomocą polecenie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add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Następnie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usuwamy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jeden z plików w katalogu folder-test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rm  folder-test/plik2.txt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Aby go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odzyskać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mimo tego, że nie ma go w katalogu roboczym należy wykonać polecenie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folder-test/plik2.txt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2: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Teraz jak dodamy tekst do pliku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folder-test/plik2.txt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plik będzie wyświetlany 2 razy w index (gdzie będzie pusty) i w katalogu roboczym z nową zawartością tekstu.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8"/>
          <p:cNvSpPr txBox="1"/>
          <p:nvPr>
            <p:ph type="title"/>
          </p:nvPr>
        </p:nvSpPr>
        <p:spPr>
          <a:xfrm>
            <a:off x="729450" y="13853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reset HEAD , touch .gitignore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1" name="Google Shape;301;p4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 HEAD &lt;plik&gt;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usuwa wskazany plik z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indexu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ale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usuwa go z katalogu roboczego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.gitignore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tego, aby powiedzieć Gitowi,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których plików i katalogów NIE ma śledzić</a:t>
            </a:r>
            <a:r>
              <a:rPr lang="pl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(czyli nie dodawać ich do indexu, commitów i repozytorium).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ignoruje pliki wymienione w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.gitignore, o ile nie były wcześniej dodane do repozytorium.</a:t>
            </a:r>
            <a:endParaRPr b="1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Zwykle 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ignorujemy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katalogi node_module, dist, .env oraz pliki *.log, *.temp, DS_Store</a:t>
            </a:r>
            <a:endParaRPr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jest niewidoczny dopiero polecenie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$ ls –all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go wyświetli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revert SHA-1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7" name="Google Shape;307;p4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revert SHA-1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NOWY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wykonuje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odwrotność zmian z tamtego commita.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commit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show SHA-1 dodaliśmy w 2 linii tekst, 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usunęliśmy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pierwszą linie tekstu, to możemy to odwrócić.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Czyli po wykonaniu polecenia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revert SHA-1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odwrócimy to co było w pliku.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Druga linia zostanie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, a pierwsza linia zostanie dodana z zawartością tekstu przed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usunięciem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jej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Pamiętajmy,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że 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zmiana dodaje nowy commit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Działanie git reset z historią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resetuje index do danego commit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lub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zresetowanie indexu do wybranych plików danego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Czyli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reset HEAD nazwa.txt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pobierze z ostatniego commit plik nazwa.txt przywróci do index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Natomiast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to co jest obecnie w index umieści w katalogu roboczym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Sprawdzenie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wykonuje się poleceniem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restore nazwa-pliku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rebase -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interactive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 HEAD~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51"/>
          <p:cNvSpPr txBox="1"/>
          <p:nvPr>
            <p:ph idx="1" type="body"/>
          </p:nvPr>
        </p:nvSpPr>
        <p:spPr>
          <a:xfrm>
            <a:off x="729450" y="2078875"/>
            <a:ext cx="76887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przeniesienia commit z jednego miejsca do drugiego.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szczególności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 poprawy commit,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łączenia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ich, układania w odpowiedniej kolejności, usuniecia zbędnych commit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Commands: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p, pick &lt;commit&gt; = use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r, reword &lt;commit&gt; = use commit, but edit the commit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e, edit &lt;commit&gt; = use commit, but stop for amending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s, squash &lt;commit&gt; = use commit, but meld into previous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f, fixup &lt;commit&gt; = like "squash", but discard this commit's log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x, exec &lt;command&gt; = run command (the rest of the line) using shell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b, break = stop here (continue rebase later with 'git rebase --continue')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d, drop &lt;commit&gt; = remove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l, label &lt;label&gt; = label current HEAD with a name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t, reset &lt;label&gt; = reset HEAD to a label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m, merge [-C &lt;commit&gt; | -c &lt;commit&gt;] &lt;label&gt; [# &lt;oneline&gt;]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create a merge commit using the original merge commit's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message (or the oneline, if no original merge commit was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specified). Use -c &lt;commit&gt; to reword the commit message.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 branch -verbose, git branch nowy-brache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-v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 listę wszystkich gałęz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 r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azem z ostatnim commitem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 każdej z nich (skrót commit hash + pierwsza linia wiadomości, gdzie * oznacza branche na którym jesteśmy)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–list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zwraca listę branch (tylko nazwę)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-m nowy-branch nowa-nazwa-branch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zmienia nazwę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-d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usuwa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checkout nazwa-branch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5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nazwa-branch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przełączenie się na brancha (gałąź) o podanej nazwie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-b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tworzy nowy branch i od razu przełącza się na niego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stash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5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tymczasowo odkłada Twoje zmiany na bok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tak żeby repo wyglądało, jakby nie było żadnych zmian. Zmiany muszą znajdować się w index aby można było je odłożyć na bok za pomocą polecenia git stash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list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listę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stash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pop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- zdejmuje z listy stash ostatnią zmianę oraz wyświetla szczegółowe informacje o statusie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5"/>
          <p:cNvSpPr txBox="1"/>
          <p:nvPr>
            <p:ph type="title"/>
          </p:nvPr>
        </p:nvSpPr>
        <p:spPr>
          <a:xfrm>
            <a:off x="716312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merge nazwa_branch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5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merge nazwa_branch (lub nazwe commit, SHA-1)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łączy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(scalą)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historię wskazanej gałęzi z aktualną gałęzią na której jesteś.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Mogą się pojawić konflikty.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Czyli jeśli te same linie w tych samych plikach zostały zmienione inaczej w obu branchach – powstaje konflikt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Rozwiązanie konfliktów wykonuje się przez otworzenie pliku w którym są konflikty. Usunięciu linii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&lt;&lt;&lt;&lt;&lt;&lt;&lt;, =======, &gt;&gt;&gt;&gt;&gt;&gt;&gt;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oraz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wybraniem poprawnej wersji.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czym należy dodać pliki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$ git add nazwa_pliku_z_konfliktem 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wykonać commit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clone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56"/>
          <p:cNvSpPr txBox="1"/>
          <p:nvPr>
            <p:ph idx="1" type="body"/>
          </p:nvPr>
        </p:nvSpPr>
        <p:spPr>
          <a:xfrm>
            <a:off x="729450" y="2078875"/>
            <a:ext cx="7688700" cy="29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clone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6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kopiuje całe zdalne repozytorium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z GitHuba) na Twój komputer. 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Oznacza to: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wszystkie pliki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całą historię commitów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ustawia domyślne połączenie z repozytorium (origin)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katalog z projektem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clone https://github.com/user/projekt.git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5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Twoje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lokalne commity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zdalnego repozytorium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GitHub, GitLab, Bitbucket).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origin nazwa_brancha</a:t>
            </a:r>
            <a:endParaRPr b="1" sz="14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origin –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nazwa zdalnego repozytorium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nazwa_brancha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gałąź, którą chcesz wysłać (np. main, feature/login)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wysyła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stash, plików roboczych, nic co jest nie commit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pull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58"/>
          <p:cNvSpPr txBox="1"/>
          <p:nvPr>
            <p:ph idx="1" type="body"/>
          </p:nvPr>
        </p:nvSpPr>
        <p:spPr>
          <a:xfrm>
            <a:off x="729450" y="2078875"/>
            <a:ext cx="7688700" cy="27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pobierania i integracji zmian z zdalnego repozytorium do lokalnej kopii projektu.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operacje git 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(pobieranie zmian)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i git 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(scalanie ich z bieżącą gałęzią), co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na aktualizację lokalnego kodu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o najnowsze wersje od współpracowników.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git pull wykonuje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wewnętrznie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Git pobiera wszystkie nowe commity i branchy z zdalnego repozytorium, ale nie zmienia lokalnych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Scalane są zmiany z pobranej gałęzi do Twojej lokalnej. Jeśli są konflikty (np. edytowałeś te same linie), Git poprosi o ich ręczne rozwiązanie.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fetch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5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it fetch -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pobierania zmian z zdalnego repozytorium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z GitHuba)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 lokalnego repozytorium, bez automatycznego scalania ich z Twoimi lokalnymi gałęziam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i. Aktualizuje ono informacje o zdalnych branchach (np. "origin/main"), co pozwala sprawdzić, co się zmieniło, zanim zdecydujesz się na integrację (np. via merge lub rebase)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6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git fetch vs git pull</a:t>
            </a:r>
            <a:endParaRPr/>
          </a:p>
        </p:txBody>
      </p:sp>
      <p:sp>
        <p:nvSpPr>
          <p:cNvPr id="373" name="Google Shape;373;p60"/>
          <p:cNvSpPr txBox="1"/>
          <p:nvPr>
            <p:ph idx="1" type="body"/>
          </p:nvPr>
        </p:nvSpPr>
        <p:spPr>
          <a:xfrm>
            <a:off x="215900" y="2078875"/>
            <a:ext cx="87249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 robi? 					Czy zmienia pliki lokalne?	Czy łączy zmiany?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fetch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zmiany z serwera 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i łączy zmiany			✅ TAK					✅ TAK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Szyfrowanie sieci internetowych HTTPS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9" name="Google Shape;379;p6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HTTPS (Hypertext Transfer Protocol Secure)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bezpieczna wersja protokołu HTTP używana w internecie do przesyłania danych między przeglądarką a serwerem. Dzięki HTTPS komunikacja jest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uwierzytelniana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integralna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zapewnia ochronę danych użytkownika.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 daje HTTPS?</a:t>
            </a:r>
            <a:endParaRPr/>
          </a:p>
        </p:txBody>
      </p:sp>
      <p:sp>
        <p:nvSpPr>
          <p:cNvPr id="385" name="Google Shape;385;p62"/>
          <p:cNvSpPr txBox="1"/>
          <p:nvPr>
            <p:ph idx="1" type="body"/>
          </p:nvPr>
        </p:nvSpPr>
        <p:spPr>
          <a:xfrm>
            <a:off x="729450" y="2078875"/>
            <a:ext cx="8263800" cy="284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przesyłane między przeglądarką a serwerem są zaszyfrowane przy pomocy protokołu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Nawet jeśli ktoś przechwyci ruch sieciowy – zobaczy tylko zaszyfrowane, bezużyteczne dane.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Uwierzytelnienie (authentication)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Certyfikat SSL/TLS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potwierdza, że strona, z którą się łączysz, jest prawdziwa i należy do właściwej firmy lub osoby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Integralność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Zapewnia, że dane nie zostały zmienione po drodze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nikt nie może ich potajemnie edytować, podmienić ani wstrzyknąć złośliwy kod.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6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(zwane także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certyfikatami cyfrowymi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SSL/TLS certyfikatami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specjalne elektroniczne dokumenty, które służą do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potwierdzania tożsamości stron w internecie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oraz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umożliwiają bezpieczne, szyfrowane połączenia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między użytkownikiem a serwerem.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Jest oparty na standardzie X.509 i zawiera zestaw kluczowych informacji, które służą do weryfikacji tożsamości serwera oraz umożliwienia szyfrowania danych.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certyfikaty internetowe</a:t>
            </a:r>
            <a:endParaRPr/>
          </a:p>
        </p:txBody>
      </p:sp>
      <p:sp>
        <p:nvSpPr>
          <p:cNvPr id="397" name="Google Shape;397;p64"/>
          <p:cNvSpPr txBox="1"/>
          <p:nvPr>
            <p:ph idx="1" type="body"/>
          </p:nvPr>
        </p:nvSpPr>
        <p:spPr>
          <a:xfrm>
            <a:off x="729450" y="2078875"/>
            <a:ext cx="7688700" cy="293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Potwierdzają tożsamość strony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zapewnia, że strona, którą odwiedzasz, jest rzeczywiście tym, za co się podaje.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Przykład: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Jeśli wpisujesz</a:t>
            </a:r>
            <a:r>
              <a:rPr lang="pl" sz="1100">
                <a:solidFill>
                  <a:srgbClr val="000000"/>
                </a:solidFill>
                <a:uFill>
                  <a:noFill/>
                </a:u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i="1" lang="pl" sz="1100" u="sng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4"/>
              </a:rPr>
              <a:t>https://bank.pl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certyfikat gwarantuje, że łączysz się z prawdziwym bankiem, a nie z fałszywą stroną.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2️⃣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Umożliwiają szyfrowanie danych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zawiera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używany do bezpiecznego przesyłania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Dzięki temu: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hasła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numery kart płatniczych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osobowe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zaszyfrowane i niemożliwe do odczytania przez osoby trzecie.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Są wystawiane przez zaufane instytucje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Nazywa się je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 – Certificate Authority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np.: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Let's Encrypt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DigiCert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GlobalSign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Sectigo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Przeglądarki ufają tym instytucjom.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3" name="Google Shape;403;p6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Wersja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(Version)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wersję standardu certyfikatu (np. wersja 3 dla X.509 v3).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Numer seryjny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(Serial Number)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Unikalny identyfikator nadany przez urząd certyfikacji (CA).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Algorytm podpisu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 Algorithm)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algorytm użyty do podpisania certyfikatu (np. SHA-256 with RSA).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Wydawca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(Issuer)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urzędu certyfikacji, który wystawił certyfikat, w tym nazwa, kraj, organizacja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Okres ważności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(Validity)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Daty "od" (Not Before) i "do" (Not After), definiujące, kiedy certyfikat jest aktywny.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6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Podmiot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(Subject)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właściciela certyfikatu, np. nazwa domeny (Common Name), organizacja, kraj, miasto.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Informacje o kluczu publicznym podmiotu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(Subject Public Key Info)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Klucz publiczny serwera oraz algorytm klucza (np. RSA lub ECDSA).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Rozszerzenia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(Extensions)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Dodatkowe pola, takie jak Subject Alternative Names (SAN) dla alternatywnych domen, użycie klucza (Key Usage), autorytet certyfikacji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Podpis cyfrowy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Podpis urzędu CA, weryfikujący autentyczność certyfikatu.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certyfikatów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5" name="Google Shape;415;p6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DV – Domain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Najprostsze i najtańsze (np. Let's Encrypt).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Sprawdzana jest tylko domena.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OV – Organization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Weryfikowana jest firma, która posiada domenę.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EV – Extended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Najwyższy poziom weryfikacji – pełna weryfikacja organizacji.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Kiedyś prezentowane jako zielony pasek w przeglądarce.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SSL czy TLS</a:t>
            </a:r>
            <a:endParaRPr/>
          </a:p>
        </p:txBody>
      </p:sp>
      <p:sp>
        <p:nvSpPr>
          <p:cNvPr id="421" name="Google Shape;421;p6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SSL (Secure Sockets Layer)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starszy protokół szyfrowania, opracowany w latach 90. przez Netscape. Jego ostatnie wersje (SSL 2.0 i 3.0) miały poważne luki bezpieczeństwa, dlatego od dawna nie są zalecane i nie są używane w praktyce.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ulepszona i bezpieczniejsza wersja SSL, rozwijana od 1999 roku. Aktualne wersje to TLS 1.2 i TLS 1.3 (TLS 1.0 i 1.1 też są przestarzałe i wycofywane). TLS jest standardem de facto w dzisiejszym internecie.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(E2EE)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7" name="Google Shape;427;p6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metoda zabezpieczania komunikacji</a:t>
            </a:r>
            <a:r>
              <a:rPr lang="pl" sz="1400">
                <a:solidFill>
                  <a:srgbClr val="001D35"/>
                </a:solidFill>
                <a:latin typeface="Tahoma"/>
                <a:ea typeface="Tahoma"/>
                <a:cs typeface="Tahoma"/>
                <a:sym typeface="Tahoma"/>
              </a:rPr>
              <a:t>, dzięki której wiadomość jest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dostępna tylko dla nadawcy i odbiorcy</a:t>
            </a:r>
            <a:r>
              <a:rPr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Dane są szyfrowane na urządzeniu nadawcy i odszyfrowywane dopiero na urządzeniu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, co oznacza, że żaden pośrednik, w tym dostawca usługi, nie ma dostępu do ich treści.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✔️ Przykład: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WhatsApp,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Signal 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7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Jak działa?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3" name="Google Shape;433;p7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Klucze szyfrujące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opiera się na parze kluczy: publicznego (do szyfrowania) i prywatnego (do deszyfrowania).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u nadawcy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Wiadomość jest szyfrowana kluczem publicznym nadawcy i wysyłana.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Odszyfrowanie 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Tylko klucz prywatny odbiorcy jest w stanie odszyfrować wiadomość, która dociera do niego w nieczytelnej formie.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Brak dostępu dla pośredników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 Żaden serwer pośredniczący ani dostawca usługi nie ma możliwości odszyfrowania wiadomości, ponieważ nie posiada klucza prywatnego.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7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9" name="Google Shape;439;p7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wysoki poziom prywatności – tylko nadawca i odbiorca mogą odczytać dane, chroniąc przed podsłuchem, hakerami czy szpiegostwem rządowym.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są bezpieczne nawet w przypadku naruszenia serwera dostawcy, ponieważ są zaszyfrowane.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Utrudnia masową inwigilację, co jest korzystne dla wolności słowa i ochrony danych osobowych.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Chroni przed nadużyciami ze strony firm lub rządów, promując zaufanie do usług komunikacyjnych.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Minimalizuje ryzyko wycieków danych w tranzycie, co jest kluczowe w aplikacjach jak komunikatory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7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Wady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5" name="Google Shape;445;p72"/>
          <p:cNvSpPr txBox="1"/>
          <p:nvPr>
            <p:ph idx="1" type="body"/>
          </p:nvPr>
        </p:nvSpPr>
        <p:spPr>
          <a:xfrm>
            <a:off x="729450" y="2078875"/>
            <a:ext cx="7688700" cy="28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Jeśli użytkownik zgubi klucz prywatny lub hasło, dane stają się nieodwracalnie niedostępne (brak możliwości odzyskania przez dostawcę).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Zwiększa złożoność systemu – wymaga prawidłowego zarządzania kluczami, co może być trudne dla mniej technicznych użytkowników.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Platformy nie mogą monitorować treści, co utrudnia walkę z nielegalnymi materiałami (np. dezinformacją, mową nienawiści czy treściami pedofilskimi).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Może komplikować egzekwowanie prawa – organy ścigania nie mają dostępu do danych, co budzi kontrowersje w sprawach bezpieczeństwa narodowego.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Wpływa na wydajność – szyfrowanie i deszyfrowanie wymaga więcej zasobów obliczeniowych, co może spowalniać urządzenia.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Kryptografia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1" name="Google Shape;451;p7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Kryptografia to dziedzina nauki i techniki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zajmująca się ochroną informacji poprzez ich szyfrowanie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deszyfrowanie oraz zapewnianie bezpieczeństwa komunikacji i danych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. Pochodzi od greckich słów "kryptos" (ukryty) i "graphein" (pisać), co dosłownie oznacza "tajne pisanie". 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W praktyce kryptografia pozwala na przekształcanie czytelnych danych (zwanych tekstem jawnym) w formę nieczytelną (tekst zaszyfrowany) za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pomocą algorytmów i kluczy</a:t>
            </a:r>
            <a:r>
              <a:rPr b="1"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 a następnie na ich odzyskiwanie tylko przez upoważnione osoby.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elementy kryptografii:</a:t>
            </a:r>
            <a:endParaRPr sz="2400"/>
          </a:p>
        </p:txBody>
      </p:sp>
      <p:sp>
        <p:nvSpPr>
          <p:cNvPr id="457" name="Google Shape;457;p7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Proces konwersji danych na formę zaszyfrowaną, aby uniemożliwić nieautoryzowany dostęp.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Deszyfrowanie (decryption)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Odwrotny proces, wymagający klucza do przywrócenia oryginalnej formy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Klucze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Sekretne wartości używane w algorytmach do szyfrowania i deszyfrowania. Mogą być symetryczne (ten sam klucz do obu procesów) lub asymetryczne (para kluczy: publiczny i prywatny).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Algorytmy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Matematyczne procedury, np. AES (symetryczny), RSA (asymetryczny) czy SHA (do haszowania).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7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Zastosowania kryptografii: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3" name="Google Shape;463;p7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Bezpieczeństwo online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protokołach jak HTTPS (szyfrowanie stron internetowych), VPN czy end-to-end encryption (E2EE) w komunikatorach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bankowości (karty płatnicze, transakcje), medycynie (rekordy pacjentów) czy wojskowości (tajne komunikaty).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Blockchain i kryptowaluty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Podstawa Bitcoin i innych, zapewniająca integralność transakcji.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Podpisy cyfrowe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Weryfikacja autentyczności dokumentów lub oprogramowania.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9" name="Google Shape;469;p76"/>
          <p:cNvSpPr txBox="1"/>
          <p:nvPr>
            <p:ph idx="1" type="body"/>
          </p:nvPr>
        </p:nvSpPr>
        <p:spPr>
          <a:xfrm>
            <a:off x="729450" y="2078875"/>
            <a:ext cx="7688700" cy="29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udostępniać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mają trafić do Ciebie.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Każdy, kto zna Twój klucz publiczny, może wysłać Ci zaszyfrowaną wiadomość, ale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Ty możesz ją odczytać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Chcesz, żeby ktoś wysłał Ci bezpieczną wiadomość. Podajesz mu swój klucz publiczny, on szyfruje wiadomość, a następnie wysyła do Ciebie.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5" name="Google Shape;475;p7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zawsze musisz trzymać w tajemnicy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zaszyfrowanych Twoim kluczem publicznym.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osoba posiadająca klucz prywatny może odczytać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Kiedy otrzymujesz zaszyfrowaną wiadomość, używasz swojego klucza prywatnego, aby odszyfrować jej treść i ją przeczytać.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symetryczny (Symmetric Key)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1" name="Google Shape;481;p7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symetrycznej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i odszyfrowywania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danych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musi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i znany tylko nadawcy i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AES, DES.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(Advanced Encryption Standard)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7" name="Google Shape;487;p7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co oznacza, 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ten sam klucz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szyfrowania i odszyfrowywania danych. Jest bardzo szybki i wydajny, dlatego stosuje się go do szyfrowania dużych ilości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przy użyciu klucza AES.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3" name="Google Shape;493;p8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za pomocą klucza symetrycznego.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do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tego samego klucza,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Szybkie szyfrowanie i odszyfrowywanie (wydajne dla dużych danych).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Problem z bezpiecznym przesłaniem klucza – jeśli ktoś przechwyci klucz, może odczytać wszystkie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Klucz asymetryczny (Asymmetric Key)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9" name="Google Shape;499;p8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asymetrycznej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odszyfrowania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 może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udostępniany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klucz prywatny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pozostaje 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RSA, ECC.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8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 (Rivest–Shamir–Adleman)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5" name="Google Shape;505;p8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RSA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odszyfrowania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bezpieczne przesyłanie danych nawet przez niezabezpieczone kanały.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publicznym odbiorcy.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klucza prywatnego,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1" name="Google Shape;511;p8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publicznym odbiorcy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w formie zaszyfrowanej.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klucza prywatnego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Bezpieczne przesyłanie wiadomości, nawet jeśli klucz publiczny jest znany wszystkim.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Idealne dla komunikacji w Internecie (np. E2EE).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Wolniejsze niż szyfrowanie symetryczne, szczególnie dla dużych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