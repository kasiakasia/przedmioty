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8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47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y="5143500" cx="9144000"/>
  <p:notesSz cx="6858000" cy="9144000"/>
  <p:embeddedFontLst>
    <p:embeddedFont>
      <p:font typeface="Raleway"/>
      <p:regular r:id="rId55"/>
      <p:bold r:id="rId56"/>
      <p:italic r:id="rId57"/>
      <p:boldItalic r:id="rId58"/>
    </p:embeddedFont>
    <p:embeddedFont>
      <p:font typeface="Lato"/>
      <p:regular r:id="rId59"/>
      <p:bold r:id="rId60"/>
      <p:italic r:id="rId61"/>
      <p:boldItalic r:id="rId62"/>
    </p:embeddedFont>
    <p:embeddedFont>
      <p:font typeface="Tahoma"/>
      <p:regular r:id="rId63"/>
      <p:bold r:id="rId64"/>
    </p:embeddedFont>
    <p:embeddedFont>
      <p:font typeface="Roboto Mono"/>
      <p:regular r:id="rId65"/>
      <p:bold r:id="rId66"/>
      <p:italic r:id="rId67"/>
      <p:boldItalic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6AC64D-05A7-4FAB-AA68-0326A2C7EB59}">
  <a:tblStyle styleId="{E66AC64D-05A7-4FAB-AA68-0326A2C7EB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font" Target="fonts/Lato-boldItalic.fntdata"/><Relationship Id="rId61" Type="http://schemas.openxmlformats.org/officeDocument/2006/relationships/font" Target="fonts/Lato-italic.fntdata"/><Relationship Id="rId20" Type="http://schemas.openxmlformats.org/officeDocument/2006/relationships/slide" Target="slides/slide14.xml"/><Relationship Id="rId64" Type="http://schemas.openxmlformats.org/officeDocument/2006/relationships/font" Target="fonts/Tahoma-bold.fntdata"/><Relationship Id="rId63" Type="http://schemas.openxmlformats.org/officeDocument/2006/relationships/font" Target="fonts/Tahoma-regular.fntdata"/><Relationship Id="rId22" Type="http://schemas.openxmlformats.org/officeDocument/2006/relationships/slide" Target="slides/slide16.xml"/><Relationship Id="rId66" Type="http://schemas.openxmlformats.org/officeDocument/2006/relationships/font" Target="fonts/RobotoMono-bold.fntdata"/><Relationship Id="rId21" Type="http://schemas.openxmlformats.org/officeDocument/2006/relationships/slide" Target="slides/slide15.xml"/><Relationship Id="rId65" Type="http://schemas.openxmlformats.org/officeDocument/2006/relationships/font" Target="fonts/RobotoMono-regular.fntdata"/><Relationship Id="rId24" Type="http://schemas.openxmlformats.org/officeDocument/2006/relationships/slide" Target="slides/slide18.xml"/><Relationship Id="rId68" Type="http://schemas.openxmlformats.org/officeDocument/2006/relationships/font" Target="fonts/RobotoMono-boldItalic.fntdata"/><Relationship Id="rId23" Type="http://schemas.openxmlformats.org/officeDocument/2006/relationships/slide" Target="slides/slide17.xml"/><Relationship Id="rId67" Type="http://schemas.openxmlformats.org/officeDocument/2006/relationships/font" Target="fonts/RobotoMono-italic.fntdata"/><Relationship Id="rId60" Type="http://schemas.openxmlformats.org/officeDocument/2006/relationships/font" Target="fonts/Lato-bold.fntdata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font" Target="fonts/Raleway-regular.fntdata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font" Target="fonts/Raleway-italic.fntdata"/><Relationship Id="rId12" Type="http://schemas.openxmlformats.org/officeDocument/2006/relationships/slide" Target="slides/slide6.xml"/><Relationship Id="rId56" Type="http://schemas.openxmlformats.org/officeDocument/2006/relationships/font" Target="fonts/Raleway-bold.fntdata"/><Relationship Id="rId15" Type="http://schemas.openxmlformats.org/officeDocument/2006/relationships/slide" Target="slides/slide9.xml"/><Relationship Id="rId59" Type="http://schemas.openxmlformats.org/officeDocument/2006/relationships/font" Target="fonts/Lato-regular.fntdata"/><Relationship Id="rId14" Type="http://schemas.openxmlformats.org/officeDocument/2006/relationships/slide" Target="slides/slide8.xml"/><Relationship Id="rId58" Type="http://schemas.openxmlformats.org/officeDocument/2006/relationships/font" Target="fonts/Raleway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db029de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90db029de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0db029de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90db029de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0db029de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0db029de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0db029de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0db029de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0db029de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0db029de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b029de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b029de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0db029de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0db029de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0db029de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90db029de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0db029de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0db029de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0db029de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0db029de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0db029de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90db029de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0db029de9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90db029de9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90db029de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90db029de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0db029de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0db029de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0db029de9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0db029de9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0db029de9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90db029de9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{E66AC64D-05A7-4FAB-AA68-0326A2C7EB59}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{E66AC64D-05A7-4FAB-AA68-0326A2C7EB59}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{E66AC64D-05A7-4FAB-AA68-0326A2C7EB59}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{E66AC64D-05A7-4FAB-AA68-0326A2C7EB59}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45"/>
          <p:cNvSpPr txBox="1"/>
          <p:nvPr>
            <p:ph idx="1" type="body"/>
          </p:nvPr>
        </p:nvSpPr>
        <p:spPr>
          <a:xfrm>
            <a:off x="729450" y="2078875"/>
            <a:ext cx="7688700" cy="30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commit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zapisania zmian, które zostały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wcześniej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dodane do obszaru index</a:t>
            </a:r>
            <a:r>
              <a:rPr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(za pomocą 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git add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Pomocne polecenia do wykonania commit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przejście w tryb –INSERT , modyfikowania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ESCAPE :wq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ESC (przełącza w tryb poleceń), w -zapisz, q-quit, wyjście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9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-m "tytuł commit"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Dodaje komunikat bezpośrednio w poleceniu.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--amend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edytować ostatni commit (np. poprawić wiadomość lub dodać zapomniane pliki).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-a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Automatycznie dodaje wszystkie śledzone pliki do staging przed commitem (skrót od git add dla zmodyfikowanych plików).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log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729450" y="2078875"/>
            <a:ext cx="7688700" cy="30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log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25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wyświetlania historii commitów w repozytorium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 kolejności chronologicznej – od najnowszego do najstarszego</a:t>
            </a:r>
            <a:r>
              <a:rPr lang="pl" sz="2500">
                <a:latin typeface="Tahoma"/>
                <a:ea typeface="Tahoma"/>
                <a:cs typeface="Tahoma"/>
                <a:sym typeface="Tahoma"/>
              </a:rPr>
              <a:t>.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Wyświetlane informacje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Dla każdego commita pokazuje: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Hash commita (unikalny identyfikator).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Autora i datę.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commita. 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--oneline</a:t>
            </a:r>
            <a:r>
              <a:rPr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 każdy commit w jednej linii (skrótowo: hash + wiadomość).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--graph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historię w formie grafu (drzewa branchy).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-n 5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Ogranicza do ostatnich n commitów (np. 5).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--author="Imię"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Filtruje po autorze.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--since="2023-01-01"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Commit'y od danej daty.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-p lub --patch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pełne zmiany (diff) w każdym commicie.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checkout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47"/>
          <p:cNvSpPr txBox="1"/>
          <p:nvPr>
            <p:ph idx="1" type="body"/>
          </p:nvPr>
        </p:nvSpPr>
        <p:spPr>
          <a:xfrm>
            <a:off x="729450" y="2078875"/>
            <a:ext cx="7688700" cy="29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Index w Git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(nazywany też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staging area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albo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strefą przejściową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miejsce, w którym Git przechowuje informacje o zmianach przygotowanych do zatwierdzenia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(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Tworzymy katalog w nim są plik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mkdir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touch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plik2.txt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Dodajemy je do index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za pomocą polecenie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add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Następnie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usuwamy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jeden z plików w katalogu folder-test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rm  folder-test/plik2.txt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Aby go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odzyskać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mimo tego, że nie ma go w katalogu roboczym należy wykonać polecenie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folder-test/plik2.txt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2: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Teraz jak dodamy tekst do pliku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folder-test/plik2.txt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plik będzie wyświetlany 2 razy w index (gdzie będzie pusty) i w katalogu roboczym z nową zawartością tekstu.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8"/>
          <p:cNvSpPr txBox="1"/>
          <p:nvPr>
            <p:ph type="title"/>
          </p:nvPr>
        </p:nvSpPr>
        <p:spPr>
          <a:xfrm>
            <a:off x="729450" y="13853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reset HEAD , touch .gitignore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1" name="Google Shape;301;p4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 HEAD &lt;plik&gt;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usuwa wskazany plik z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indexu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ale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usuwa go z katalogu roboczego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.gitignore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tego, aby powiedzieć Gitowi,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których plików i katalogów NIE ma śledzić</a:t>
            </a:r>
            <a:r>
              <a:rPr lang="pl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(czyli nie dodawać ich do indexu, commitów i repozytorium).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ignoruje pliki wymienione w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.gitignore, o ile nie były wcześniej dodane do repozytorium.</a:t>
            </a:r>
            <a:endParaRPr b="1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Zwykle 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ignorujemy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katalogi node_module, dist, .env oraz pliki *.log, *.temp, DS_Store</a:t>
            </a:r>
            <a:endParaRPr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jest niewidoczny dopiero polecenie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$ ls –all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go wyświetli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revert SHA-1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7" name="Google Shape;307;p4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revert SHA-1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NOWY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wykonuje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odwrotność zmian z tamtego commita.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commit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show SHA-1 dodaliśmy w 2 linii tekst, 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usunęliśmy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pierwszą linie tekstu, to możemy to odwrócić.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Czyli po wykonaniu polecenia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revert SHA-1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odwrócimy to co było w pliku.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Druga linia zostanie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, a pierwsza linia zostanie dodana z zawartością tekstu przed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usunięciem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jej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Pamiętajmy,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że 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zmiana dodaje nowy commit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Działanie git reset z historią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resetuje index do danego commit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lub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zresetowanie indexu do wybranych plików danego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Czyli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reset HEAD nazwa.txt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pobierze z ostatniego commit plik nazwa.txt przywróci do index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Natomiast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to co jest obecnie w index umieści w katalogu roboczym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Sprawdzenie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wykonuje się poleceniem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restore nazwa-pliku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rebase -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interactive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 HEAD~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51"/>
          <p:cNvSpPr txBox="1"/>
          <p:nvPr>
            <p:ph idx="1" type="body"/>
          </p:nvPr>
        </p:nvSpPr>
        <p:spPr>
          <a:xfrm>
            <a:off x="729450" y="2078875"/>
            <a:ext cx="76887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przeniesienia commit z jednego miejsca do drugiego.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szczególności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 poprawy commit,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łączenia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ich, układania w odpowiedniej kolejności, usuniecia zbędnych commit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Commands: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p, pick &lt;commit&gt; = use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r, reword &lt;commit&gt; = use commit, but edit the commit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e, edit &lt;commit&gt; = use commit, but stop for amending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s, squash &lt;commit&gt; = use commit, but meld into previous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f, fixup &lt;commit&gt; = like "squash", but discard this commit's log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x, exec &lt;command&gt; = run command (the rest of the line) using shell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b, break = stop here (continue rebase later with 'git rebase --continue')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d, drop &lt;commit&gt; = remove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l, label &lt;label&gt; = label current HEAD with a name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t, reset &lt;label&gt; = reset HEAD to a label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m, merge [-C &lt;commit&gt; | -c &lt;commit&gt;] &lt;label&gt; [# &lt;oneline&gt;]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create a merge commit using the original merge commit's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message (or the oneline, if no original merge commit was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specified). Use -c &lt;commit&gt; to reword the commit message.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 branch -verbose, git branch nowy-brache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-v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 listę wszystkich gałęz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 r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azem z ostatnim commitem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 każdej z nich (skrót commit hash + pierwsza linia wiadomości, gdzie * oznacza branche na którym jesteśmy)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–list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zwraca listę branch (tylko nazwę)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-m nowy-branch nowa-nazwa-branch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zmienia nazwę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-d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usuwa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checkout nazwa-branch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5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nazwa-branch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przełączenie się na brancha (gałąź) o podanej nazwie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-b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tworzy nowy branch i od razu przełącza się na niego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stash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5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tymczasowo odkłada Twoje zmiany na bok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tak żeby repo wyglądało, jakby nie było żadnych zmian. Zmiany muszą znajdować się w index aby można było je odłożyć na bok za pomocą polecenia git stash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list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listę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stash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pop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- zdejmuje z listy stash ostatnią zmianę oraz wyświetla szczegółowe informacje o statusie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5"/>
          <p:cNvSpPr txBox="1"/>
          <p:nvPr>
            <p:ph type="title"/>
          </p:nvPr>
        </p:nvSpPr>
        <p:spPr>
          <a:xfrm>
            <a:off x="716312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merge nazwa_branch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5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merge nazwa_branch (lub nazwe commit, SHA-1)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łączy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(scalą)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historię wskazanej gałęzi z aktualną gałęzią na której jesteś.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Mogą się pojawić konflikty.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Czyli jeśli te same linie w tych samych plikach zostały zmienione inaczej w obu branchach – powstaje konflikt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Rozwiązanie konfliktów wykonuje się przez otworzenie pliku w którym są konflikty. Usunięciu linii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&lt;&lt;&lt;&lt;&lt;&lt;&lt;, =======, &gt;&gt;&gt;&gt;&gt;&gt;&gt;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oraz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wybraniem poprawnej wersji.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czym należy dodać pliki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$ git add nazwa_pliku_z_konfliktem 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wykonać commit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clone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56"/>
          <p:cNvSpPr txBox="1"/>
          <p:nvPr>
            <p:ph idx="1" type="body"/>
          </p:nvPr>
        </p:nvSpPr>
        <p:spPr>
          <a:xfrm>
            <a:off x="729450" y="2078875"/>
            <a:ext cx="7688700" cy="29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clone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6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kopiuje całe zdalne repozytorium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z GitHuba) na Twój komputer. 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Oznacza to: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wszystkie pliki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całą historię commitów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ustawia domyślne połączenie z repozytorium (origin)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katalog z projektem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clone https://github.com/user/projekt.git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5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Twoje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lokalne commity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zdalnego repozytorium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GitHub, GitLab, Bitbucket).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origin nazwa_brancha</a:t>
            </a:r>
            <a:endParaRPr b="1" sz="14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origin –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nazwa zdalnego repozytorium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nazwa_brancha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gałąź, którą chcesz wysłać (np. main, feature/login)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wysyła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stash, plików roboczych, nic co jest nie commit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pull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58"/>
          <p:cNvSpPr txBox="1"/>
          <p:nvPr>
            <p:ph idx="1" type="body"/>
          </p:nvPr>
        </p:nvSpPr>
        <p:spPr>
          <a:xfrm>
            <a:off x="729450" y="2078875"/>
            <a:ext cx="7688700" cy="27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pobierania i integracji zmian z zdalnego repozytorium do lokalnej kopii projektu.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operacje git 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(pobieranie zmian)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i git 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(scalanie ich z bieżącą gałęzią), co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na aktualizację lokalnego kodu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o najnowsze wersje od współpracowników.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git pull wykonuje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wewnętrznie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Git pobiera wszystkie nowe commity i branchy z zdalnego repozytorium, ale nie zmienia lokalnych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Scalane są zmiany z pobranej gałęzi do Twojej lokalnej. Jeśli są konflikty (np. edytowałeś te same linie), Git poprosi o ich ręczne rozwiązanie.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fetch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5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it fetch -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pobierania zmian z zdalnego repozytorium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z GitHuba)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 lokalnego repozytorium, bez automatycznego scalania ich z Twoimi lokalnymi gałęziam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i. Aktualizuje ono informacje o zdalnych branchach (np. "origin/main"), co pozwala sprawdzić, co się zmieniło, zanim zdecydujesz się na integrację (np. via merge lub rebase)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6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git fetch vs git pull</a:t>
            </a:r>
            <a:endParaRPr/>
          </a:p>
        </p:txBody>
      </p:sp>
      <p:sp>
        <p:nvSpPr>
          <p:cNvPr id="373" name="Google Shape;373;p60"/>
          <p:cNvSpPr txBox="1"/>
          <p:nvPr>
            <p:ph idx="1" type="body"/>
          </p:nvPr>
        </p:nvSpPr>
        <p:spPr>
          <a:xfrm>
            <a:off x="215900" y="2078875"/>
            <a:ext cx="87249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 robi? 					Czy zmienia pliki lokalne?	Czy łączy zmiany?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fetch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zmiany z serwera 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i łączy zmiany			✅ TAK					✅ TAK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