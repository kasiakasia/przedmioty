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y="5143500" cx="9144000"/>
  <p:notesSz cx="6858000" cy="9144000"/>
  <p:embeddedFontLst>
    <p:embeddedFont>
      <p:font typeface="Raleway"/>
      <p:regular r:id="rId70"/>
      <p:bold r:id="rId71"/>
      <p:italic r:id="rId72"/>
      <p:boldItalic r:id="rId73"/>
    </p:embeddedFont>
    <p:embeddedFont>
      <p:font typeface="Lato"/>
      <p:regular r:id="rId74"/>
      <p:bold r:id="rId75"/>
      <p:italic r:id="rId76"/>
      <p:boldItalic r:id="rId77"/>
    </p:embeddedFont>
    <p:embeddedFont>
      <p:font typeface="Tahoma"/>
      <p:regular r:id="rId78"/>
      <p:bold r:id="rId79"/>
    </p:embeddedFont>
    <p:embeddedFont>
      <p:font typeface="Roboto Mono"/>
      <p:regular r:id="rId80"/>
      <p:bold r:id="rId81"/>
      <p:italic r:id="rId82"/>
      <p:boldItalic r:id="rId8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1967CD-82AF-4A59-A195-959321205211}">
  <a:tblStyle styleId="{801967CD-82AF-4A59-A195-9593212052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83" Type="http://schemas.openxmlformats.org/officeDocument/2006/relationships/font" Target="fonts/RobotoMono-boldItalic.fntdata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font" Target="fonts/RobotoMono-regular.fntdata"/><Relationship Id="rId82" Type="http://schemas.openxmlformats.org/officeDocument/2006/relationships/font" Target="fonts/RobotoMono-italic.fntdata"/><Relationship Id="rId81" Type="http://schemas.openxmlformats.org/officeDocument/2006/relationships/font" Target="fonts/RobotoMon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font" Target="fonts/Raleway-boldItalic.fntdata"/><Relationship Id="rId72" Type="http://schemas.openxmlformats.org/officeDocument/2006/relationships/font" Target="fonts/Raleway-italic.fntdata"/><Relationship Id="rId31" Type="http://schemas.openxmlformats.org/officeDocument/2006/relationships/slide" Target="slides/slide25.xml"/><Relationship Id="rId75" Type="http://schemas.openxmlformats.org/officeDocument/2006/relationships/font" Target="fonts/Lato-bold.fntdata"/><Relationship Id="rId30" Type="http://schemas.openxmlformats.org/officeDocument/2006/relationships/slide" Target="slides/slide24.xml"/><Relationship Id="rId74" Type="http://schemas.openxmlformats.org/officeDocument/2006/relationships/font" Target="fonts/Lato-regular.fntdata"/><Relationship Id="rId33" Type="http://schemas.openxmlformats.org/officeDocument/2006/relationships/slide" Target="slides/slide27.xml"/><Relationship Id="rId77" Type="http://schemas.openxmlformats.org/officeDocument/2006/relationships/font" Target="fonts/Lato-boldItalic.fntdata"/><Relationship Id="rId32" Type="http://schemas.openxmlformats.org/officeDocument/2006/relationships/slide" Target="slides/slide26.xml"/><Relationship Id="rId76" Type="http://schemas.openxmlformats.org/officeDocument/2006/relationships/font" Target="fonts/Lato-italic.fntdata"/><Relationship Id="rId35" Type="http://schemas.openxmlformats.org/officeDocument/2006/relationships/slide" Target="slides/slide29.xml"/><Relationship Id="rId79" Type="http://schemas.openxmlformats.org/officeDocument/2006/relationships/font" Target="fonts/Tahoma-bold.fntdata"/><Relationship Id="rId34" Type="http://schemas.openxmlformats.org/officeDocument/2006/relationships/slide" Target="slides/slide28.xml"/><Relationship Id="rId78" Type="http://schemas.openxmlformats.org/officeDocument/2006/relationships/font" Target="fonts/Tahoma-regular.fntdata"/><Relationship Id="rId71" Type="http://schemas.openxmlformats.org/officeDocument/2006/relationships/font" Target="fonts/Raleway-bold.fntdata"/><Relationship Id="rId70" Type="http://schemas.openxmlformats.org/officeDocument/2006/relationships/font" Target="fonts/Raleway-regular.fntdata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a99e5f2c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aa99e5f2c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a99e5f2c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a99e5f2c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aa99e5f2c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aa99e5f2c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a99e5f2c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aa99e5f2c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aa99e5f2c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aa99e5f2c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a99e5f2c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a99e5f2c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a99e5f2c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aa99e5f2c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a99e5f2c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a99e5f2c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ac905ae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ac905ae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ac905aeb3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ac905aeb3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ac905aeb3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ac905aeb3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c905aeb3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c905aeb3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c905aeb3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ac905aeb3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ac905aeb3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ac905aeb3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ac905aeb3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ac905aeb3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bank.pl" TargetMode="External"/><Relationship Id="rId4" Type="http://schemas.openxmlformats.org/officeDocument/2006/relationships/hyperlink" Target="https://bank.pl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{801967CD-82AF-4A59-A195-959321205211}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{801967CD-82AF-4A59-A195-959321205211}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{801967CD-82AF-4A59-A195-959321205211}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{801967CD-82AF-4A59-A195-959321205211}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Szyfrowanie sieci internetowych HTTPS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6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HTTPS (Hypertext Transfer Protocol Secure)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bezpieczna wersja protokołu HTTP używana w internecie do przesyłania danych między przeglądarką a serwerem. Dzięki HTTPS komunikacja jest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uwierzytelniana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integralna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zapewnia ochronę danych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 daje HTTPS?</a:t>
            </a:r>
            <a:endParaRPr/>
          </a:p>
        </p:txBody>
      </p:sp>
      <p:sp>
        <p:nvSpPr>
          <p:cNvPr id="385" name="Google Shape;385;p62"/>
          <p:cNvSpPr txBox="1"/>
          <p:nvPr>
            <p:ph idx="1" type="body"/>
          </p:nvPr>
        </p:nvSpPr>
        <p:spPr>
          <a:xfrm>
            <a:off x="729450" y="2078875"/>
            <a:ext cx="8263800" cy="28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przesyłane między przeglądarką a serwerem są zaszyfrowane przy pomocy protokołu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Nawet jeśli ktoś przechwyci ruch sieciowy – zobaczy tylko zaszyfrowane, bezużyteczne dane.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Uwierzytelnienie (authentication)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Certyfikat SSL/TLS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potwierdza, że strona, z którą się łączysz, jest prawdziwa i należy do właściwej firmy lub osoby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Integralność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Zapewnia, że dane nie zostały zmienione po drodze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nikt nie może ich potajemnie edytować, podmienić ani wstrzyknąć złośliwy kod.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6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(zwane także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certyfikatami cyfrowymi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SSL/TLS certyfikatami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specjalne elektroniczne dokumenty, które służą do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potwierdzania tożsamości stron w internecie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oraz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umożliwiają bezpieczne, szyfrowane połączenia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między użytkownikiem a serwerem.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Jest oparty na standardzie X.509 i zawiera zestaw kluczowych informacji, które służą do weryfikacji tożsamości serwera oraz umożliwienia szyfrowania danych.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certyfikaty internetowe</a:t>
            </a:r>
            <a:endParaRPr/>
          </a:p>
        </p:txBody>
      </p:sp>
      <p:sp>
        <p:nvSpPr>
          <p:cNvPr id="397" name="Google Shape;397;p64"/>
          <p:cNvSpPr txBox="1"/>
          <p:nvPr>
            <p:ph idx="1" type="body"/>
          </p:nvPr>
        </p:nvSpPr>
        <p:spPr>
          <a:xfrm>
            <a:off x="729450" y="2078875"/>
            <a:ext cx="7688700" cy="293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Potwierdzają tożsamość strony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zapewnia, że strona, którą odwiedzasz, jest rzeczywiście tym, za co się podaje.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Przykład: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Jeśli wpisujesz</a:t>
            </a:r>
            <a:r>
              <a:rPr lang="pl" sz="1100">
                <a:solidFill>
                  <a:srgbClr val="000000"/>
                </a:solidFill>
                <a:uFill>
                  <a:noFill/>
                </a:u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i="1" lang="pl" sz="11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4"/>
              </a:rPr>
              <a:t>https://bank.pl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certyfikat gwarantuje, że łączysz się z prawdziwym bankiem, a nie z fałszywą stroną.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2️⃣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Umożliwiają szyfrowanie danych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zawiera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używany do bezpiecznego przesyłania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Dzięki temu: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hasła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numery kart płatniczych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osobowe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zaszyfrowane i niemożliwe do odczytania przez osoby trzecie.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Są wystawiane przez zaufane instytucje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Nazywa się je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 – Certificate Authority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np.: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Let's Encrypt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DigiCert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GlobalSign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Sectigo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Przeglądarki ufają tym instytucjom.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6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Wersja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(Version)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wersję standardu certyfikatu (np. wersja 3 dla X.509 v3).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Numer seryjny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(Serial Number)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Unikalny identyfikator nadany przez urząd certyfikacji (CA).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Algorytm podpisu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 Algorithm)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algorytm użyty do podpisania certyfikatu (np. SHA-256 with RSA).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Wydawca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(Issuer)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urzędu certyfikacji, który wystawił certyfikat, w tym nazwa, kraj, organizacja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Okres ważności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(Validity)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Daty "od" (Not Before) i "do" (Not After), definiujące, kiedy certyfikat jest aktywny.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Podmiot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(Subject)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właściciela certyfikatu, np. nazwa domeny (Common Name), organizacja, kraj, miasto.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Informacje o kluczu publicznym podmiotu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(Subject Public Key Info)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Klucz publiczny serwera oraz algorytm klucza (np. RSA lub ECDSA).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Rozszerzenia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(Extensions)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Dodatkowe pola, takie jak Subject Alternative Names (SAN) dla alternatywnych domen, użycie klucza (Key Usage), autorytet certyfikacji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Podpis cyfrowy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Podpis urzędu CA, weryfikujący autentyczność certyfikatu.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certyfikatów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6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DV – Domain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Najprostsze i najtańsze (np. Let's Encrypt).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Sprawdzana jest tylko domena.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OV – Organization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Weryfikowana jest firma, która posiada domenę.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EV – Extended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Najwyższy poziom weryfikacji – pełna weryfikacja organizacji.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Kiedyś prezentowane jako zielony pasek w przeglądarce.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SSL czy TLS</a:t>
            </a:r>
            <a:endParaRPr/>
          </a:p>
        </p:txBody>
      </p:sp>
      <p:sp>
        <p:nvSpPr>
          <p:cNvPr id="421" name="Google Shape;421;p6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SSL (Secure Sockets Layer)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starszy protokół szyfrowania, opracowany w latach 90. przez Netscape. Jego ostatnie wersje (SSL 2.0 i 3.0) miały poważne luki bezpieczeństwa, dlatego od dawna nie są zalecane i nie są używane w praktyce.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ulepszona i bezpieczniejsza wersja SSL, rozwijana od 1999 roku. Aktualne wersje to TLS 1.2 i TLS 1.3 (TLS 1.0 i 1.1 też są przestarzałe i wycofywane). TLS jest standardem de facto w dzisiejszym internecie.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(E2EE)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6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metoda zabezpieczania komunikacji</a:t>
            </a:r>
            <a:r>
              <a:rPr lang="pl" sz="1400">
                <a:solidFill>
                  <a:srgbClr val="001D35"/>
                </a:solidFill>
                <a:latin typeface="Tahoma"/>
                <a:ea typeface="Tahoma"/>
                <a:cs typeface="Tahoma"/>
                <a:sym typeface="Tahoma"/>
              </a:rPr>
              <a:t>, dzięki której wiadomość jest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dostępna tylko dla nadawcy i odbiorcy</a:t>
            </a:r>
            <a:r>
              <a:rPr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Dane są szyfrowane na urządzeniu nadawcy i odszyfrowywane dopiero na urządzeniu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, co oznacza, że żaden pośrednik, w tym dostawca usługi, nie ma dostępu do ich treści.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✔️ Przykład: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WhatsApp,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Signal 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Jak działa?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3" name="Google Shape;433;p7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Klucze szyfrujące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opiera się na parze kluczy: publicznego (do szyfrowania) i prywatnego (do deszyfrowania).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u nadawcy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Wiadomość jest szyfrowana kluczem publicznym nadawcy i wysyłana.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Odszyfrowanie 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Tylko klucz prywatny odbiorcy jest w stanie odszyfrować wiadomość, która dociera do niego w nieczytelnej formie.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Brak dostępu dla pośredników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 Żaden serwer pośredniczący ani dostawca usługi nie ma możliwości odszyfrowania wiadomości, ponieważ nie posiada klucza prywatnego.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7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wysoki poziom prywatności – tylko nadawca i odbiorca mogą odczytać dane, chroniąc przed podsłuchem, hakerami czy szpiegostwem rządowym.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są bezpieczne nawet w przypadku naruszenia serwera dostawcy, ponieważ są zaszyfrowane.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Utrudnia masową inwigilację, co jest korzystne dla wolności słowa i ochrony danych osobowych.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Chroni przed nadużyciami ze strony firm lub rządów, promując zaufanie do usług komunikacyjnych.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Minimalizuje ryzyko wycieków danych w tranzycie, co jest kluczowe w aplikacjach jak komunikatory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7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Wady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5" name="Google Shape;445;p72"/>
          <p:cNvSpPr txBox="1"/>
          <p:nvPr>
            <p:ph idx="1" type="body"/>
          </p:nvPr>
        </p:nvSpPr>
        <p:spPr>
          <a:xfrm>
            <a:off x="729450" y="2078875"/>
            <a:ext cx="7688700" cy="28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Jeśli użytkownik zgubi klucz prywatny lub hasło, dane stają się nieodwracalnie niedostępne (brak możliwości odzyskania przez dostawcę).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Zwiększa złożoność systemu – wymaga prawidłowego zarządzania kluczami, co może być trudne dla mniej technicznych użytkowników.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Platformy nie mogą monitorować treści, co utrudnia walkę z nielegalnymi materiałami (np. dezinformacją, mową nienawiści czy treściami pedofilskimi).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Może komplikować egzekwowanie prawa – organy ścigania nie mają dostępu do danych, co budzi kontrowersje w sprawach bezpieczeństwa narodowego.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Wpływa na wydajność – szyfrowanie i deszyfrowanie wymaga więcej zasobów obliczeniowych, co może spowalniać urządzenia.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Kryptografia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1" name="Google Shape;451;p7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Kryptografia to dziedzina nauki i techniki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zajmująca się ochroną informacji poprzez ich szyfrowanie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deszyfrowanie oraz zapewnianie bezpieczeństwa komunikacji i danych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. Pochodzi od greckich słów "kryptos" (ukryty) i "graphein" (pisać), co dosłownie oznacza "tajne pisanie". 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W praktyce kryptografia pozwala na przekształcanie czytelnych danych (zwanych tekstem jawnym) w formę nieczytelną (tekst zaszyfrowany) za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pomocą algorytmów i kluczy</a:t>
            </a:r>
            <a:r>
              <a:rPr b="1"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a następnie na ich odzyskiwanie tylko przez upoważnione osoby.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elementy kryptografii:</a:t>
            </a:r>
            <a:endParaRPr sz="2400"/>
          </a:p>
        </p:txBody>
      </p:sp>
      <p:sp>
        <p:nvSpPr>
          <p:cNvPr id="457" name="Google Shape;457;p7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Proces konwersji danych na formę zaszyfrowaną, aby uniemożliwić nieautoryzowany dostęp.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Deszyfrowanie (decryption)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Odwrotny proces, wymagający klucza do przywrócenia oryginalnej formy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Klucze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Sekretne wartości używane w algorytmach do szyfrowania i deszyfrowania. Mogą być symetryczne (ten sam klucz do obu procesów) lub asymetryczne (para kluczy: publiczny i prywatny).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Algorytmy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Matematyczne procedury, np. AES (symetryczny), RSA (asymetryczny) czy SHA (do haszowania).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Zastosowania kryptografii: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3" name="Google Shape;463;p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Bezpieczeństwo online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protokołach jak HTTPS (szyfrowanie stron internetowych), VPN czy end-to-end encryption (E2EE) w komunikatorach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bankowości (karty płatnicze, transakcje), medycynie (rekordy pacjentów) czy wojskowości (tajne komunikaty).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Blockchain i kryptowaluty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Podstawa Bitcoin i innych, zapewniająca integralność transakcji.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Podpisy cyfrowe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Weryfikacja autentyczności dokumentów lub oprogramowania.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