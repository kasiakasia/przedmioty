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Raleway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  <p:embeddedFont>
      <p:font typeface="Tahoma"/>
      <p:regular r:id="rId71"/>
      <p:bold r:id="rId72"/>
    </p:embeddedFont>
    <p:embeddedFont>
      <p:font typeface="Roboto Mono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35121E-39B5-4F20-9280-937C03379303}">
  <a:tblStyle styleId="{8335121E-39B5-4F20-9280-937C033793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regular.fntdata"/><Relationship Id="rId72" Type="http://schemas.openxmlformats.org/officeDocument/2006/relationships/font" Target="fonts/Tahoma-bold.fntdata"/><Relationship Id="rId31" Type="http://schemas.openxmlformats.org/officeDocument/2006/relationships/slide" Target="slides/slide25.xml"/><Relationship Id="rId75" Type="http://schemas.openxmlformats.org/officeDocument/2006/relationships/font" Target="fonts/RobotoMono-italic.fntdata"/><Relationship Id="rId30" Type="http://schemas.openxmlformats.org/officeDocument/2006/relationships/slide" Target="slides/slide24.xml"/><Relationship Id="rId74" Type="http://schemas.openxmlformats.org/officeDocument/2006/relationships/font" Target="fonts/RobotoMono-bold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76" Type="http://schemas.openxmlformats.org/officeDocument/2006/relationships/font" Target="fonts/RobotoMono-bold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Tahoma-regular.fntdata"/><Relationship Id="rId70" Type="http://schemas.openxmlformats.org/officeDocument/2006/relationships/font" Target="fonts/Lato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aleway-bold.fntdata"/><Relationship Id="rId63" Type="http://schemas.openxmlformats.org/officeDocument/2006/relationships/font" Target="fonts/Raleway-regular.fntdata"/><Relationship Id="rId22" Type="http://schemas.openxmlformats.org/officeDocument/2006/relationships/slide" Target="slides/slide16.xml"/><Relationship Id="rId66" Type="http://schemas.openxmlformats.org/officeDocument/2006/relationships/font" Target="fonts/Raleway-boldItalic.fntdata"/><Relationship Id="rId21" Type="http://schemas.openxmlformats.org/officeDocument/2006/relationships/slide" Target="slides/slide15.xml"/><Relationship Id="rId65" Type="http://schemas.openxmlformats.org/officeDocument/2006/relationships/font" Target="fonts/Raleway-italic.fntdata"/><Relationship Id="rId24" Type="http://schemas.openxmlformats.org/officeDocument/2006/relationships/slide" Target="slides/slide18.xml"/><Relationship Id="rId68" Type="http://schemas.openxmlformats.org/officeDocument/2006/relationships/font" Target="fonts/Lato-bold.fntdata"/><Relationship Id="rId23" Type="http://schemas.openxmlformats.org/officeDocument/2006/relationships/slide" Target="slides/slide17.xml"/><Relationship Id="rId67" Type="http://schemas.openxmlformats.org/officeDocument/2006/relationships/font" Target="fonts/Lato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dc6858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edc6858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dc68585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dc68585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dc68585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dc68585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edc68585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edc68585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dc68585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dc68585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edc68585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edc68585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dc68585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edc68585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edc68585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edc68585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dc68585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dc68585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dc68585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edc68585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fbc4a1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fbc4a1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fbc4a1c5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fbc4a1c5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bc4a1c5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bc4a1c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bc4a1c5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6fbc4a1c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bc4a1c5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bc4a1c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bc4a1c5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fbc4a1c5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fbc4a1c5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fbc4a1c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fbc4a1c5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fbc4a1c5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fbc4a1c5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fbc4a1c5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fbc4a1c5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fbc4a1c5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12cefa1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12cefa1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12cefa1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12cefa1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2cefa1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12cefa1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12cefa15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12cefa15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12cefa15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12cefa15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12cefa15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12cefa15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13cfc4c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13cfc4c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5a0ca6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35a0ca6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35a0ca6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35a0ca6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35a0ca6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35a0ca6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35a0ca6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35a0ca6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0db029d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0db029d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0db029d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0db029d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0db029d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90db029d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0db029de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90db029de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0db029de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0db029de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0db029de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90db029de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0db029de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90db029de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0db029de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90db029de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0db029de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0db029de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0db029de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0db029de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0db029de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0db029de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0db029de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0db029de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0db029de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0db029de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0db029de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90db029de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0db029d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0db029d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0db029de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90db029de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a99e5f2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a99e5f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a99e5f2c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a99e5f2c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a99e5f2c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a99e5f2c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a99e5f2c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a99e5f2c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a99e5f2c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a99e5f2c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a99e5f2c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a99e5f2c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a99e5f2c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a99e5f2c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a99e5f2c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a99e5f2c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node.j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bank.pl" TargetMode="External"/><Relationship Id="rId4" Type="http://schemas.openxmlformats.org/officeDocument/2006/relationships/hyperlink" Target="https://bank.pl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Sieci przewodowe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1996825"/>
            <a:ext cx="7688100" cy="28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to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rodzaj sieci komputerowej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w której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urządzenia są połączone za pomocą fizycznych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miedzianych (Ethernet)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światłowodowych (fiber optic)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🧩 Najprościej mówiąc: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przewodowa = połączenie komputerów, drukarek, routerów itp.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 pomocą kabli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 nie przez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2300"/>
              </a:spcBef>
              <a:spcAft>
                <a:spcPts val="8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cechy:</a:t>
            </a:r>
            <a:endParaRPr sz="35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Przesył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są transmitowane przez przewodniki, co zapewnia stabilne i szybkie połączenie, zazwyczaj z mniejszą podatnością na zakłócenia niż w sieciach bezprzewodowych.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Przykłady zastosowań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Sieci LAN w domach, biurach, centrach danych czy systemy monitoringu CCTV.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Przykłady sieci przewodowych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Ethernet (LAN)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najczęściej spotykana sieć przewodowa w domach i firmach.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używa kabli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RJ-45 (skrętka)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prędkości np. </a:t>
            </a: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100 Mb/s, 1 Gb/s, 10 Gb/s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komputery, routery, switche.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Światłowód (Fiber Optic)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sieć zbudowana z kabli światłowodowych.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bardzo duża prędkość transmisji,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stosowana w łączach między miastami, serwerowniach lub w nowoczesnych domach (FTTH – Fiber To The Home).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Połączenia szeregowe / przemysłowe</a:t>
            </a:r>
            <a:r>
              <a:rPr lang="pl" sz="2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— np. RS-232, RS-485 — używane w automatyce i systemach przemysłowych.</a:t>
            </a:r>
            <a:endParaRPr sz="2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Jak działa sieć przewodowa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Każde urządzenie ma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kartę sieciową (NIC)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Kable łączą urządzenia poprzez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hub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Dane przesyłane są w postaci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sygnałów elektrycznych lub optycznych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przez przewody.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Komunikacja odbywa się według określonych </a:t>
            </a:r>
            <a:r>
              <a:rPr b="1" lang="pl" sz="1600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rPr>
              <a:t>protokołów sieciowych</a:t>
            </a:r>
            <a:r>
              <a:rPr lang="pl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(np. TCP/IP, Ethernet).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Zalety sieci przewodowej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Szybka transmisja danych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stabilniejsze połączenie niż Wi-Fi.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Niskie opóźnienia (ping)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ważne np. w grach i serwerach.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Bezpieczeństwo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trudniej podsłuchać połączenie fizyczne.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✅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Odporność na zakłócenia radiowe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nie zależy od zasięgu Wi-Fi.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przewodowej</a:t>
            </a:r>
            <a:endParaRPr sz="27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Trudniejszy montaż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trzeba prowadzić kable w ścianach lub po podłodze.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Mniejsza 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urządzenia muszą być fizycznie podłączone.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Koszty instalacji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więcej sprzętu (kable, gniazda, przełączniki).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bezprzewodowa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komputerowa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 której urządzenia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łączą się ze sobą bez użycia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wykorzystując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fale radiowe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podczerwień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mikrofale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przesyłania danych.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 Najprościej mówiąc: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Sieć bezprzewodowa = połączenie komputerów, telefonów, tabletów i innych urządzeń bez kabli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np. przez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Wi-Fi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lub </a:t>
            </a:r>
            <a:r>
              <a:rPr b="1"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Bluetooth</a:t>
            </a:r>
            <a:r>
              <a:rPr lang="pl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Przykłady sieci bezprzewodowych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060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Wi-Fi (WLAN – Wireless Local Area Network)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najpopularniejsza sieć domowa lub biurowa,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wykorzystuje fale radiowe (częstotliwości 2,4 GHz i 5 GHz),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umożliwia łączenie komputerów, smartfonów i innych urządzeń z routerem bez kabli.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Bluetooth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służy do połączenia urządzeń na krótką odległość (np. telefon ↔ słuchawki).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Sieć komórkowa (LTE, 5G)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zapewnia dostęp do Internetu przez operatorów sieci komórkowych,</a:t>
            </a: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69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obejmuje duże obszary (miasta, regiony).</a:t>
            </a:r>
            <a:b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60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b="1"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Hotspot Wi-Fi</a:t>
            </a:r>
            <a:endParaRPr b="1" sz="30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54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065"/>
              <a:buFont typeface="Arial"/>
              <a:buChar char="○"/>
            </a:pPr>
            <a:r>
              <a:rPr lang="pl" sz="30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punkt dostępu umożliwiający innym urządzeniom korzystanie z Internetu bezprzewodowo.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 Jak działa sieć bezprzewodowa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Urządzenie (np. laptop, telefon) ma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kartę sieciową Wi-Fi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i odbiera dane przez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antenę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która komunikuje się z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routerem (punktem dostępowym)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Router przekazuje dane dalej – np. do Internetu przez kabel (światłowód lub Ethernet).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Komunikacja odbywa się wg ustalonych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protokołów sieciowych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802.11).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Zalety sieci bezprzewodowej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Mobilność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Można się łączyć z dowolnego miejsca w zasięgu sygnału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Brak kabli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Nie trzeba prowadzić przewodów przez ściany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Łatwość instalacji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Wystarczy router i urządzenia z Wi-Fi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351C75"/>
                </a:solidFill>
                <a:latin typeface="Tahoma"/>
                <a:ea typeface="Tahoma"/>
                <a:cs typeface="Tahoma"/>
                <a:sym typeface="Tahoma"/>
              </a:rPr>
              <a:t>Wiele urządzeń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Może łączyć laptopy, smartfony, drukarki itd.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Wady sieci bezprzewodowej</a:t>
            </a:r>
            <a:endParaRPr sz="2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Mniejsza stabilność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Sygnał może zanikać przez ściany lub zakłócenia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Bezpieczeństwo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Łatwiej podsłuchać lub włamać się niż w sieci przewodowej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Niższa prędkość	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Wolniejsza transmisja niż przez kabel Ethernet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ahoma"/>
              <a:buChar char="●"/>
            </a:pPr>
            <a:r>
              <a:rPr lang="pl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Zużycie energii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	Urządzenia mobilne szybciej rozładowują baterię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olityka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29450" y="2078875"/>
            <a:ext cx="7688700" cy="27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bezpieczeństwa sieci (Network Security Policy)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zbiór zasad, procedur i wytycznych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które określają: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chronić dane i zasoby sieciowe,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kto i w jaki sposób może korzystać z sieci,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jakie działania są dozwolone, a jakie zabronione,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jak reagować w razie incydentów bezpieczeństwa.</a:t>
            </a:r>
            <a:endParaRPr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Innymi słowy: to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plan działania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pomaga organizacji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utrzymać poufność, integralność i dostępność danych (zasada CIA: Confidentiality, Integrity, Availability)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Główne cele polityki bezpieczeństwa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3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Poufność (Confidentiality)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ochrona danych przed nieautoryzowanym dostępem.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szyfrowanie, uwierzytelnianie użytkowników.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Integralność (Integrity)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zapobieganie nieautoryzowanym zmianom danych.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sumy kontrolne, kopie zapasowe.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Dostępność (Availability)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zapewnienie, że dane i usługi są dostępne, gdy są potrzebne.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👉 np. ochrona przed atakami DDoS, redundancja serwerów.</a:t>
            </a:r>
            <a:br>
              <a:rPr lang="pl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29450" y="2078875"/>
            <a:ext cx="7688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dostępu do sieci (Access Control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kto może korzystać z sieci i w jakim zakresie.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pracownicy działu finansowego mają dostęp do serwera księgowego, ale nie do serwera HR.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haseł (Password Policy)</a:t>
            </a:r>
            <a:br>
              <a:rPr b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Ustala reguły dotyczące złożoności, długości i zmiany haseł.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hasło musi mieć min. 10 znaków, zawierać litery, cyfry i znaki specjalne, zmiana co 90 dni.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3265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Tahoma"/>
              <a:buAutoNum type="arabicPeriod"/>
            </a:pPr>
            <a:r>
              <a:rPr b="1" lang="pl" sz="145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korzystania z Internetu (Acceptable Use Policy)</a:t>
            </a:r>
            <a:endParaRPr b="1" sz="1454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Określa, w jaki sposób można korzystać z Internetu w pracy.</a:t>
            </a:r>
            <a:b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🔹 </a:t>
            </a:r>
            <a:r>
              <a:rPr i="1"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45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zakaz wchodzenia na strony o treści niezgodnej z prawem lub niezwiązanej z pracą.</a:t>
            </a:r>
            <a:endParaRPr sz="145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polityk bezpieczeństwa w sieci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zapory sieciowej (Firewall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Definiuje, które połączenia są dozwolone, a które blokowane.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ruch przychodzący na port 22 (SSH) dozwolony tylko z sieci firmowej.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5. 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aktualizacji i łatania systemów (Patch Management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Określa zasady instalowania poprawek bezpieczeństwa.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wszystkie serwery muszą być aktualizowane co najmniej raz w miesiącu.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tworzenia kopii zapasowych (Backup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Wskazuje, jak i kiedy wykonywać backupy danych.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codzienna kopia danych na serwer zewnętrzny, przechowywana przez 30 dni.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674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7.	</a:t>
            </a:r>
            <a:r>
              <a:rPr b="1" lang="pl" sz="1674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Polityka reagowania na incydenty (Incident Response Policy)</a:t>
            </a:r>
            <a:b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Opisuje procedury w razie włamania, ataku lub awarii.</a:t>
            </a:r>
            <a:b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🔹 </a:t>
            </a:r>
            <a:r>
              <a:rPr i="1"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r>
              <a:rPr lang="pl" sz="1674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wykryciu ataku DDoS administrator odłącza serwer i powiadamia zespół SOC.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pl" sz="243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Praktyczne zastosowania</a:t>
            </a:r>
            <a:endParaRPr sz="243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40"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729450" y="2078875"/>
            <a:ext cx="7688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Pracownik loguje się do sieci VPN z domu 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+ polityka haseł (Efekt: Bezpieczny, uwierzytelniony dostęp)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Firma blokuje porty 21 (FTP) i 23 (Telnet)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zapory sieciowej (Efekt: Ochrona przed niebezpiecznymi protokołami)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Użytkownicy mają ograniczony dostęp do pendrive’ów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dostępu do urządzeń (Efekt: Zapobieganie wyciekom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Codzienne kopie zapasowe serwerów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backupu (Efekt: Ochrona przed utratą danych)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Pracownicy nie mogą instalować oprogramowania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Zastosowana polityka: Polityka uprawnień użytkownika (Efekt: Redukcja ryzyka złośliwego oprogramowania)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haseł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9450" y="2078875"/>
            <a:ext cx="7688700" cy="27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haseł określa, jak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trudne powinny być hasła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jak często trzeba je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zmieniać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Ma to chronić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konta użytkowników przed włamaniami.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Hasło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powinno mieć duże i małe litery, cyfry i znaki specjalne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Nie powinno się używać tego samego hasła w kilku miejscach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firmach często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wymaga się zmiany hasła co kilka miesięcy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zwiększyć bezpieczeństwo</a:t>
            </a:r>
            <a:r>
              <a:rPr lang="pl" sz="15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danych i systemów.</a:t>
            </a:r>
            <a:endParaRPr sz="15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Polityka korzystania z Internetu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pracownicy mogą używać Internetu w pracy.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zabrania wchodzenia na strony niezwiązane z obowiązkami służbowymi.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Chroni to firmę przed wirusami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 stratą czasu w pracy.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niej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administratorzy mogą łatwiej monitorować ruch sieciowy.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 szkole taka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zasada też może obowiązywać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– np. nie wolno grać online podczas lekcji.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pomaga utrzymać porządek i bezpieczeństwo w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zapory sieciowej (Firewall)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729450" y="2078875"/>
            <a:ext cx="8019300" cy="29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Zapora sieciowa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program lub urządzenie, które blokuje niebezpieczne połączenia z Internetu.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Polityka określa, które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połączenia są dozwolone, a które zablokowane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 przykład może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pozwalać tylko na strony firmowe, a blokować porty używane przez hakerów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Dzięki temu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wirusy i nieautoryzowani użytkownicy nie dostają się do sieci.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Firewall działa jak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strażnik 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pilnujący bramy do firmy.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jedna z podstawowych metod ochrony sieci komputerowych.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tworzenia kopii zapasowych (Backup)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729450" y="2078875"/>
            <a:ext cx="76887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mówi,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jak często trzeba robić kopie danych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żeby ich nie stracić.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Backupy 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mogą być zapisywane na dysku zewnętrznym lub w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chmurze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razie awarii,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ataku lub błędu można łatwo odzyskać dane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Firmy często robią kopie codziennie lub co tydzień.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domu też warto robić kopie zdjęć czy 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dokumentów</a:t>
            </a: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temu nawet po awarii komputera dane nie przepadają.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Polityka reagowania na incydenty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729450" y="2078875"/>
            <a:ext cx="7688700" cy="30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 polityka określa, co robić, gdy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dojdzie do ataku lub problemu z bezpieczeństwem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Na przykład: kto ma zostać powiadomiony, jak zabezpieczyć dane i jak naprawić system.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Pomaga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szybko zareagować, zanim szkody będą duże.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W firmach często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tworzy się specjalne zespoły reagowania (tzw. CERT lub SOC)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Dzięki tej 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polityce każdy wie, jakie są jego obowiązki.</a:t>
            </a:r>
            <a:endParaRPr b="1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To pozwala</a:t>
            </a:r>
            <a:r>
              <a:rPr b="1"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utrzymać spokój i porządek w sytuacjach kryzysowych</a:t>
            </a:r>
            <a:r>
              <a:rPr lang="pl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Programowanie rozproszone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sposób tworzenia oprogramowania, w którym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program (system)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nie działa na jednym komputerze, tylko na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wielu połączonych ze sobą komputerach (w sieci)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Każda z tych maszyn wykonuje część zadań, a razem tworzą jeden wspólny system.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progr. rozproszonego c.d.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729450" y="2042500"/>
            <a:ext cx="7688700" cy="29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Rodzaj:</a:t>
            </a:r>
            <a:endParaRPr b="1"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Klient–serwer (Client–Server)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Klient wysyła żądania, serwer odpowiada.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Strona WWW (przeglądarka ↔ serwer)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Wielowarstwowe (n-warstwowe)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podzielony na warstwy: prezentacji, logiki i danych.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Aplikacja webowa: frontend – backend – baza danych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Peer-to-Peer (P2P)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Każdy komputer (węzeł) może być klientem i serwerem jednocześnie.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Torrent, komunikatory (np. Skype, BitTorrent)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0573"/>
              <a:buFont typeface="Arial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(modele) programow. rozproszonego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729450" y="2078875"/>
            <a:ext cx="7688700" cy="27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Zdalne wywołania procedur (RPC)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Program na jednym komputerze wywołuje funkcję na innym.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Java RMI, gRPC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Systemy oparte o komunikaty (Message-Oriented)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Komputery komunikują się przez kolejki wiadomości.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RabbitMQ, Apache Kafka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Mikroserwisowe (Microservices)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System składa się z wielu małych usług, które komunikują się przez sieć.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Aplikacje w chmurze (np. Netflix, Amazon)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8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Grid Computing / Cloud Computing </a:t>
            </a: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- Wiele serwerów współdzieli zasoby obliczeniowe lub pamięć.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8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Przykład: AWS, Azure, Google Cloud</a:t>
            </a:r>
            <a:endParaRPr sz="1408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Technologie używane w progr. rozproszonym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Obszar:			Przykłady</a:t>
            </a:r>
            <a:endParaRPr b="1">
              <a:solidFill>
                <a:srgbClr val="741B4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Backend 			Java (Spring Cloud), .NET, </a:t>
            </a:r>
            <a:r>
              <a:rPr lang="pl" sz="140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Node.js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Komunikacja		REST API, gRPC, WebSocket, message queues (RabbitMQ, Kafka)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Bazy danych		MongoDB, Cassandra, PostgreSQL Cluster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Architektura		mikroserwisy, chmura (AWS, Azure, GCP)</a:t>
            </a:r>
            <a:endParaRPr sz="1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Cechy systemów rozproszonych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729450" y="2078875"/>
            <a:ext cx="7688700" cy="27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Cecha				Znaczenie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Współbieżność			wiele komputerów działa jednocześnie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Komunikacja przez sieć		wymiana danych np. przez HTTP, TCP/IP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Niezależność sprzętowa		różne komputery i systemy operacyjne mogą współpracować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Odporność na awarie		gdy jeden element padnie, reszta może działać dalej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Skalowalność			łatwo dodać więcej maszyn, żeby system działał szybciej</a:t>
            </a:r>
            <a:endParaRPr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 z życia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Wyobraź sobie aplikację bankową:</a:t>
            </a:r>
            <a:endParaRPr b="1" sz="1400">
              <a:solidFill>
                <a:srgbClr val="7F6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A obsługuje logowanie,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B zapisuje dane klientów w bazie,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●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Serwer C przetwarza płatności.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Współpracują razem w sieci —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właśnie programowanie rozproszone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to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system kontroli wersji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(ang.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Version Control System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), używany do </a:t>
            </a:r>
            <a:r>
              <a:rPr b="1"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śledzenia zmian w plikach</a:t>
            </a:r>
            <a:r>
              <a:rPr lang="pl" sz="1400">
                <a:solidFill>
                  <a:srgbClr val="7F6000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głównie w projektach programistycznych. Dzięki niemu możesz współpracować z innymi, wracać do wcześniejszych wersji plików i zarządzać historią projektu.</a:t>
            </a:r>
            <a:endParaRPr sz="16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Śledzenie zmian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zapisuje historię zmian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zobaczyć, kto i kiedy zmienił dany fragment kodu.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Gałęzie (</a:t>
            </a:r>
            <a:r>
              <a:rPr b="1" i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branches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Pozwalają na tworzenie równoległych wersji projektu.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testować nowe funkcje bez psucia głównej wersji (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main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lub </a:t>
            </a:r>
            <a:r>
              <a:rPr i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master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Scalanie zmian (</a:t>
            </a:r>
            <a:r>
              <a:rPr b="1" i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Gałęzie można łączyć.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automatycznie łączy zmiany w jednym projekcie.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Najważniejsze cechy Gita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Rozproszony system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Każdy użytkownik ma pełną kopię repozytorium.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Możesz pracować lokalnie bez połączenia z internetem.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Współpraca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ułatwia pracę zespołową.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Popularne platformy: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GitHub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GitLab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Bitbucket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init </a:t>
            </a:r>
            <a:r>
              <a:rPr lang="pl">
                <a:solidFill>
                  <a:srgbClr val="000000"/>
                </a:solidFill>
              </a:rPr>
              <a:t>				- Tworzy nowe repozytorium w folderze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clone &lt;url&gt;</a:t>
            </a:r>
            <a:r>
              <a:rPr lang="pl">
                <a:solidFill>
                  <a:srgbClr val="000000"/>
                </a:solidFill>
              </a:rPr>
              <a:t> 			- Pobiera repozytorium z internetu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add &lt;plik&gt; </a:t>
            </a:r>
            <a:r>
              <a:rPr lang="pl">
                <a:solidFill>
                  <a:srgbClr val="000000"/>
                </a:solidFill>
              </a:rPr>
              <a:t>			</a:t>
            </a:r>
            <a:r>
              <a:rPr lang="pl">
                <a:solidFill>
                  <a:srgbClr val="000000"/>
                </a:solidFill>
              </a:rPr>
              <a:t>-</a:t>
            </a:r>
            <a:r>
              <a:rPr lang="pl">
                <a:solidFill>
                  <a:srgbClr val="000000"/>
                </a:solidFill>
              </a:rPr>
              <a:t> Dodaje plik do "staging area" (przygotowanie do commit)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commit -m "komentarz" </a:t>
            </a:r>
            <a:r>
              <a:rPr lang="pl">
                <a:solidFill>
                  <a:srgbClr val="000000"/>
                </a:solidFill>
              </a:rPr>
              <a:t>	- Zapisuje zmiany z opisem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</a:rPr>
              <a:t>git status </a:t>
            </a:r>
            <a:r>
              <a:rPr lang="pl">
                <a:solidFill>
                  <a:srgbClr val="000000"/>
                </a:solidFill>
              </a:rPr>
              <a:t>				- Pokazuje stan repozytorium i zmienione pliki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Podstawowe komendy Git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Wysyła zmiany do zdalnego repozytorium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- Pobiera zmiany z repozytorium zdalnego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branch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			- Wyświetla dostępne gałęzie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&lt;branch&gt;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- Przełącza się na inną gałąź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274" name="Google Shape;274;p44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{8335121E-39B5-4F20-9280-937C03379303}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5" name="Google Shape;275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{8335121E-39B5-4F20-9280-937C03379303}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6" name="Google Shape;276;p44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{8335121E-39B5-4F20-9280-937C03379303}</a:tableStyleId>
              </a:tblPr>
              <a:tblGrid>
                <a:gridCol w="561975"/>
              </a:tblGrid>
              <a:tr h="17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git push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7" name="Google Shape;277;p4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{8335121E-39B5-4F20-9280-937C03379303}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3" name="Google Shape;283;p45"/>
          <p:cNvSpPr txBox="1"/>
          <p:nvPr>
            <p:ph idx="1" type="body"/>
          </p:nvPr>
        </p:nvSpPr>
        <p:spPr>
          <a:xfrm>
            <a:off x="729450" y="2078875"/>
            <a:ext cx="7688700" cy="30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commit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zapisania zmian, które zostały 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wcześniej</a:t>
            </a:r>
            <a:r>
              <a:rPr b="1"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dodane do obszaru index</a:t>
            </a:r>
            <a:r>
              <a:rPr lang="pl" sz="29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(za pomocą 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git add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Pomocne polecenia do wykonania commit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przejście w tryb –INSERT , modyfikowania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607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-"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ESCAPE :wq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ESC (przełącza w tryb poleceń), w -zapisz, q-quit, wyjście </a:t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9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-m "tytuł commit"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9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Dodaje komunikat bezpośrednio w poleceniu.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--amend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1"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edytować ostatni commit (np. poprawić wiadomość lub dodać zapomniane pliki).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9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-a</a:t>
            </a:r>
            <a:r>
              <a:rPr lang="pl" sz="29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Automatycznie dodaje wszystkie śledzone pliki do staging przed commitem (skrót od git add dla zmodyfikowanych plików).</a:t>
            </a:r>
            <a:endParaRPr sz="29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log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729450" y="2078875"/>
            <a:ext cx="7688700" cy="30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log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25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wyświetlania historii commitów w repozytorium</a:t>
            </a:r>
            <a:r>
              <a:rPr b="1"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 kolejności chronologicznej – od najnowszego do najstarszego</a:t>
            </a:r>
            <a:r>
              <a:rPr lang="pl" sz="2500">
                <a:latin typeface="Tahoma"/>
                <a:ea typeface="Tahoma"/>
                <a:cs typeface="Tahoma"/>
                <a:sym typeface="Tahoma"/>
              </a:rPr>
              <a:t>.</a:t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Wyświetlane informacje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Dla każdego commita pokazuje: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Hash commita (unikalny identyfikator).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Autora i datę.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591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❏"/>
            </a:pP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Wiadomość commita. </a:t>
            </a:r>
            <a:endParaRPr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Ważne opcje:</a:t>
            </a:r>
            <a:endParaRPr b="1" sz="25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--oneline</a:t>
            </a:r>
            <a:r>
              <a:rPr lang="pl" sz="25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Wyświetla każdy commit w jednej linii (skrótowo: hash + wiadomość).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--graph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historię w formie grafu (drzewa branchy).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-n 5</a:t>
            </a:r>
            <a:r>
              <a:rPr lang="pl" sz="25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Ogranicza do ostatnich n commitów (np. 5).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--author="Imię"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Filtruje po autorze.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--since="2023-01-01"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Commit'y od danej daty.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5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-p lub --patch</a:t>
            </a:r>
            <a:r>
              <a:rPr lang="pl" sz="25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: Pokazuje pełne zmiany (diff) w każdym commicie.</a:t>
            </a:r>
            <a:endParaRPr sz="25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checkout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729450" y="2078875"/>
            <a:ext cx="7688700" cy="29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Index w Git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(nazywany też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staging area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albo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strefą przejściową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miejsce, w którym Git przechowuje informacje o zmianach przygotowanych do zatwierdzenia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(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).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Tworzymy katalog w nim są plik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mkdir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touch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plik2.txt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Dodajemy je do index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za pomocą polecenie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add folder-test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Następnie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usuwamy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jeden z plików w katalogu folder-test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 rm  folder-test/plik2.txt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Aby go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odzyskać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mimo tego, że nie ma go w katalogu roboczym należy wykonać polecenie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$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git checkout folder-test/plik2.txt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Przykład 2:</a:t>
            </a:r>
            <a:endParaRPr b="1" sz="1400">
              <a:solidFill>
                <a:srgbClr val="07376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Teraz jak dodamy tekst do pliku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folder-test/plik2.txt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plik będzie wyświetlany 2 razy w index (gdzie będzie pusty) i w katalogu roboczym z nową zawartością tekstu.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729450" y="1385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index i git reset HEAD , touch .gitignore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 HEAD &lt;plik&gt;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usuwa wskazany plik z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indexu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ale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usuwa go z katalogu roboczego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.gitignore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tego, aby powiedzieć Gitowi,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których plików i katalogów NIE ma śledzić</a:t>
            </a:r>
            <a:r>
              <a:rPr lang="pl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(czyli nie dodawać ich do indexu, commitów i repozytorium).</a:t>
            </a:r>
            <a:endParaRPr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ignoruje pliki wymienione w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.gitignore, o ile nie były wcześniej dodane do repozytorium.</a:t>
            </a:r>
            <a:endParaRPr b="1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Zwykle 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ignorujemy</a:t>
            </a:r>
            <a:r>
              <a:rPr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katalogi node_module, dist, .env oraz pliki *.log, *.temp, DS_Store</a:t>
            </a:r>
            <a:endParaRPr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Plik </a:t>
            </a:r>
            <a:r>
              <a:rPr b="1" lang="pl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.gitignore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jest niewidoczny dopiero polecenie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$ ls –all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go wyświetli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revert SHA-1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revert SHA-1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NOWY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który wykonuje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odwrotność zmian z tamtego commita.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Przykład 1: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commit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show SHA-1 dodaliśmy w 2 linii tekst, 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usunęliśmy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pierwszą linie tekstu, to możemy to odwrócić.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Czyli po wykonaniu polecenia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revert SHA-1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odwrócimy to co było w pliku.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Druga linia zostanie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, a pierwsza linia zostanie dodana z zawartością tekstu przed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usunięciem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jej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Pamiętajmy,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że ta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zmiana dodaje nowy commit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Działanie git reset z historią commit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3" name="Google Shape;313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reset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resetuje index do danego commit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lub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zresetowanie indexu do wybranych plików danego commit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Czyli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git reset HEAD nazwa.txt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pobierze z ostatniego commit plik nazwa.txt przywróci do index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Natomiast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to co jest obecnie w index umieści w katalogu roboczym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Sprawdzenie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wykonuje się poleceniem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git restore nazwa-pliku</a:t>
            </a:r>
            <a:endParaRPr b="1"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rebase -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interactive</a:t>
            </a:r>
            <a:r>
              <a:rPr lang="pl" sz="2440">
                <a:latin typeface="Tahoma"/>
                <a:ea typeface="Tahoma"/>
                <a:cs typeface="Tahoma"/>
                <a:sym typeface="Tahoma"/>
              </a:rPr>
              <a:t> HEAD~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rebase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służy do przeniesienia commit z jednego miejsca do drugiego.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W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szczególności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do poprawy commit, 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łączenia</a:t>
            </a:r>
            <a:r>
              <a:rPr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 ich, układania w odpowiedniej kolejności, usuniecia zbędnych commit</a:t>
            </a:r>
            <a:endParaRPr sz="14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Commands: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p, pick &lt;commit&gt; = use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r, reword &lt;commit&gt; = use commit, but edit the commit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e, edit &lt;commit&gt; = use commit, but stop for amending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s, squash &lt;commit&gt; = use commit, but meld into previous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f, fixup &lt;commit&gt; = like "squash", but discard this commit's log message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x, exec &lt;command&gt; = run command (the rest of the line) using shell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b, break = stop here (continue rebase later with 'git rebase --continue')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d, drop &lt;commit&gt; = remove commit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l, label &lt;label&gt; = label current HEAD with a name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t, reset &lt;label&gt; = reset HEAD to a label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m, merge [-C &lt;commit&gt; | -c &lt;commit&gt;] &lt;label&gt; [# &lt;oneline&gt;]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create a merge commit using the original merge commit's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message (or the oneline, if no original merge commit was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# .       specified). Use -c &lt;commit&gt; to reword the commit message.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 branch -verbose, git branch nowy-brache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-v</a:t>
            </a:r>
            <a:r>
              <a:rPr b="1" lang="pl" sz="1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 listę wszystkich gałęz</a:t>
            </a: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i r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azem z ostatnim commitem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 każdej z nich (skrót commit hash + pierwsza linia wiadomości, gdzie * oznacza branche na którym jesteśmy)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 branch –list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zwraca listę branch (tylko nazwę)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-m nowy-branch nowa-nazwa-branch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zmienia nazwę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branch -d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usuwa branch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checkout nazwa-branch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nazwa-branch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przełączenie się na brancha (gałąź) o podanej nazwie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checkout -b nazwa-branch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- tworzy nowy branch i od razu przełącza się na niego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stash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tymczasowo odkłada Twoje zmiany na bok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tak żeby repo wyglądało, jakby nie było żadnych zmian. Zmiany muszą znajdować się w index aby można było je odłożyć na bok za pomocą polecenia git stash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list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wyświetla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listę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stash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stash pop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- zdejmuje z listy stash ostatnią zmianę oraz wyświetla szczegółowe informacje o statusie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716312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merge nazwa_branch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3" name="Google Shape;343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merge nazwa_branch (lub nazwe commit, SHA-1)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łączy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(scalą)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historię wskazanej gałęzi z aktualną gałęzią na której jesteś.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Mogą się pojawić konflikty.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Czyli jeśli te same linie w tych samych plikach zostały zmienione inaczej w obu branchach – powstaje konflikt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Rozwiązanie konfliktów wykonuje się przez otworzenie pliku w którym są konflikty. Usunięciu linii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&lt;&lt;&lt;&lt;&lt;&lt;&lt;, =======, &gt;&gt;&gt;&gt;&gt;&gt;&gt;</a:t>
            </a:r>
            <a:r>
              <a:rPr lang="pl" sz="1400">
                <a:solidFill>
                  <a:srgbClr val="18803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oraz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wybraniem poprawnej wersji.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Po czym należy dodać pliki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 $ git add nazwa_pliku_z_konfliktem </a:t>
            </a:r>
            <a:r>
              <a:rPr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1" lang="pl" sz="1400">
                <a:solidFill>
                  <a:srgbClr val="1C4587"/>
                </a:solidFill>
                <a:latin typeface="Tahoma"/>
                <a:ea typeface="Tahoma"/>
                <a:cs typeface="Tahoma"/>
                <a:sym typeface="Tahoma"/>
              </a:rPr>
              <a:t>wykonać commit</a:t>
            </a:r>
            <a:endParaRPr b="1" sz="1400">
              <a:solidFill>
                <a:srgbClr val="1C4587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clone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729450" y="2078875"/>
            <a:ext cx="7688700" cy="29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6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clone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 </a:t>
            </a:r>
            <a:r>
              <a:rPr b="1" lang="pl" sz="16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kopiuje całe zdalne repozytorium</a:t>
            </a: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(np. z GitHuba) na Twój komputer. 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Oznacza to: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wszystkie pliki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pobiera całą historię commitów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ustawia domyślne połączenie z repozytorium (origin)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1600"/>
              <a:buFont typeface="Tahoma"/>
              <a:buChar char="❏"/>
            </a:pPr>
            <a:r>
              <a:rPr b="1" lang="pl" sz="16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tworzy katalog z projektem</a:t>
            </a:r>
            <a:endParaRPr b="1" sz="1600">
              <a:solidFill>
                <a:srgbClr val="0C343D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Przykład: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git clone https://github.com/user/projekt.git</a:t>
            </a:r>
            <a:endParaRPr sz="1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push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</a:t>
            </a:r>
            <a:r>
              <a:rPr lang="pl" sz="1400"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wysyła Twoje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lokalne commity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zdalnego repozytorium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GitHub, GitLab, Bitbucket).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push origin nazwa_brancha</a:t>
            </a:r>
            <a:endParaRPr b="1" sz="14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gdzie: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origin –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nazwa zdalnego repozytorium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nazwa_brancha</a:t>
            </a:r>
            <a:r>
              <a:rPr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– gałąź, którą chcesz wysłać (np. main, feature/login)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C343D"/>
                </a:solidFill>
                <a:latin typeface="Tahoma"/>
                <a:ea typeface="Tahoma"/>
                <a:cs typeface="Tahoma"/>
                <a:sym typeface="Tahoma"/>
              </a:rPr>
              <a:t>Nie wysyła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stash, plików roboczych, nic co jest nie commit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pull 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58"/>
          <p:cNvSpPr txBox="1"/>
          <p:nvPr>
            <p:ph idx="1" type="body"/>
          </p:nvPr>
        </p:nvSpPr>
        <p:spPr>
          <a:xfrm>
            <a:off x="729450" y="2078875"/>
            <a:ext cx="7688700" cy="27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-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 pobierania i integracji zmian z zdalnego repozytorium do lokalnej kopii projektu.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Łączy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ono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operacje git 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(pobieranie zmian)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i git 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(scalanie ich z bieżącą gałęzią), co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pozwala na aktualizację lokalnego kodu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o najnowsze wersje od współpracowników.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git pull wykonuje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wewnętrznie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Fetch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Git pobiera wszystkie nowe commity i branchy z zdalnego repozytorium, ale nie zmienia lokalnych plików.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Char char="❏"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Merge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Scalane są zmiany z pobranej gałęzi do Twojej lokalnej. Jeśli są konflikty (np. edytowałeś te same linie), Git poprosi o ich ręczne rozwiązanie.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git fetch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it fetch -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służy do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pobierania zmian z zdalnego repozytorium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(np. z GitHuba) </a:t>
            </a:r>
            <a:r>
              <a:rPr b="1" lang="pl" sz="1400">
                <a:solidFill>
                  <a:srgbClr val="073763"/>
                </a:solidFill>
                <a:latin typeface="Tahoma"/>
                <a:ea typeface="Tahoma"/>
                <a:cs typeface="Tahoma"/>
                <a:sym typeface="Tahoma"/>
              </a:rPr>
              <a:t>do lokalnego repozytorium, bez automatycznego scalania ich z Twoimi lokalnymi gałęziam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i. Aktualizuje ono informacje o zdalnych branchach (np. "origin/main"), co pozwala sprawdzić, co się zmieniło, zanim zdecydujesz się na integrację (np. via merge lub rebase)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git fetch vs git pull</a:t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215900" y="2078875"/>
            <a:ext cx="8724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Co robi? 					Czy zmienia pliki lokalne?	Czy łączy zmiany?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fetch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zmiany z serwera 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				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❌ NIE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l" sz="14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git pull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	pobiera i łączy zmiany			✅ TAK					✅ TAK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Szyfrowanie sieci internetowych HTTPS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9" name="Google Shape;379;p61"/>
          <p:cNvSpPr txBox="1"/>
          <p:nvPr>
            <p:ph idx="1" type="body"/>
          </p:nvPr>
        </p:nvSpPr>
        <p:spPr>
          <a:xfrm>
            <a:off x="729450" y="2078875"/>
            <a:ext cx="7688700" cy="28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HTTPS (Hypertext Transfer Protocol Secure)</a:t>
            </a:r>
            <a:r>
              <a:rPr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 bezpieczna wersja protokołu HTTP używana w internecie do przesyłania danych między przeglądarką a serwerem. Dzięki HTTPS komunikacja jest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szyfrowana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uwierzytelniana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integralna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 zapewnia ochronę danych użytkownika.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daje HTTPS?</a:t>
            </a:r>
            <a:endParaRPr/>
          </a:p>
        </p:txBody>
      </p:sp>
      <p:sp>
        <p:nvSpPr>
          <p:cNvPr id="385" name="Google Shape;385;p62"/>
          <p:cNvSpPr txBox="1"/>
          <p:nvPr>
            <p:ph idx="1" type="body"/>
          </p:nvPr>
        </p:nvSpPr>
        <p:spPr>
          <a:xfrm>
            <a:off x="729450" y="2078875"/>
            <a:ext cx="8263800" cy="28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Szyfrowanie (encryption)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przesyłane między przeglądarką a serwerem są zaszyfrowane przy pomocy protokołu </a:t>
            </a: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Nawet jeśli ktoś przechwyci ruch sieciowy – zobaczy tylko zaszyfrowane, bezużyteczne dane.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Uwierzytelnienie (authentication)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Certyfikat SSL/TLS 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potwierdza, że strona, z którą się łączysz, jest prawdziwa i należy do właściwej firmy lub osoby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0B5394"/>
                </a:solidFill>
                <a:latin typeface="Tahoma"/>
                <a:ea typeface="Tahoma"/>
                <a:cs typeface="Tahoma"/>
                <a:sym typeface="Tahoma"/>
              </a:rPr>
              <a:t>Integralność danych</a:t>
            </a:r>
            <a:endParaRPr b="1" sz="1400">
              <a:solidFill>
                <a:srgbClr val="0B539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Zapewnia, że dane nie zostały zmienione po drodze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– nikt nie może ich potajemnie edytować, podmienić ani wstrzyknąć złośliwy kod.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Certyfikaty internetowe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(zwane także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certyfikatami cyfrowymi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SSL/TLS certyfikatami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) to specjalne elektroniczne dokumenty, które służą do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potwierdzania tożsamości stron w internecie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oraz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umożliwiają bezpieczne, szyfrowane połączenia</a:t>
            </a: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 między użytkownikiem a serwerem.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Jest oparty na standardzie X.509 i zawiera zestaw kluczowych informacji, które służą do weryfikacji tożsamości serwera oraz umożliwienia szyfrowania danych.</a:t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certyfikaty internetowe</a:t>
            </a:r>
            <a:endParaRPr/>
          </a:p>
        </p:txBody>
      </p:sp>
      <p:sp>
        <p:nvSpPr>
          <p:cNvPr id="397" name="Google Shape;397;p64"/>
          <p:cNvSpPr txBox="1"/>
          <p:nvPr>
            <p:ph idx="1" type="body"/>
          </p:nvPr>
        </p:nvSpPr>
        <p:spPr>
          <a:xfrm>
            <a:off x="729450" y="2078875"/>
            <a:ext cx="7688700" cy="29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Potwierdzają tożsamość strony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zapewnia, że strona, którą odwiedzasz, jest rzeczywiście tym, za co się podaje.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Przykład: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Jeśli wpisujesz</a:t>
            </a:r>
            <a:r>
              <a:rPr lang="pl" sz="1100">
                <a:solidFill>
                  <a:srgbClr val="000000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i="1" lang="pl" sz="11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https://bank.pl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certyfikat gwarantuje, że łączysz się z prawdziwym bankiem, a nie z fałszywą stroną.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2️⃣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 Umożliwiają szyfrowanie danych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zawiera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klucz publiczny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używany do bezpiecznego przesyłania danych.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Dzięki temu: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hasła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numery kart płatniczych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dane osobowe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są zaszyfrowane i niemożliwe do odczytania przez osoby trzecie.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3️⃣ </a:t>
            </a:r>
            <a:r>
              <a:rPr b="1" lang="pl" sz="1700">
                <a:solidFill>
                  <a:srgbClr val="783F04"/>
                </a:solidFill>
                <a:latin typeface="Tahoma"/>
                <a:ea typeface="Tahoma"/>
                <a:cs typeface="Tahoma"/>
                <a:sym typeface="Tahoma"/>
              </a:rPr>
              <a:t>Są wystawiane przez zaufane instytucje</a:t>
            </a:r>
            <a:endParaRPr b="1" sz="1700">
              <a:solidFill>
                <a:srgbClr val="783F04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Nazywa się je </a:t>
            </a:r>
            <a:r>
              <a:rPr b="1"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 – Certificate Authority</a:t>
            </a: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np.: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Let's Encrypt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DigiCert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GlobalSign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749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ahoma"/>
              <a:buChar char="●"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Sectigo</a:t>
            </a:r>
            <a:b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Przeglądarki ufają tym instytucjom.</a:t>
            </a:r>
            <a:endParaRPr sz="11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" name="Google Shape;403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Wersja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(Version)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wersję standardu certyfikatu (np. wersja 3 dla X.509 v3).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Numer seryjny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(Serial Number)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Unikalny identyfikator nadany przez urząd certyfikacji (CA).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Algorytm podpisu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 Algorithm)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Określa algorytm użyty do podpisania certyfikatu (np. SHA-256 with RSA).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Wydawca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(Issuer)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urzędu certyfikacji, który wystawił certyfikat, w tym nazwa, kraj, organizacja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Okres ważności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(Validity)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Daty "od" (Not Before) i "do" (Not After), definiujące, kiedy certyfikat jest aktywny.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Certyfikat internetowy zawiera m.in.: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Podmiot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(Subject)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Dane właściciela certyfikatu, np. nazwa domeny (Common Name), organizacja, kraj, miasto.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Informacje o kluczu publicznym podmiotu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(Subject Public Key Info)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Klucz publiczny serwera oraz algorytm klucza (np. RSA lub ECDSA).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Rozszerzenia 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(Extensions)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Dodatkowe pola, takie jak Subject Alternative Names (SAN) dla alternatywnych domen, użycie klucza (Key Usage), autorytet certyfikacji itp.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pl" sz="1400">
                <a:solidFill>
                  <a:srgbClr val="741B47"/>
                </a:solidFill>
                <a:latin typeface="Tahoma"/>
                <a:ea typeface="Tahoma"/>
                <a:cs typeface="Tahoma"/>
                <a:sym typeface="Tahoma"/>
              </a:rPr>
              <a:t>Podpis cyfrowy</a:t>
            </a: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(Signature)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Podpis urzędu CA, weryfikujący autentyczność certyfikatu.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l" sz="2440">
                <a:latin typeface="Tahoma"/>
                <a:ea typeface="Tahoma"/>
                <a:cs typeface="Tahoma"/>
                <a:sym typeface="Tahoma"/>
              </a:rPr>
              <a:t>Rodzaje certyfikatów</a:t>
            </a:r>
            <a:endParaRPr sz="244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5" name="Google Shape;415;p6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DV – Domain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Najprostsze i najtańsze (np. Let's Encrypt).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Sprawdzana jest tylko domena.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OV – Organization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Weryfikowana jest firma, która posiada domenę.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➡️ </a:t>
            </a: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EV – Extended Validation</a:t>
            </a:r>
            <a:endParaRPr b="1" sz="1400">
              <a:solidFill>
                <a:srgbClr val="274E13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Najwyższy poziom weryfikacji – pełna weryfikacja organizacji.</a:t>
            </a:r>
            <a:b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Kiedyś prezentowane jako zielony pasek w przeglądarce.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SSL czy TLS</a:t>
            </a:r>
            <a:endParaRPr/>
          </a:p>
        </p:txBody>
      </p:sp>
      <p:sp>
        <p:nvSpPr>
          <p:cNvPr id="421" name="Google Shape;421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SSL (Secure Sockets Layer)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starszy protokół szyfrowania, opracowany w latach 90. przez Netscape. Jego ostatnie wersje (SSL 2.0 i 3.0) miały poważne luki bezpieczeństwa, dlatego od dawna nie są zalecane i nie są używane w praktyce.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400">
                <a:solidFill>
                  <a:srgbClr val="274E13"/>
                </a:solidFill>
                <a:latin typeface="Tahoma"/>
                <a:ea typeface="Tahoma"/>
                <a:cs typeface="Tahoma"/>
                <a:sym typeface="Tahoma"/>
              </a:rPr>
              <a:t>TLS (Transport Layer Security)</a:t>
            </a:r>
            <a:r>
              <a:rPr lang="pl" sz="1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: To ulepszona i bezpieczniejsza wersja SSL, rozwijana od 1999 roku. Aktualne wersje to TLS 1.2 i TLS 1.3 (TLS 1.0 i 1.1 też są przestarzałe i wycofywane). TLS jest standardem de facto w dzisiejszym internecie.</a:t>
            </a:r>
            <a:endParaRPr sz="14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