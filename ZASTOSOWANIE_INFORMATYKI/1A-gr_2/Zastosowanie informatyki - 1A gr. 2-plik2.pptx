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7.xml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07.xml"/>
  <Override ContentType="application/vnd.openxmlformats-officedocument.presentationml.notesSlide+xml" PartName="/ppt/notesSlides/notesSlide100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85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77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73.xml"/>
  <Override ContentType="application/vnd.openxmlformats-officedocument.presentationml.notesSlide+xml" PartName="/ppt/notesSlides/notesSlide8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69.xml"/>
  <Override ContentType="application/vnd.openxmlformats-officedocument.presentationml.notesSlide+xml" PartName="/ppt/notesSlides/notesSlide105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93.xml"/>
  <Override ContentType="application/vnd.openxmlformats-officedocument.presentationml.notesSlide+xml" PartName="/ppt/notesSlides/notesSlide87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75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103.xml"/>
  <Override ContentType="application/vnd.openxmlformats-officedocument.presentationml.notesSlide+xml" PartName="/ppt/notesSlides/notesSlide97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9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101.xml"/>
  <Override ContentType="application/vnd.openxmlformats-officedocument.presentationml.notesSlide+xml" PartName="/ppt/notesSlides/notesSlide95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5.xml"/>
  <Override ContentType="application/vnd.openxmlformats-officedocument.presentationml.notesSlide+xml" PartName="/ppt/notesSlides/notesSlide78.xml"/>
  <Override ContentType="application/vnd.openxmlformats-officedocument.presentationml.notesSlide+xml" PartName="/ppt/notesSlides/notesSlide71.xml"/>
  <Override ContentType="application/vnd.openxmlformats-officedocument.presentationml.notesSlide+xml" PartName="/ppt/notesSlides/notesSlide92.xml"/>
  <Override ContentType="application/vnd.openxmlformats-officedocument.presentationml.notesSlide+xml" PartName="/ppt/notesSlides/notesSlide84.xml"/>
  <Override ContentType="application/vnd.openxmlformats-officedocument.presentationml.notesSlide+xml" PartName="/ppt/notesSlides/notesSlide76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68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82.xml"/>
  <Override ContentType="application/vnd.openxmlformats-officedocument.presentationml.notesSlide+xml" PartName="/ppt/notesSlides/notesSlide9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108.xml"/>
  <Override ContentType="application/vnd.openxmlformats-officedocument.presentationml.notesSlide+xml" PartName="/ppt/notesSlides/notesSlide90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86.xml"/>
  <Override ContentType="application/vnd.openxmlformats-officedocument.presentationml.notesSlide+xml" PartName="/ppt/notesSlides/notesSlide106.xml"/>
  <Override ContentType="application/vnd.openxmlformats-officedocument.presentationml.notesSlide+xml" PartName="/ppt/notesSlides/notesSlide99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80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7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8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70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72.xml"/>
  <Override ContentType="application/vnd.openxmlformats-officedocument.presentationml.notesSlide+xml" PartName="/ppt/notesSlides/notesSlide98.xml"/>
  <Override ContentType="application/vnd.openxmlformats-officedocument.presentationml.notesSlide+xml" PartName="/ppt/notesSlides/notesSlide104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9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96.xml"/>
  <Override ContentType="application/vnd.openxmlformats-officedocument.presentationml.notesSlide+xml" PartName="/ppt/notesSlides/notesSlide102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83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66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3.xml"/>
  <Override ContentType="application/vnd.openxmlformats-officedocument.presentationml.slide+xml" PartName="/ppt/slides/slide78.xml"/>
  <Override ContentType="application/vnd.openxmlformats-officedocument.presentationml.slide+xml" PartName="/ppt/slides/slide86.xml"/>
  <Override ContentType="application/vnd.openxmlformats-officedocument.presentationml.slide+xml" PartName="/ppt/slides/slide35.xml"/>
  <Override ContentType="application/vnd.openxmlformats-officedocument.presentationml.slide+xml" PartName="/ppt/slides/slide105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68.xml"/>
  <Override ContentType="application/vnd.openxmlformats-officedocument.presentationml.slide+xml" PartName="/ppt/slides/slide94.xml"/>
  <Override ContentType="application/vnd.openxmlformats-officedocument.presentationml.slide+xml" PartName="/ppt/slides/slide84.xml"/>
  <Override ContentType="application/vnd.openxmlformats-officedocument.presentationml.slide+xml" PartName="/ppt/slides/slide107.xml"/>
  <Override ContentType="application/vnd.openxmlformats-officedocument.presentationml.slide+xml" PartName="/ppt/slides/slide37.xml"/>
  <Override ContentType="application/vnd.openxmlformats-officedocument.presentationml.slide+xml" PartName="/ppt/slides/slide71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66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53.xml"/>
  <Override ContentType="application/vnd.openxmlformats-officedocument.presentationml.slide+xml" PartName="/ppt/slides/slide96.xml"/>
  <Override ContentType="application/vnd.openxmlformats-officedocument.presentationml.slide+xml" PartName="/ppt/slides/slide48.xml"/>
  <Override ContentType="application/vnd.openxmlformats-officedocument.presentationml.slide+xml" PartName="/ppt/slides/slide22.xml"/>
  <Override ContentType="application/vnd.openxmlformats-officedocument.presentationml.slide+xml" PartName="/ppt/slides/slide82.xml"/>
  <Override ContentType="application/vnd.openxmlformats-officedocument.presentationml.slide+xml" PartName="/ppt/slides/slide65.xml"/>
  <Override ContentType="application/vnd.openxmlformats-officedocument.presentationml.slide+xml" PartName="/ppt/slides/slide9.xml"/>
  <Override ContentType="application/vnd.openxmlformats-officedocument.presentationml.slide+xml" PartName="/ppt/slides/slide12.xml"/>
  <Override ContentType="application/vnd.openxmlformats-officedocument.presentationml.slide+xml" PartName="/ppt/slides/slide108.xml"/>
  <Override ContentType="application/vnd.openxmlformats-officedocument.presentationml.slide+xml" PartName="/ppt/slides/slide98.xml"/>
  <Override ContentType="application/vnd.openxmlformats-officedocument.presentationml.slide+xml" PartName="/ppt/slides/slide72.xml"/>
  <Override ContentType="application/vnd.openxmlformats-officedocument.presentationml.slide+xml" PartName="/ppt/slides/slide20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89.xml"/>
  <Override ContentType="application/vnd.openxmlformats-officedocument.presentationml.slide+xml" PartName="/ppt/slides/slide76.xml"/>
  <Override ContentType="application/vnd.openxmlformats-officedocument.presentationml.slide+xml" PartName="/ppt/slides/slide63.xml"/>
  <Override ContentType="application/vnd.openxmlformats-officedocument.presentationml.slide+xml" PartName="/ppt/slides/slide93.xml"/>
  <Override ContentType="application/vnd.openxmlformats-officedocument.presentationml.slide+xml" PartName="/ppt/slides/slide101.xml"/>
  <Override ContentType="application/vnd.openxmlformats-officedocument.presentationml.slide+xml" PartName="/ppt/slides/slide80.xml"/>
  <Override ContentType="application/vnd.openxmlformats-officedocument.presentationml.slide+xml" PartName="/ppt/slides/slide103.xml"/>
  <Override ContentType="application/vnd.openxmlformats-officedocument.presentationml.slide+xml" PartName="/ppt/slides/slide61.xml"/>
  <Override ContentType="application/vnd.openxmlformats-officedocument.presentationml.slide+xml" PartName="/ppt/slides/slide91.xml"/>
  <Override ContentType="application/vnd.openxmlformats-officedocument.presentationml.slide+xml" PartName="/ppt/slides/slide31.xml"/>
  <Override ContentType="application/vnd.openxmlformats-officedocument.presentationml.slide+xml" PartName="/ppt/slides/slide87.xml"/>
  <Override ContentType="application/vnd.openxmlformats-officedocument.presentationml.slide+xml" PartName="/ppt/slides/slide74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95.xml"/>
  <Override ContentType="application/vnd.openxmlformats-officedocument.presentationml.slide+xml" PartName="/ppt/slides/slide69.xml"/>
  <Override ContentType="application/vnd.openxmlformats-officedocument.presentationml.slide+xml" PartName="/ppt/slides/slide85.xml"/>
  <Override ContentType="application/vnd.openxmlformats-officedocument.presentationml.slide+xml" PartName="/ppt/slides/slide42.xml"/>
  <Override ContentType="application/vnd.openxmlformats-officedocument.presentationml.slide+xml" PartName="/ppt/slides/slide50.xml"/>
  <Override ContentType="application/vnd.openxmlformats-officedocument.presentationml.slide+xml" PartName="/ppt/slides/slide77.xml"/>
  <Override ContentType="application/vnd.openxmlformats-officedocument.presentationml.slide+xml" PartName="/ppt/slides/slide34.xml"/>
  <Override ContentType="application/vnd.openxmlformats-officedocument.presentationml.slide+xml" PartName="/ppt/slides/slide16.xml"/>
  <Override ContentType="application/vnd.openxmlformats-officedocument.presentationml.slide+xml" PartName="/ppt/slides/slide104.xml"/>
  <Override ContentType="application/vnd.openxmlformats-officedocument.presentationml.slide+xml" PartName="/ppt/slides/slide24.xml"/>
  <Override ContentType="application/vnd.openxmlformats-officedocument.presentationml.slide+xml" PartName="/ppt/slides/slide97.xml"/>
  <Override ContentType="application/vnd.openxmlformats-officedocument.presentationml.slide+xml" PartName="/ppt/slides/slide11.xml"/>
  <Override ContentType="application/vnd.openxmlformats-officedocument.presentationml.slide+xml" PartName="/ppt/slides/slide6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79.xml"/>
  <Override ContentType="application/vnd.openxmlformats-officedocument.presentationml.slide+xml" PartName="/ppt/slides/slide49.xml"/>
  <Override ContentType="application/vnd.openxmlformats-officedocument.presentationml.slide+xml" PartName="/ppt/slides/slide83.xml"/>
  <Override ContentType="application/vnd.openxmlformats-officedocument.presentationml.slide+xml" PartName="/ppt/slides/slide106.xml"/>
  <Override ContentType="application/vnd.openxmlformats-officedocument.presentationml.slide+xml" PartName="/ppt/slides/slide7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73.xml"/>
  <Override ContentType="application/vnd.openxmlformats-officedocument.presentationml.slide+xml" PartName="/ppt/slides/slide30.xml"/>
  <Override ContentType="application/vnd.openxmlformats-officedocument.presentationml.slide+xml" PartName="/ppt/slides/slide99.xml"/>
  <Override ContentType="application/vnd.openxmlformats-officedocument.presentationml.slide+xml" PartName="/ppt/slides/slide3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47.xml"/>
  <Override ContentType="application/vnd.openxmlformats-officedocument.presentationml.slide+xml" PartName="/ppt/slides/slide21.xml"/>
  <Override ContentType="application/vnd.openxmlformats-officedocument.presentationml.slide+xml" PartName="/ppt/slides/slide100.xml"/>
  <Override ContentType="application/vnd.openxmlformats-officedocument.presentationml.slide+xml" PartName="/ppt/slides/slide64.xml"/>
  <Override ContentType="application/vnd.openxmlformats-officedocument.presentationml.slide+xml" PartName="/ppt/slides/slide81.xml"/>
  <Override ContentType="application/vnd.openxmlformats-officedocument.presentationml.slide+xml" PartName="/ppt/slides/slide90.xml"/>
  <Override ContentType="application/vnd.openxmlformats-officedocument.presentationml.slide+xml" PartName="/ppt/slides/slide8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75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88.xml"/>
  <Override ContentType="application/vnd.openxmlformats-officedocument.presentationml.slide+xml" PartName="/ppt/slides/slide92.xml"/>
  <Override ContentType="application/vnd.openxmlformats-officedocument.presentationml.slide+xml" PartName="/ppt/slides/slide10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</p:sldIdLst>
  <p:sldSz cy="5143500" cx="9144000"/>
  <p:notesSz cx="6858000" cy="9144000"/>
  <p:embeddedFontLst>
    <p:embeddedFont>
      <p:font typeface="Raleway"/>
      <p:regular r:id="rId115"/>
      <p:bold r:id="rId116"/>
      <p:italic r:id="rId117"/>
      <p:boldItalic r:id="rId118"/>
    </p:embeddedFont>
    <p:embeddedFont>
      <p:font typeface="Lato"/>
      <p:regular r:id="rId119"/>
      <p:bold r:id="rId120"/>
      <p:italic r:id="rId121"/>
      <p:boldItalic r:id="rId122"/>
    </p:embeddedFont>
    <p:embeddedFont>
      <p:font typeface="Tahoma"/>
      <p:regular r:id="rId123"/>
      <p:bold r:id="rId124"/>
    </p:embeddedFont>
    <p:embeddedFont>
      <p:font typeface="Roboto Mono"/>
      <p:regular r:id="rId125"/>
      <p:bold r:id="rId126"/>
      <p:italic r:id="rId127"/>
      <p:boldItalic r:id="rId12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F55222A-1A88-493D-8889-48B6BB8FB615}">
  <a:tblStyle styleId="{9F55222A-1A88-493D-8889-48B6BB8FB61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slide" Target="slides/slide40.xml"/><Relationship Id="rId45" Type="http://schemas.openxmlformats.org/officeDocument/2006/relationships/slide" Target="slides/slide39.xml"/><Relationship Id="rId107" Type="http://schemas.openxmlformats.org/officeDocument/2006/relationships/slide" Target="slides/slide101.xml"/><Relationship Id="rId106" Type="http://schemas.openxmlformats.org/officeDocument/2006/relationships/slide" Target="slides/slide100.xml"/><Relationship Id="rId105" Type="http://schemas.openxmlformats.org/officeDocument/2006/relationships/slide" Target="slides/slide99.xml"/><Relationship Id="rId104" Type="http://schemas.openxmlformats.org/officeDocument/2006/relationships/slide" Target="slides/slide98.xml"/><Relationship Id="rId109" Type="http://schemas.openxmlformats.org/officeDocument/2006/relationships/slide" Target="slides/slide103.xml"/><Relationship Id="rId108" Type="http://schemas.openxmlformats.org/officeDocument/2006/relationships/slide" Target="slides/slide102.xml"/><Relationship Id="rId48" Type="http://schemas.openxmlformats.org/officeDocument/2006/relationships/slide" Target="slides/slide42.xml"/><Relationship Id="rId47" Type="http://schemas.openxmlformats.org/officeDocument/2006/relationships/slide" Target="slides/slide41.xml"/><Relationship Id="rId49" Type="http://schemas.openxmlformats.org/officeDocument/2006/relationships/slide" Target="slides/slide43.xml"/><Relationship Id="rId103" Type="http://schemas.openxmlformats.org/officeDocument/2006/relationships/slide" Target="slides/slide97.xml"/><Relationship Id="rId102" Type="http://schemas.openxmlformats.org/officeDocument/2006/relationships/slide" Target="slides/slide96.xml"/><Relationship Id="rId101" Type="http://schemas.openxmlformats.org/officeDocument/2006/relationships/slide" Target="slides/slide95.xml"/><Relationship Id="rId100" Type="http://schemas.openxmlformats.org/officeDocument/2006/relationships/slide" Target="slides/slide94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28" Type="http://schemas.openxmlformats.org/officeDocument/2006/relationships/font" Target="fonts/RobotoMono-boldItalic.fntdata"/><Relationship Id="rId127" Type="http://schemas.openxmlformats.org/officeDocument/2006/relationships/font" Target="fonts/RobotoMono-italic.fntdata"/><Relationship Id="rId126" Type="http://schemas.openxmlformats.org/officeDocument/2006/relationships/font" Target="fonts/RobotoMono-bold.fntdata"/><Relationship Id="rId26" Type="http://schemas.openxmlformats.org/officeDocument/2006/relationships/slide" Target="slides/slide20.xml"/><Relationship Id="rId121" Type="http://schemas.openxmlformats.org/officeDocument/2006/relationships/font" Target="fonts/Lato-italic.fntdata"/><Relationship Id="rId25" Type="http://schemas.openxmlformats.org/officeDocument/2006/relationships/slide" Target="slides/slide19.xml"/><Relationship Id="rId120" Type="http://schemas.openxmlformats.org/officeDocument/2006/relationships/font" Target="fonts/Lato-bold.fntdata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125" Type="http://schemas.openxmlformats.org/officeDocument/2006/relationships/font" Target="fonts/RobotoMono-regular.fntdata"/><Relationship Id="rId29" Type="http://schemas.openxmlformats.org/officeDocument/2006/relationships/slide" Target="slides/slide23.xml"/><Relationship Id="rId124" Type="http://schemas.openxmlformats.org/officeDocument/2006/relationships/font" Target="fonts/Tahoma-bold.fntdata"/><Relationship Id="rId123" Type="http://schemas.openxmlformats.org/officeDocument/2006/relationships/font" Target="fonts/Tahoma-regular.fntdata"/><Relationship Id="rId122" Type="http://schemas.openxmlformats.org/officeDocument/2006/relationships/font" Target="fonts/Lato-boldItalic.fntdata"/><Relationship Id="rId95" Type="http://schemas.openxmlformats.org/officeDocument/2006/relationships/slide" Target="slides/slide89.xml"/><Relationship Id="rId94" Type="http://schemas.openxmlformats.org/officeDocument/2006/relationships/slide" Target="slides/slide88.xml"/><Relationship Id="rId97" Type="http://schemas.openxmlformats.org/officeDocument/2006/relationships/slide" Target="slides/slide91.xml"/><Relationship Id="rId96" Type="http://schemas.openxmlformats.org/officeDocument/2006/relationships/slide" Target="slides/slide90.xml"/><Relationship Id="rId11" Type="http://schemas.openxmlformats.org/officeDocument/2006/relationships/slide" Target="slides/slide5.xml"/><Relationship Id="rId99" Type="http://schemas.openxmlformats.org/officeDocument/2006/relationships/slide" Target="slides/slide93.xml"/><Relationship Id="rId10" Type="http://schemas.openxmlformats.org/officeDocument/2006/relationships/slide" Target="slides/slide4.xml"/><Relationship Id="rId98" Type="http://schemas.openxmlformats.org/officeDocument/2006/relationships/slide" Target="slides/slide92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91" Type="http://schemas.openxmlformats.org/officeDocument/2006/relationships/slide" Target="slides/slide85.xml"/><Relationship Id="rId90" Type="http://schemas.openxmlformats.org/officeDocument/2006/relationships/slide" Target="slides/slide84.xml"/><Relationship Id="rId93" Type="http://schemas.openxmlformats.org/officeDocument/2006/relationships/slide" Target="slides/slide87.xml"/><Relationship Id="rId92" Type="http://schemas.openxmlformats.org/officeDocument/2006/relationships/slide" Target="slides/slide86.xml"/><Relationship Id="rId118" Type="http://schemas.openxmlformats.org/officeDocument/2006/relationships/font" Target="fonts/Raleway-boldItalic.fntdata"/><Relationship Id="rId117" Type="http://schemas.openxmlformats.org/officeDocument/2006/relationships/font" Target="fonts/Raleway-italic.fntdata"/><Relationship Id="rId116" Type="http://schemas.openxmlformats.org/officeDocument/2006/relationships/font" Target="fonts/Raleway-bold.fntdata"/><Relationship Id="rId115" Type="http://schemas.openxmlformats.org/officeDocument/2006/relationships/font" Target="fonts/Raleway-regular.fntdata"/><Relationship Id="rId119" Type="http://schemas.openxmlformats.org/officeDocument/2006/relationships/font" Target="fonts/Lato-regular.fntdata"/><Relationship Id="rId15" Type="http://schemas.openxmlformats.org/officeDocument/2006/relationships/slide" Target="slides/slide9.xml"/><Relationship Id="rId110" Type="http://schemas.openxmlformats.org/officeDocument/2006/relationships/slide" Target="slides/slide104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14" Type="http://schemas.openxmlformats.org/officeDocument/2006/relationships/slide" Target="slides/slide108.xml"/><Relationship Id="rId18" Type="http://schemas.openxmlformats.org/officeDocument/2006/relationships/slide" Target="slides/slide12.xml"/><Relationship Id="rId113" Type="http://schemas.openxmlformats.org/officeDocument/2006/relationships/slide" Target="slides/slide107.xml"/><Relationship Id="rId112" Type="http://schemas.openxmlformats.org/officeDocument/2006/relationships/slide" Target="slides/slide106.xml"/><Relationship Id="rId111" Type="http://schemas.openxmlformats.org/officeDocument/2006/relationships/slide" Target="slides/slide105.xml"/><Relationship Id="rId84" Type="http://schemas.openxmlformats.org/officeDocument/2006/relationships/slide" Target="slides/slide78.xml"/><Relationship Id="rId83" Type="http://schemas.openxmlformats.org/officeDocument/2006/relationships/slide" Target="slides/slide77.xml"/><Relationship Id="rId86" Type="http://schemas.openxmlformats.org/officeDocument/2006/relationships/slide" Target="slides/slide80.xml"/><Relationship Id="rId85" Type="http://schemas.openxmlformats.org/officeDocument/2006/relationships/slide" Target="slides/slide79.xml"/><Relationship Id="rId88" Type="http://schemas.openxmlformats.org/officeDocument/2006/relationships/slide" Target="slides/slide82.xml"/><Relationship Id="rId87" Type="http://schemas.openxmlformats.org/officeDocument/2006/relationships/slide" Target="slides/slide81.xml"/><Relationship Id="rId89" Type="http://schemas.openxmlformats.org/officeDocument/2006/relationships/slide" Target="slides/slide83.xml"/><Relationship Id="rId80" Type="http://schemas.openxmlformats.org/officeDocument/2006/relationships/slide" Target="slides/slide74.xml"/><Relationship Id="rId82" Type="http://schemas.openxmlformats.org/officeDocument/2006/relationships/slide" Target="slides/slide76.xml"/><Relationship Id="rId81" Type="http://schemas.openxmlformats.org/officeDocument/2006/relationships/slide" Target="slides/slide7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73" Type="http://schemas.openxmlformats.org/officeDocument/2006/relationships/slide" Target="slides/slide67.xml"/><Relationship Id="rId72" Type="http://schemas.openxmlformats.org/officeDocument/2006/relationships/slide" Target="slides/slide66.xml"/><Relationship Id="rId75" Type="http://schemas.openxmlformats.org/officeDocument/2006/relationships/slide" Target="slides/slide69.xml"/><Relationship Id="rId74" Type="http://schemas.openxmlformats.org/officeDocument/2006/relationships/slide" Target="slides/slide68.xml"/><Relationship Id="rId77" Type="http://schemas.openxmlformats.org/officeDocument/2006/relationships/slide" Target="slides/slide71.xml"/><Relationship Id="rId76" Type="http://schemas.openxmlformats.org/officeDocument/2006/relationships/slide" Target="slides/slide70.xml"/><Relationship Id="rId79" Type="http://schemas.openxmlformats.org/officeDocument/2006/relationships/slide" Target="slides/slide73.xml"/><Relationship Id="rId78" Type="http://schemas.openxmlformats.org/officeDocument/2006/relationships/slide" Target="slides/slide72.xml"/><Relationship Id="rId71" Type="http://schemas.openxmlformats.org/officeDocument/2006/relationships/slide" Target="slides/slide65.xml"/><Relationship Id="rId70" Type="http://schemas.openxmlformats.org/officeDocument/2006/relationships/slide" Target="slides/slide64.xml"/><Relationship Id="rId62" Type="http://schemas.openxmlformats.org/officeDocument/2006/relationships/slide" Target="slides/slide56.xml"/><Relationship Id="rId61" Type="http://schemas.openxmlformats.org/officeDocument/2006/relationships/slide" Target="slides/slide55.xml"/><Relationship Id="rId64" Type="http://schemas.openxmlformats.org/officeDocument/2006/relationships/slide" Target="slides/slide58.xml"/><Relationship Id="rId63" Type="http://schemas.openxmlformats.org/officeDocument/2006/relationships/slide" Target="slides/slide57.xml"/><Relationship Id="rId66" Type="http://schemas.openxmlformats.org/officeDocument/2006/relationships/slide" Target="slides/slide60.xml"/><Relationship Id="rId65" Type="http://schemas.openxmlformats.org/officeDocument/2006/relationships/slide" Target="slides/slide59.xml"/><Relationship Id="rId68" Type="http://schemas.openxmlformats.org/officeDocument/2006/relationships/slide" Target="slides/slide62.xml"/><Relationship Id="rId67" Type="http://schemas.openxmlformats.org/officeDocument/2006/relationships/slide" Target="slides/slide61.xml"/><Relationship Id="rId60" Type="http://schemas.openxmlformats.org/officeDocument/2006/relationships/slide" Target="slides/slide54.xml"/><Relationship Id="rId69" Type="http://schemas.openxmlformats.org/officeDocument/2006/relationships/slide" Target="slides/slide63.xml"/><Relationship Id="rId51" Type="http://schemas.openxmlformats.org/officeDocument/2006/relationships/slide" Target="slides/slide45.xml"/><Relationship Id="rId50" Type="http://schemas.openxmlformats.org/officeDocument/2006/relationships/slide" Target="slides/slide44.xml"/><Relationship Id="rId53" Type="http://schemas.openxmlformats.org/officeDocument/2006/relationships/slide" Target="slides/slide47.xml"/><Relationship Id="rId52" Type="http://schemas.openxmlformats.org/officeDocument/2006/relationships/slide" Target="slides/slide46.xml"/><Relationship Id="rId55" Type="http://schemas.openxmlformats.org/officeDocument/2006/relationships/slide" Target="slides/slide49.xml"/><Relationship Id="rId54" Type="http://schemas.openxmlformats.org/officeDocument/2006/relationships/slide" Target="slides/slide48.xml"/><Relationship Id="rId57" Type="http://schemas.openxmlformats.org/officeDocument/2006/relationships/slide" Target="slides/slide51.xml"/><Relationship Id="rId56" Type="http://schemas.openxmlformats.org/officeDocument/2006/relationships/slide" Target="slides/slide50.xml"/><Relationship Id="rId59" Type="http://schemas.openxmlformats.org/officeDocument/2006/relationships/slide" Target="slides/slide53.xml"/><Relationship Id="rId58" Type="http://schemas.openxmlformats.org/officeDocument/2006/relationships/slide" Target="slides/slide5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9edc685857_0_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9edc685857_0_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9edc685857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9edc685857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9edc685857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39edc685857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9edc685857_0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9edc685857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edc685857_0_1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edc685857_0_1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edc685857_0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edc685857_0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edc685857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9edc685857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edc685857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edc685857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edc685857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edc685857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9edc685857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9edc685857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fbc4a1c57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0" name="Google Shape;150;g36fbc4a1c5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6fbc4a1c57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6fbc4a1c57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6fbc4a1c57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6fbc4a1c57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6fbc4a1c57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6fbc4a1c57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6fbc4a1c57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6fbc4a1c57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36fbc4a1c57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g36fbc4a1c57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6fbc4a1c5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6fbc4a1c5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fbc4a1c57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36fbc4a1c57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6fbc4a1c57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6fbc4a1c57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6fbc4a1c57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6fbc4a1c57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12cefa15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3a12cefa15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a12cefa159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a12cefa15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a12cefa159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a12cefa159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a12cefa159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a12cefa159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a12cefa159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a12cefa159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g3a12cefa159_0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0" name="Google Shape;240;g3a12cefa159_0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a13cfc4c8f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a13cfc4c8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a35a0ca6c5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a35a0ca6c5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35a0ca6c5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a35a0ca6c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a35a0ca6c5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a35a0ca6c5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a35a0ca6c5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a35a0ca6c5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90db029de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90db029de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90db029de9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90db029de9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90db029de9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90db029de9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90db029de9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90db029de9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90db029de9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90db029de9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390db029de9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390db029de9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90db029de9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90db029de9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90db029de9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90db029de9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90db029de9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90db029de9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90db029de9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90db029de9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90db029de9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90db029de9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90db029de9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6" name="Google Shape;346;g390db029de9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90db029de9_0_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90db029de9_0_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90db029de9_0_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90db029de9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g390db029de9_0_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4" name="Google Shape;364;g390db029de9_0_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90db029de9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90db029de9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aa99e5f2c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3aa99e5f2c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3aa99e5f2c3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3aa99e5f2c3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aa99e5f2c3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3aa99e5f2c3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aa99e5f2c3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3aa99e5f2c3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g3aa99e5f2c3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0" name="Google Shape;400;g3aa99e5f2c3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aa99e5f2c3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3aa99e5f2c3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aa99e5f2c3_0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aa99e5f2c3_0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g3aa99e5f2c3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8" name="Google Shape;418;g3aa99e5f2c3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ac905aeb3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4" name="Google Shape;424;g3ac905aeb3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3ac905aeb36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3ac905aeb36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ac905aeb36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ac905aeb36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ac905aeb36_0_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2" name="Google Shape;442;g3ac905aeb36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3ac905aeb36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3ac905aeb36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ac905aeb36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4" name="Google Shape;454;g3ac905aeb36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3ac905aeb36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3ac905aeb36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915c97491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3915c97491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g3915c97491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2" name="Google Shape;472;g3915c97491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915c974913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3915c974913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2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g3915c974913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4" name="Google Shape;484;g3915c974913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915c974913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3915c974913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g3915c974913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6" name="Google Shape;496;g3915c974913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3915c974913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2" name="Google Shape;502;g3915c974913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3915c974913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3915c974913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afe926a0ac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4" name="Google Shape;514;g3afe926a0a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afe926a0a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3afe926a0a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g3afe926a0ac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6" name="Google Shape;526;g3afe926a0ac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afe926a0a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2" name="Google Shape;532;g3afe926a0a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6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Google Shape;537;g3afe926a0a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8" name="Google Shape;538;g3afe926a0a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afe926a0ac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4" name="Google Shape;544;g3afe926a0ac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8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g3afe926a0ac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0" name="Google Shape;550;g3afe926a0ac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4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g391824cf51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6" name="Google Shape;556;g391824cf51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g391c0dedbe2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2" name="Google Shape;562;g391c0dedbe2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g391c0dedbe2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8" name="Google Shape;568;g391c0dedbe2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91c0dedbe2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91c0dedbe2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391c0dedbe2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391c0dedbe2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4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g391c0dedbe2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6" name="Google Shape;586;g391c0dedbe2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b183985fd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2" name="Google Shape;592;g3b183985fd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b183985fd4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3b183985fd4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g3b183985fd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4" name="Google Shape;604;g3b183985fd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8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g3b183985fd4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0" name="Google Shape;610;g3b183985fd4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g3b183985fd4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6" name="Google Shape;616;g3b183985fd4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g3b183985fd4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2" name="Google Shape;622;g3b183985fd4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g3b183985fd4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8" name="Google Shape;628;g3b183985fd4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2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g3b183985fd4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4" name="Google Shape;634;g3b183985fd4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8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3b183985fd4_0_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3b183985fd4_0_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3b183985fd4_0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3b183985fd4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391c0dedbe2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391c0dedbe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6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39256ae687b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39256ae687b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2" name="Shape 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Google Shape;663;g39256ae687b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4" name="Google Shape;664;g39256ae687b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g39256ae687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0" name="Google Shape;670;g39256ae687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g39256ae687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6" name="Google Shape;676;g39256ae687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0" name="Shape 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Google Shape;681;g39256ae687b_0_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2" name="Google Shape;682;g39256ae687b_0_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6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39256ae687b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8" name="Google Shape;688;g39256ae687b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39256ae687b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4" name="Google Shape;694;g39256ae687b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g39256ae687b_0_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0" name="Google Shape;700;g39256ae687b_0_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" name="Google Shape;705;g39256ae687b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6" name="Google Shape;706;g39256ae687b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39256ae687b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39256ae687b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g39256ae687b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8" name="Google Shape;718;g39256ae687b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2" name="Shape 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Google Shape;723;g39256ae687b_0_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4" name="Google Shape;724;g39256ae687b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39256ae687b_0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0" name="Google Shape;730;g39256ae687b_0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1" name="Google Shape;21;p3"/>
          <p:cNvSpPr txBox="1"/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8" name="Google Shape;28;p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" name="Google Shape;36;p5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2" type="body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6"/>
          <p:cNvSpPr txBox="1"/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7"/>
          <p:cNvSpPr txBox="1"/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53" name="Google Shape;53;p7"/>
          <p:cNvSpPr txBox="1"/>
          <p:nvPr>
            <p:ph idx="1" type="body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9" name="Google Shape;59;p8"/>
          <p:cNvSpPr txBox="1"/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9"/>
          <p:cNvSpPr txBox="1"/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68" name="Google Shape;68;p9"/>
          <p:cNvSpPr txBox="1"/>
          <p:nvPr>
            <p:ph idx="2" type="body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7" name="Google Shape;77;p11"/>
          <p:cNvSpPr txBox="1"/>
          <p:nvPr>
            <p:ph hasCustomPrompt="1" type="title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/>
          <p:nvPr>
            <p:ph idx="1" type="body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treamlin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b="1" sz="2800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://node.js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Relationship Id="rId3" Type="http://schemas.openxmlformats.org/officeDocument/2006/relationships/hyperlink" Target="https://bank.pl" TargetMode="External"/><Relationship Id="rId4" Type="http://schemas.openxmlformats.org/officeDocument/2006/relationships/hyperlink" Target="https://bank.pl" TargetMode="Externa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/>
          <p:nvPr>
            <p:ph type="ctrTitle"/>
          </p:nvPr>
        </p:nvSpPr>
        <p:spPr>
          <a:xfrm>
            <a:off x="729450" y="1322450"/>
            <a:ext cx="7688100" cy="51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Sieci przewodowe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7" name="Google Shape;87;p13"/>
          <p:cNvSpPr txBox="1"/>
          <p:nvPr>
            <p:ph idx="1" type="subTitle"/>
          </p:nvPr>
        </p:nvSpPr>
        <p:spPr>
          <a:xfrm>
            <a:off x="729625" y="1996825"/>
            <a:ext cx="7688100" cy="280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rodzaj sieci komputerowej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w której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urządzenia są połączone za pomocą fizycznych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miedzianych (Ethernet)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światłowodowych (fiber optic)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🧩 Najprościej mówiąc: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381000" marR="3810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przewodowa = połączenie komputerów, drukarek, routerów itp.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 pomocą kabli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 nie przez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23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cechy:</a:t>
            </a:r>
            <a:endParaRPr sz="35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93" name="Google Shape;93;p14"/>
          <p:cNvSpPr txBox="1"/>
          <p:nvPr>
            <p:ph idx="1" type="body"/>
          </p:nvPr>
        </p:nvSpPr>
        <p:spPr>
          <a:xfrm>
            <a:off x="729450" y="2078875"/>
            <a:ext cx="7688700" cy="280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Przesył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są transmitowane przez przewodniki, co zapewnia stabilne i szybkie połączenie, zazwyczaj z mniejszą podatnością na zakłócenia niż w sieciach bezprzewodowych.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5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5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Przykłady zastosowań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Sieci LAN w domach, biurach, centrach danych czy systemy monitoringu CCTV.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5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sieci przewodowych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99" name="Google Shape;99;p15"/>
          <p:cNvSpPr txBox="1"/>
          <p:nvPr>
            <p:ph idx="1" type="body"/>
          </p:nvPr>
        </p:nvSpPr>
        <p:spPr>
          <a:xfrm>
            <a:off x="729450" y="2078875"/>
            <a:ext cx="7688700" cy="2900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Ethernet (LAN)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najczęściej spotykana sieć przewodowa w domach i firmach.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używa kabli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RJ-45 (skrętka)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prędkości np. </a:t>
            </a: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100 Mb/s, 1 Gb/s, 10 Gb/s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komputery, routery, switche.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Światłowód (Fiber Optic)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sieć zbudowana z kabli światłowodowych.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bardzo duża prędkość transmisji,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435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stosowana w łączach między miastami, serwerowniach lub w nowoczesnych domach (FTTH – Fiber To The Home).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Połączenia szeregowe / przemysłowe</a:t>
            </a:r>
            <a:r>
              <a:rPr lang="pl" sz="2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— np. RS-232, RS-485 — używane w automatyce i systemach przemysłowych.</a:t>
            </a:r>
            <a:endParaRPr sz="2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sieć przewodowa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Każde urządzenie ma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kartę sieciową (NIC)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Kable łączą urządzenia poprzez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switch</a:t>
            </a:r>
            <a:r>
              <a:rPr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router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hub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Dane przesyłane są w postaci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sygnałów elektrycznych lub optycznych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przez przewody.</a:t>
            </a:r>
            <a:endParaRPr sz="16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AutoNum type="arabicPeriod"/>
            </a:pP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Komunikacja odbywa się według określonych </a:t>
            </a:r>
            <a:r>
              <a:rPr b="1" lang="pl" sz="1600">
                <a:solidFill>
                  <a:srgbClr val="274E13"/>
                </a:solidFill>
                <a:latin typeface="Arial"/>
                <a:ea typeface="Arial"/>
                <a:cs typeface="Arial"/>
                <a:sym typeface="Arial"/>
              </a:rPr>
              <a:t>protokołów sieciowych</a:t>
            </a:r>
            <a:r>
              <a:rPr lang="pl" sz="16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(np. TCP/IP, Ethernet).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 sieci przewodowej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11" name="Google Shape;111;p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Szybka transmisja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stabilniejsze połączenie niż Wi-Fi.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Niskie opóźnienia (ping)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ważne np. w grach i serwerach.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Bezpieczeństwo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trudniej podsłuchać połączenie fizyczne.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✅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Odporność na zakłócenia radiowe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nie zależy od zasięgu Wi-Fi.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przewodowej</a:t>
            </a:r>
            <a:endParaRPr sz="27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Trudniejszy montaż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trzeba prowadzić kable w ścianach lub po podłodze.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Mniejsza 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urządzenia muszą być fizycznie podłączone.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Koszty instalacji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więcej sprzętu (kable, gniazda, przełączniki).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bezprzewodowa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komputerowa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 której urządzenia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łączą się ze sobą bez użycia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wykorzystując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fale radiowe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podczerwień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mikrofale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do przesyłania danych.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8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🧩 Najprościej mówiąc:</a:t>
            </a:r>
            <a:endParaRPr b="1"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381000" marR="3810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Sieć bezprzewodowa = połączenie komputerów, telefonów, tabletów i innych urządzeń bez kabli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np. przez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Wi-Fi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lub </a:t>
            </a:r>
            <a:r>
              <a:rPr b="1"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Bluetooth</a:t>
            </a:r>
            <a:r>
              <a:rPr lang="pl" sz="14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Przykłady sieci bezprzewodowych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729450" y="2078875"/>
            <a:ext cx="7688700" cy="288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0000" lnSpcReduction="20000"/>
          </a:bodyPr>
          <a:lstStyle/>
          <a:p>
            <a:pPr indent="-30607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Wi-Fi (WLAN – Wireless Local Area Network)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najpopularniejsza sieć domowa lub biurowa,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wykorzystuje fale radiowe (częstotliwości 2,4 GHz i 5 GHz),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umożliwia łączenie komputerów, smartfonów i innych urządzeń z routerem bez kabli.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Bluetooth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połączenia urządzeń na krótką odległość (np. telefon ↔ słuchawki).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Sieć komórkowa (LTE, 5G)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dostęp do Internetu przez operatorów sieci komórkowych,</a:t>
            </a: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69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obejmuje duże obszary (miasta, regiony).</a:t>
            </a:r>
            <a:b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607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b="1"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Hotspot Wi-Fi</a:t>
            </a:r>
            <a:endParaRPr b="1" sz="305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5654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36065"/>
              <a:buFont typeface="Arial"/>
              <a:buChar char="○"/>
            </a:pPr>
            <a:r>
              <a:rPr lang="pl" sz="305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punkt dostępu umożliwiający innym urządzeniom korzystanie z Internetu bezprzewodowo.</a:t>
            </a:r>
            <a:endParaRPr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 Jak działa sieć bezprzewodowa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35" name="Google Shape;135;p2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Urządzenie (np. laptop, telefon) ma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kartę sieciową Wi-Fi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i odbiera dane przez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antenę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która komunikuje się z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routerem (punktem dostępowym)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Router przekazuje dane dalej – np. do Internetu przez kabel (światłowód lub Ethernet).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Komunikacja odbywa się wg ustalonych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protokołów sieciowych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802.11).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 sieci bezprzewodowej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1" name="Google Shape;141;p2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1"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Mobilność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Można się łączyć z dowolnego miejsca w zasięgu sygnału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Brak kabli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Nie trzeba prowadzić przewodów przez ściany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Łatwość instalacji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Wystarczy router i urządzenia z Wi-Fi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Wiele urządzeń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Może łączyć laptopy, smartfony, drukarki itd.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 sieci bezprzewodowej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2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Mniejsza stabilność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Sygnał może zanikać przez ściany lub zakłócenia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Bezpieczeństwo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Łatwiej podsłuchać lub włamać się niż w sieci przewodowej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Niższa prędkość	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Wolniejsza transmisja niż przez kabel Ethernet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Tahoma"/>
              <a:buChar char="●"/>
            </a:pPr>
            <a:r>
              <a:rPr lang="pl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Zużycie energii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	Urządzenia mobilne szybciej rozładowują baterię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olityka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3" name="Google Shape;153;p24"/>
          <p:cNvSpPr txBox="1"/>
          <p:nvPr>
            <p:ph idx="1" type="body"/>
          </p:nvPr>
        </p:nvSpPr>
        <p:spPr>
          <a:xfrm>
            <a:off x="729450" y="2078875"/>
            <a:ext cx="7688700" cy="276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bezpieczeństwa sieci (Network Security Policy)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zbiór zasad, procedur i wytycznych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określają: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chronić dane i zasoby sieciowe,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kto i w jaki sposób może korzystać z sieci,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jakie działania są dozwolone, a jakie zabronione,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jak reagować w razie incydentów bezpieczeństwa.</a:t>
            </a:r>
            <a:endParaRPr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Innymi słowy: to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plan działania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pomaga organizacji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utrzymać poufność, integralność i dostępność danych (zasada CIA: Confidentiality, Integrity, Availability)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cele polityki bezpieczeństwa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153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5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Poufność (Confidentiality)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ochrona danych przed nieautoryzowanym dostępem.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szyfrowanie, uwierzytelnianie użytkowników.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Integralność (Integrity)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zapobieganie nieautoryzowanym zmianom danych.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sumy kontrolne, kopie zapasowe.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AutoNum type="arabicPeriod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Dostępność (Availability)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zapewnienie, że dane i usługi są dostępne, gdy są potrzebne.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👉 np. ochrona przed atakami DDoS, redundancja serwerów.</a:t>
            </a:r>
            <a:b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5" name="Google Shape;165;p26"/>
          <p:cNvSpPr txBox="1"/>
          <p:nvPr>
            <p:ph idx="1" type="body"/>
          </p:nvPr>
        </p:nvSpPr>
        <p:spPr>
          <a:xfrm>
            <a:off x="729450" y="2078875"/>
            <a:ext cx="7688700" cy="298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dostępu do sieci (Access Control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kto może korzystać z sieci i w jakim zakresie.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pracownicy działu finansowego mają dostęp do serwera księgowego, ale nie do serwera HR.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haseł (Password Policy)</a:t>
            </a:r>
            <a:br>
              <a:rPr b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Ustala reguły dotyczące złożoności, długości i zmiany haseł.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hasło musi mieć min. 10 znaków, zawierać litery, cyfry i znaki specjalne, zmiana co 90 dni.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3265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ct val="100000"/>
              <a:buFont typeface="Tahoma"/>
              <a:buAutoNum type="arabicPeriod"/>
            </a:pPr>
            <a:r>
              <a:rPr b="1" lang="pl" sz="145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korzystania z Internetu (Acceptable Use Policy)</a:t>
            </a:r>
            <a:endParaRPr b="1" sz="1454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Określa, w jaki sposób można korzystać z Internetu w pracy.</a:t>
            </a:r>
            <a:b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🔹 </a:t>
            </a:r>
            <a:r>
              <a:rPr i="1"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5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zakaz wchodzenia na strony o treści niezgodnej z prawem lub niezwiązanej z pracą.</a:t>
            </a:r>
            <a:endParaRPr sz="145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polityk bezpieczeństwa w sieci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27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62500" lnSpcReduction="2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zapory sieciowej (Firewall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Definiuje, które połączenia są dozwolone, a które blokowane.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ruch przychodzący na port 22 (SSH) dozwolony tylko z sieci firmowej.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5. 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aktualizacji i łatania systemów (Patch Management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Określa zasady instalowania poprawek bezpieczeństwa.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wszystkie serwery muszą być aktualizowane co najmniej raz w miesiącu.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6.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tworzenia kopii zapasowych (Backup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Wskazuje, jak i kiedy wykonywać backupy danych.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codzienna kopia danych na serwer zewnętrzny, przechowywana przez 30 dni.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674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7.	</a:t>
            </a:r>
            <a:r>
              <a:rPr b="1" lang="pl" sz="1674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reagowania na incydenty (Incident Response Policy)</a:t>
            </a:r>
            <a:b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Opisuje procedury w razie włamania, ataku lub awarii.</a:t>
            </a:r>
            <a:b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🔹 </a:t>
            </a:r>
            <a:r>
              <a:rPr i="1"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674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wykryciu ataku DDoS administrator odłącza serwer i powiadamia zespół SOC.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3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Praktyczne zastosowania</a:t>
            </a:r>
            <a:endParaRPr sz="243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177" name="Google Shape;177;p28"/>
          <p:cNvSpPr txBox="1"/>
          <p:nvPr>
            <p:ph idx="1" type="body"/>
          </p:nvPr>
        </p:nvSpPr>
        <p:spPr>
          <a:xfrm>
            <a:off x="729450" y="2078875"/>
            <a:ext cx="7688700" cy="300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Pracownik loguje się do sieci VPN z domu 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+ polityka haseł (Efekt: Bezpieczny, uwierzytelniony dostęp)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Firma blokuje porty 21 (FTP) i 23 (Telnet)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zapory sieciowej (Efekt: Ochrona przed niebezpiecznymi protokołami)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Użytkownicy mają ograniczony dostęp do pendrive’ów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dostępu do urządzeń (Efekt: Zapobieganie wyciekom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Codzienne kopie zapasowe serwerów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backupu (Efekt: Ochrona przed utratą danych)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Pracownicy nie mogą instalować oprogramowania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Zastosowana polityka: Polityka uprawnień użytkownika (Efekt: Redukcja ryzyka złośliwego oprogramowania)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haseł</a:t>
            </a:r>
            <a:endParaRPr/>
          </a:p>
        </p:txBody>
      </p:sp>
      <p:sp>
        <p:nvSpPr>
          <p:cNvPr id="183" name="Google Shape;183;p29"/>
          <p:cNvSpPr txBox="1"/>
          <p:nvPr>
            <p:ph idx="1" type="body"/>
          </p:nvPr>
        </p:nvSpPr>
        <p:spPr>
          <a:xfrm>
            <a:off x="729450" y="2078875"/>
            <a:ext cx="7688700" cy="27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haseł określa, jak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trudne powinny być hasła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jak często trzeba je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zmieniać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Ma to chronić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konta użytkowników przed włamaniami.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Hasło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powinno mieć duże i małe litery, cyfry i znaki specjalne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Nie powinno się używać tego samego hasła w kilku miejscach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firmach często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wymaga się zmiany hasła co kilka miesięcy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b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zwiększyć bezpieczeństwo</a:t>
            </a:r>
            <a:r>
              <a:rPr lang="pl" sz="15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danych i systemów.</a:t>
            </a:r>
            <a:endParaRPr sz="15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Polityka korzystania z Internetu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9" name="Google Shape;189;p3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pracownicy mogą używać Internetu w pracy.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zabrania wchodzenia na strony niezwiązane z obowiązkami służbowymi.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Chroni to firmę przed wirusami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i stratą czasu w pracy.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niej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administratorzy mogą łatwiej monitorować ruch sieciowy.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 szkole taka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zasada też może obowiązywać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– np. nie wolno grać online podczas lekcji.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pomaga utrzymać porządek i bezpieczeństwo w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zapory sieciowej (Firewall)</a:t>
            </a:r>
            <a:endParaRPr/>
          </a:p>
        </p:txBody>
      </p:sp>
      <p:sp>
        <p:nvSpPr>
          <p:cNvPr id="195" name="Google Shape;195;p31"/>
          <p:cNvSpPr txBox="1"/>
          <p:nvPr>
            <p:ph idx="1" type="body"/>
          </p:nvPr>
        </p:nvSpPr>
        <p:spPr>
          <a:xfrm>
            <a:off x="729450" y="2078875"/>
            <a:ext cx="8019300" cy="294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Zapora sieciowa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program lub urządzenie, które blokuje niebezpieczne połączenia z Internetu.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Polityka określa, które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połączenia są dozwolone, a które zablokowane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Na przykład może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pozwalać tylko na strony firmowe, a blokować porty używane przez hakerów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Dzięki temu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wirusy i nieautoryzowani użytkownicy nie dostają się do sieci.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Firewall działa jak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strażnik 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pilnujący bramy do firmy.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To jedna z podstawowych metod ochrony sieci komputerowych.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tworzenia kopii zapasowych (Backup)</a:t>
            </a:r>
            <a:endParaRPr/>
          </a:p>
        </p:txBody>
      </p:sp>
      <p:sp>
        <p:nvSpPr>
          <p:cNvPr id="201" name="Google Shape;201;p32"/>
          <p:cNvSpPr txBox="1"/>
          <p:nvPr>
            <p:ph idx="1" type="body"/>
          </p:nvPr>
        </p:nvSpPr>
        <p:spPr>
          <a:xfrm>
            <a:off x="729450" y="2078875"/>
            <a:ext cx="7688700" cy="297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mówi,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jak często trzeba robić kopie danych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, żeby ich nie stracić.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Backupy 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mogą być zapisywane na dysku zewnętrznym lub w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chmurze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razie awarii,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ataku lub błędu można łatwo odzyskać dane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Firmy często robią kopie codziennie lub co tydzień.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domu też warto robić kopie zdjęć czy 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dokumentów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temu nawet po awarii komputera dane nie przepadają.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Polityka reagowania na incydenty</a:t>
            </a:r>
            <a:endParaRPr/>
          </a:p>
        </p:txBody>
      </p:sp>
      <p:sp>
        <p:nvSpPr>
          <p:cNvPr id="207" name="Google Shape;207;p33"/>
          <p:cNvSpPr txBox="1"/>
          <p:nvPr>
            <p:ph idx="1" type="body"/>
          </p:nvPr>
        </p:nvSpPr>
        <p:spPr>
          <a:xfrm>
            <a:off x="729450" y="2078875"/>
            <a:ext cx="7688700" cy="3025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Ta polityka określa, co robić, gdy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dojdzie do ataku lub problemu z bezpieczeństwem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Na przykład: kto ma zostać powiadomiony, jak zabezpieczyć dane i jak naprawić system.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Pomaga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szybko zareagować, zanim szkody będą duże.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W firmach często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tworzy się specjalne zespoły reagowania (tzw. CERT lub SOC)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Dzięki tej 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polityce każdy wie, jakie są jego obowiązki.</a:t>
            </a:r>
            <a:endParaRPr b="1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To pozwala</a:t>
            </a:r>
            <a:r>
              <a:rPr b="1"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utrzymać spokój i porządek w sytuacjach kryzysowych</a:t>
            </a:r>
            <a:r>
              <a:rPr lang="pl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Programowanie rozproszone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3" name="Google Shape;213;p3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sposób tworzenia oprogramowania, w którym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program (system)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nie działa na jednym komputerze, tylko na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wielu połączonych ze sobą komputerach (w sieci)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Każda z tych maszyn wykonuje część zadań, a razem tworzą jeden wspólny system.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progr. rozproszonego c.d.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9" name="Google Shape;219;p35"/>
          <p:cNvSpPr txBox="1"/>
          <p:nvPr>
            <p:ph idx="1" type="body"/>
          </p:nvPr>
        </p:nvSpPr>
        <p:spPr>
          <a:xfrm>
            <a:off x="729450" y="2042500"/>
            <a:ext cx="7688700" cy="292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Rodzaj:</a:t>
            </a:r>
            <a:endParaRPr b="1"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Klient–serwer (Client–Server)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Klient wysyła żądania, serwer odpowiada.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Strona WWW (przeglądarka ↔ serwer)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Wielowarstwowe (n-warstwowe)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podzielony na warstwy: prezentacji, logiki i danych.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Aplikacja webowa: frontend – backend – baza danych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Peer-to-Peer (P2P)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Każdy komputer (węzeł) może być klientem i serwerem jednocześnie.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Torrent, komunikatory (np. Skype, BitTorrent)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(modele) programow. rozproszonego</a:t>
            </a:r>
            <a:endParaRPr/>
          </a:p>
        </p:txBody>
      </p:sp>
      <p:sp>
        <p:nvSpPr>
          <p:cNvPr id="225" name="Google Shape;225;p36"/>
          <p:cNvSpPr txBox="1"/>
          <p:nvPr>
            <p:ph idx="1" type="body"/>
          </p:nvPr>
        </p:nvSpPr>
        <p:spPr>
          <a:xfrm>
            <a:off x="729450" y="2078875"/>
            <a:ext cx="7688700" cy="279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Zdalne wywołania procedur (RPC)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Program na jednym komputerze wywołuje funkcję na innym.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Java RMI, gRPC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Systemy oparte o komunikaty (Message-Oriented)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Komputery komunikują się przez kolejki wiadomości.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RabbitMQ, Apache Kafka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Mikroserwisowe (Microservices)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System składa się z wielu małych usług, które komunikują się przez sieć.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Aplikacje w chmurze (np. Netflix, Amazon)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8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Grid Computing / Cloud Computing </a:t>
            </a: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- Wiele serwerów współdzieli zasoby obliczeniowe lub pamięć.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8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Przykład: AWS, Azure, Google Cloud</a:t>
            </a:r>
            <a:endParaRPr sz="1408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Technologie używane w progr. rozproszonym</a:t>
            </a:r>
            <a:endParaRPr/>
          </a:p>
        </p:txBody>
      </p:sp>
      <p:sp>
        <p:nvSpPr>
          <p:cNvPr id="231" name="Google Shape;231;p3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Obszar:			Przykłady</a:t>
            </a:r>
            <a:endParaRPr b="1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Backend 			Java (Spring Cloud), .NET, </a:t>
            </a:r>
            <a:r>
              <a:rPr lang="pl" sz="1400" u="sng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Node.js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Komunikacja		REST API, gRPC, WebSocket, message queues (RabbitMQ, Kafka)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Bazy danych		MongoDB, Cassandra, PostgreSQL Cluster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Architektura		mikroserwisy, chmura (AWS, Azure, GCP)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Cechy systemów rozproszonych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37" name="Google Shape;237;p38"/>
          <p:cNvSpPr txBox="1"/>
          <p:nvPr>
            <p:ph idx="1" type="body"/>
          </p:nvPr>
        </p:nvSpPr>
        <p:spPr>
          <a:xfrm>
            <a:off x="729450" y="2078875"/>
            <a:ext cx="7688700" cy="277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Cecha				Znaczenie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Współbieżność			wiele komputerów działa jednocześnie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Komunikacja przez sieć		wymiana danych np. przez HTTP, TCP/IP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Niezależność sprzętowa		różne komputery i systemy operacyjne mogą współpracować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Odporność na awarie		gdy jeden element padnie, reszta może działać dalej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Skalowalność			łatwo dodać więcej maszyn, żeby system działał szybciej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3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 z życia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3" name="Google Shape;243;p3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Wyobraź sobie aplikację bankową:</a:t>
            </a:r>
            <a:endParaRPr b="1"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A obsługuje logowanie,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B zapisuje dane klientów w bazie,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Serwer C przetwarza płatności.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Współpracują razem w sieci —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właśnie programowanie rozproszone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4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49" name="Google Shape;249;p4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to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system kontroli wersji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(ang.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Version Control System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), używany do </a:t>
            </a: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śledzenia zmian w plikach</a:t>
            </a: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głównie w projektach programistycznych. Dzięki niemu możesz współpracować z innymi, wracać do wcześniejszych wersji plików i zarządzać historią projektu.</a:t>
            </a:r>
            <a:endParaRPr sz="16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55" name="Google Shape;255;p4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Śledzenie zmian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zapisuje historię zmian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zobaczyć, kto i kiedy zmienił dany fragment kodu.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Gałęzie (</a:t>
            </a:r>
            <a:r>
              <a:rPr b="1" i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branches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Pozwalają na tworzenie równoległych wersji projektu.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testować nowe funkcje bez psucia głównej wersji (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main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i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master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Scalanie zmian (</a:t>
            </a:r>
            <a:r>
              <a:rPr b="1" i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merge</a:t>
            </a: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Gałęzie można łączyć.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automatycznie łączy zmiany w jednym projekcie.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4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Najważniejsze cechy Gita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4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Rozproszony system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Każdy użytkownik ma pełną kopię repozytorium.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pracować lokalnie bez połączenia z internetem.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Współpraca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ułatwia pracę zespołową.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Popularne platformy: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GitHub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GitLab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Bitbucket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4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7" name="Google Shape;267;p4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init </a:t>
            </a:r>
            <a:r>
              <a:rPr lang="pl">
                <a:solidFill>
                  <a:srgbClr val="000000"/>
                </a:solidFill>
              </a:rPr>
              <a:t>				- Tworzy nowe repozytorium w folderze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clone &lt;url&gt;</a:t>
            </a:r>
            <a:r>
              <a:rPr lang="pl">
                <a:solidFill>
                  <a:srgbClr val="000000"/>
                </a:solidFill>
              </a:rPr>
              <a:t> 			- Pobiera repozytorium z internetu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add &lt;plik&gt; </a:t>
            </a:r>
            <a:r>
              <a:rPr lang="pl">
                <a:solidFill>
                  <a:srgbClr val="000000"/>
                </a:solidFill>
              </a:rPr>
              <a:t>			</a:t>
            </a:r>
            <a:r>
              <a:rPr lang="pl">
                <a:solidFill>
                  <a:srgbClr val="000000"/>
                </a:solidFill>
              </a:rPr>
              <a:t>-</a:t>
            </a:r>
            <a:r>
              <a:rPr lang="pl">
                <a:solidFill>
                  <a:srgbClr val="000000"/>
                </a:solidFill>
              </a:rPr>
              <a:t> Dodaje plik do "staging area" (przygotowanie do commit)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commit -m "komentarz" </a:t>
            </a:r>
            <a:r>
              <a:rPr lang="pl">
                <a:solidFill>
                  <a:srgbClr val="000000"/>
                </a:solidFill>
              </a:rPr>
              <a:t>	- Zapisuje zmiany z opisem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</a:rPr>
              <a:t>git status </a:t>
            </a:r>
            <a:r>
              <a:rPr lang="pl">
                <a:solidFill>
                  <a:srgbClr val="000000"/>
                </a:solidFill>
              </a:rPr>
              <a:t>				- Pokazuje stan repozytorium i zmienione pliki</a:t>
            </a:r>
            <a:endParaRPr>
              <a:solidFill>
                <a:srgbClr val="00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Podstawowe komendy Git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4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push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Wysyła zmiany do zdalnego repozytorium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pull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- Pobiera zmiany z repozytorium zdalnego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branch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			- Wyświetla dostępne gałęzie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checkout &lt;branch&gt;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- Przełącza się na inną gałąź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aphicFrame>
        <p:nvGraphicFramePr>
          <p:cNvPr id="274" name="Google Shape;274;p44"/>
          <p:cNvGraphicFramePr/>
          <p:nvPr/>
        </p:nvGraphicFramePr>
        <p:xfrm>
          <a:off x="152400" y="1524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{9F55222A-1A88-493D-8889-48B6BB8FB615}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5" name="Google Shape;275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{9F55222A-1A88-493D-8889-48B6BB8FB615}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6" name="Google Shape;276;p44"/>
          <p:cNvGraphicFramePr/>
          <p:nvPr/>
        </p:nvGraphicFramePr>
        <p:xfrm>
          <a:off x="304800" y="304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{9F55222A-1A88-493D-8889-48B6BB8FB615}</a:tableStyleId>
              </a:tblPr>
              <a:tblGrid>
                <a:gridCol w="561975"/>
              </a:tblGrid>
              <a:tr h="1714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l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git push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graphicFrame>
        <p:nvGraphicFramePr>
          <p:cNvPr id="277" name="Google Shape;277;p44"/>
          <p:cNvGraphicFramePr/>
          <p:nvPr/>
        </p:nvGraphicFramePr>
        <p:xfrm>
          <a:off x="457200" y="457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{9F55222A-1A88-493D-8889-48B6BB8FB615}</a:tableStyleId>
              </a:tblPr>
              <a:tblGrid>
                <a:gridCol w="19050"/>
              </a:tblGrid>
              <a:tr h="190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commit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3" name="Google Shape;283;p45"/>
          <p:cNvSpPr txBox="1"/>
          <p:nvPr>
            <p:ph idx="1" type="body"/>
          </p:nvPr>
        </p:nvSpPr>
        <p:spPr>
          <a:xfrm>
            <a:off x="729450" y="2078875"/>
            <a:ext cx="7688700" cy="30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47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commit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zapisania zmian, które zostały 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wcześniej</a:t>
            </a:r>
            <a:r>
              <a:rPr b="1"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dodane do obszaru index</a:t>
            </a:r>
            <a:r>
              <a:rPr lang="pl" sz="29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(za pomocą </a:t>
            </a:r>
            <a:r>
              <a:rPr b="1"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git add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Pomocne polecenia do wykonania commit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607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-"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a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przejście w tryb –INSERT , modyfikowania 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6071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-"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ESCAPE :wq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ESC (przełącza w tryb poleceń), w -zapisz, q-quit, wyjście </a:t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Ważne opcje:</a:t>
            </a:r>
            <a:endParaRPr b="1" sz="29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-m "tytuł commit"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29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Dodaje komunikat bezpośrednio w poleceniu.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--amend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b="1"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Pozwala edytować ostatni commit (np. poprawić wiadomość lub dodać zapomniane pliki).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9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-a</a:t>
            </a:r>
            <a:r>
              <a:rPr lang="pl" sz="29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Automatycznie dodaje wszystkie śledzone pliki do staging przed commitem (skrót od git add dla zmodyfikowanych plików).</a:t>
            </a:r>
            <a:endParaRPr sz="29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log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9" name="Google Shape;289;p46"/>
          <p:cNvSpPr txBox="1"/>
          <p:nvPr>
            <p:ph idx="1" type="body"/>
          </p:nvPr>
        </p:nvSpPr>
        <p:spPr>
          <a:xfrm>
            <a:off x="729450" y="2078875"/>
            <a:ext cx="7688700" cy="300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550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log</a:t>
            </a:r>
            <a:r>
              <a:rPr b="1"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25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wyświetlania historii commitów w repozytorium</a:t>
            </a:r>
            <a:r>
              <a:rPr b="1"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 kolejności chronologicznej – od najnowszego do najstarszego</a:t>
            </a:r>
            <a:r>
              <a:rPr lang="pl" sz="2500">
                <a:latin typeface="Tahoma"/>
                <a:ea typeface="Tahoma"/>
                <a:cs typeface="Tahoma"/>
                <a:sym typeface="Tahoma"/>
              </a:rPr>
              <a:t>.</a:t>
            </a:r>
            <a:endParaRPr sz="25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Wyświetlane informacje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Dla każdego commita pokazuje: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Hash commita (unikalny identyfikator).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Autora i datę.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5912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❏"/>
            </a:pP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commita. </a:t>
            </a:r>
            <a:endParaRPr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Ważne opcje:</a:t>
            </a:r>
            <a:endParaRPr b="1" sz="25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--oneline</a:t>
            </a:r>
            <a:r>
              <a:rPr lang="pl" sz="25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Wyświetla każdy commit w jednej linii (skrótowo: hash + wiadomość).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--graph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Pokazuje historię w formie grafu (drzewa branchy).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-n 5</a:t>
            </a:r>
            <a:r>
              <a:rPr lang="pl" sz="25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Ogranicza do ostatnich n commitów (np. 5).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--author="Imię"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Filtruje po autorze.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--since="2023-01-01"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Commit'y od danej daty.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25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-p lub --patch</a:t>
            </a:r>
            <a:r>
              <a:rPr lang="pl" sz="25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: Pokazuje pełne zmiany (diff) w każdym commicie.</a:t>
            </a:r>
            <a:endParaRPr sz="25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index i git checkout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95" name="Google Shape;295;p47"/>
          <p:cNvSpPr txBox="1"/>
          <p:nvPr>
            <p:ph idx="1" type="body"/>
          </p:nvPr>
        </p:nvSpPr>
        <p:spPr>
          <a:xfrm>
            <a:off x="729450" y="2078875"/>
            <a:ext cx="7688700" cy="296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Index w Git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(nazywany też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staging area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albo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strefą przejściową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to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miejsce, w którym Git przechowuje informacje o zmianach przygotowanych do zatwierdzenia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(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commit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).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Przykład 1: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Tworzymy katalog w nim są plik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mkdir folder-test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touch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folder-test/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plik2.txt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Dodajemy je do index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za pomocą polecenie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add folder-test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Następnie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usuwamy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jeden z plików w katalogu folder-test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 rm  folder-test/plik2.txt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Aby go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odzyskać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mimo tego, że nie ma go w katalogu roboczym należy wykonać polecenie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$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git checkout folder-test/plik2.txt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Przykład 2:</a:t>
            </a:r>
            <a:endParaRPr b="1" sz="14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Teraz jak dodamy tekst do pliku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folder-test/plik2.txt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plik będzie wyświetlany 2 razy w index (gdzie będzie pusty) i w katalogu roboczym z nową zawartością tekstu.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8"/>
          <p:cNvSpPr txBox="1"/>
          <p:nvPr>
            <p:ph type="title"/>
          </p:nvPr>
        </p:nvSpPr>
        <p:spPr>
          <a:xfrm>
            <a:off x="729450" y="1385325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index i git reset HEAD , touch .gitignore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1" name="Google Shape;301;p4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reset HEAD &lt;plik&gt;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usuwa wskazany plik z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indexu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ale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nie usuwa go z katalogu roboczego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Plik </a:t>
            </a:r>
            <a:r>
              <a:rPr b="1" lang="pl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.gitignore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tego, aby powiedzieć Gitowi,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których plików i katalogów NIE ma śledzić</a:t>
            </a:r>
            <a:r>
              <a:rPr lang="pl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(czyli nie dodawać ich do indexu, commitów i repozytorium).</a:t>
            </a:r>
            <a:endParaRPr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ignoruje pliki wymienione w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.gitignore, o ile nie były wcześniej dodane do repozytorium.</a:t>
            </a:r>
            <a:endParaRPr b="1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Zwykle </a:t>
            </a: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ignorujemy</a:t>
            </a:r>
            <a:r>
              <a:rPr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katalogi node_module, dist, .env oraz pliki *.log, *.temp, DS_Store</a:t>
            </a:r>
            <a:endParaRPr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Plik </a:t>
            </a:r>
            <a:r>
              <a:rPr b="1" lang="pl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.gitignore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jest niewidoczny dopiero polecenie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$ ls –all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go wyświetli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revert SHA-1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7" name="Google Shape;307;p4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revert SHA-1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 NOWY commit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wykonuje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odwrotność zmian z tamtego commita.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Przykład 1: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 commit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git show SHA-1 dodaliśmy w 2 linii tekst, a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usunęliśmy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pierwszą linie tekstu, to możemy to odwrócić.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Czyli po wykonaniu polecenia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git revert SHA-1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odwrócimy to co było w pliku.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Druga linia zostanie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usunięta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, a pierwsza linia zostanie dodana z zawartością tekstu przed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usunięciem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jej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Pamiętajmy,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że ta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zmiana dodaje nowy commit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Działanie git reset z historią commit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3" name="Google Shape;313;p5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reset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resetuje index do danego commit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lub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zresetowanie indexu do wybranych plików danego commit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Czyli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git reset HEAD nazwa.txt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pobierze z ostatniego commit plik nazwa.txt przywróci do index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Natomiast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to co jest obecnie w index umieści w katalogu roboczym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Sprawdzenie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wykonuje się poleceniem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git restore nazwa-pliku</a:t>
            </a:r>
            <a:endParaRPr b="1"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5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rebase -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interactive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 HEAD~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19" name="Google Shape;319;p51"/>
          <p:cNvSpPr txBox="1"/>
          <p:nvPr>
            <p:ph idx="1" type="body"/>
          </p:nvPr>
        </p:nvSpPr>
        <p:spPr>
          <a:xfrm>
            <a:off x="729450" y="2078875"/>
            <a:ext cx="7688700" cy="306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rebase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służy do przeniesienia commit z jednego miejsca do drugiego.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W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szczególności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do poprawy commit, 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łączenia</a:t>
            </a:r>
            <a:r>
              <a:rPr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 ich, układania w odpowiedniej kolejności, usuniecia zbędnych commit</a:t>
            </a:r>
            <a:endParaRPr sz="14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Commands: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p, pick &lt;commit&gt; = use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r, reword &lt;commit&gt; = use commit, but edit the commit message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e, edit &lt;commit&gt; = use commit, but stop for amending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s, squash &lt;commit&gt; = use commit, but meld into previous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f, fixup &lt;commit&gt; = like "squash", but discard this commit's log message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x, exec &lt;command&gt; = run command (the rest of the line) using shell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b, break = stop here (continue rebase later with 'git rebase --continue')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d, drop &lt;commit&gt; = remove commit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l, label &lt;label&gt; = label current HEAD with a name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t, reset &lt;label&gt; = reset HEAD to a label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m, merge [-C &lt;commit&gt; | -c &lt;commit&gt;] &lt;label&gt; [# &lt;oneline&gt;]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create a merge commit using the original merge commit's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message (or the oneline, if no original merge commit was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# .       specified). Use -c &lt;commit&gt; to reword the commit message.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 branch -verbose, git branch nowy-brache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25" name="Google Shape;325;p5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 branch -v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wyświetla listę wszystkich gałęz</a:t>
            </a: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i r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azem z ostatnim commitem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na każdej z nich (skrót commit hash + pierwsza linia wiadomości, gdzie * oznacza branche na którym jesteśmy)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 branch –list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</a:t>
            </a: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zwraca listę branch (tylko nazwę)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branch -m nowy-branch nowa-nazwa-branch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zmienia nazwę branch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branch -d nazwa-branch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- usuwa branch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checkout nazwa-branch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1" name="Google Shape;331;p5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checkout nazwa-branch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przełączenie się na brancha (gałąź) o podanej nazwie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checkout -b nazwa-branch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- tworzy nowy branch i od razu przełącza się na niego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C4587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1C4587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stash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37" name="Google Shape;337;p5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tymczasowo odkłada Twoje zmiany na bok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tak żeby repo wyglądało, jakby nie było żadnych zmian. Zmiany muszą znajdować się w index aby można było je odłożyć na bok za pomocą polecenia git stash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 list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wyświetla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listę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stash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stash pop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- zdejmuje z listy stash ostatnią zmianę oraz wyświetla szczegółowe informacje o statusie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5"/>
          <p:cNvSpPr txBox="1"/>
          <p:nvPr>
            <p:ph type="title"/>
          </p:nvPr>
        </p:nvSpPr>
        <p:spPr>
          <a:xfrm>
            <a:off x="716312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merge nazwa_branch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3" name="Google Shape;343;p5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merge nazwa_branch (lub nazwe commit, SHA-1)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łączy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(scalą)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historię wskazanej gałęzi z aktualną gałęzią na której jesteś.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endParaRPr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Mogą się pojawić konflikty.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Czyli jeśli te same linie w tych samych plikach zostały zmienione inaczej w obu branchach – powstaje konflikt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Rozwiązanie konfliktów wykonuje się przez otworzenie pliku w którym są konflikty. Usunięciu linii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&lt;&lt;&lt;&lt;&lt;&lt;&lt;, =======, &gt;&gt;&gt;&gt;&gt;&gt;&gt;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oraz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wybraniem poprawnej wersji.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Po czym należy dodać pliki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 $ git add nazwa_pliku_z_konfliktem </a:t>
            </a:r>
            <a:r>
              <a:rPr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i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wykonać commit</a:t>
            </a:r>
            <a:endParaRPr b="1" sz="14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clone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49" name="Google Shape;349;p56"/>
          <p:cNvSpPr txBox="1"/>
          <p:nvPr>
            <p:ph idx="1" type="body"/>
          </p:nvPr>
        </p:nvSpPr>
        <p:spPr>
          <a:xfrm>
            <a:off x="729450" y="2078875"/>
            <a:ext cx="7688700" cy="298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6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clone</a:t>
            </a: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 </a:t>
            </a:r>
            <a:r>
              <a:rPr b="1" lang="pl" sz="16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kopiuje całe zdalne repozytorium</a:t>
            </a: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z GitHuba) na Twój komputer. 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Oznacza to: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pobiera wszystkie pliki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pobiera całą historię commitów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ustawia domyślne połączenie z repozytorium (origin)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C343D"/>
              </a:buClr>
              <a:buSzPts val="1600"/>
              <a:buFont typeface="Tahoma"/>
              <a:buChar char="❏"/>
            </a:pPr>
            <a:r>
              <a:rPr b="1" lang="pl" sz="16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tworzy katalog z projektem</a:t>
            </a:r>
            <a:endParaRPr b="1" sz="1600">
              <a:solidFill>
                <a:srgbClr val="0C343D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6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git clone https://github.com/user/projekt.git</a:t>
            </a:r>
            <a:endParaRPr sz="16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push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55" name="Google Shape;355;p5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push 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-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wysyła Twoje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lokalne commity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zdalnego repozytorium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(np. GitHub, GitLab, Bitbucket).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push origin nazwa_brancha</a:t>
            </a:r>
            <a:endParaRPr b="1" sz="14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gdzie: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origin –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nazwa zdalnego repozytorium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nazwa_brancha</a:t>
            </a:r>
            <a:r>
              <a:rPr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gałąź, którą chcesz wysłać (np. main, feature/login)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C343D"/>
                </a:solidFill>
                <a:latin typeface="Tahoma"/>
                <a:ea typeface="Tahoma"/>
                <a:cs typeface="Tahoma"/>
                <a:sym typeface="Tahoma"/>
              </a:rPr>
              <a:t>Nie wysyła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stash, plików roboczych, nic co jest nie commit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pull 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1" name="Google Shape;361;p58"/>
          <p:cNvSpPr txBox="1"/>
          <p:nvPr>
            <p:ph idx="1" type="body"/>
          </p:nvPr>
        </p:nvSpPr>
        <p:spPr>
          <a:xfrm>
            <a:off x="729450" y="2078875"/>
            <a:ext cx="7688700" cy="2760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pull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-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 pobierania i integracji zmian z zdalnego repozytorium do lokalnej kopii projektu.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Łączy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ono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operacje git fetch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(pobieranie zmian)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i git merge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(scalanie ich z bieżącą gałęzią), co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pozwala na aktualizację lokalnego kodu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o najnowsze wersje od współpracowników.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git pull wykonuje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wewnętrznie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Fetch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Git pobiera wszystkie nowe commity i branchy z zdalnego repozytorium, ale nie zmienia lokalnych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Merge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Scalane są zmiany z pobranej gałęzi do Twojej lokalnej. Jeśli są konflikty (np. edytowałeś te same linie), Git poprosi o ich ręczne rozwiązanie.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p5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git fetch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67" name="Google Shape;367;p5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</a:t>
            </a: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it fetch -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pobierania zmian z zdalnego repozytorium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(np. z GitHuba) </a:t>
            </a:r>
            <a:r>
              <a:rPr b="1" lang="pl" sz="14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do lokalnego repozytorium, bez automatycznego scalania ich z Twoimi lokalnymi gałęziam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i. Aktualizuje ono informacje o zdalnych branchach (np. "origin/main"), co pozwala sprawdzić, co się zmieniło, zanim zdecydujesz się na integrację (np. via merge lub rebase)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6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git fetch vs git pull</a:t>
            </a:r>
            <a:endParaRPr/>
          </a:p>
        </p:txBody>
      </p:sp>
      <p:sp>
        <p:nvSpPr>
          <p:cNvPr id="373" name="Google Shape;373;p60"/>
          <p:cNvSpPr txBox="1"/>
          <p:nvPr>
            <p:ph idx="1" type="body"/>
          </p:nvPr>
        </p:nvSpPr>
        <p:spPr>
          <a:xfrm>
            <a:off x="215900" y="2078875"/>
            <a:ext cx="87249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Co robi? 					Czy zmienia pliki lokalne?	Czy łączy zmiany?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fetch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pobiera zmiany z serwera 	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				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❌ NIE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pl" sz="14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git pull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	pobiera i łączy zmiany			✅ TAK					✅ TAK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6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Szyfrowanie sieci internetowych HTTPS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79" name="Google Shape;379;p61"/>
          <p:cNvSpPr txBox="1"/>
          <p:nvPr>
            <p:ph idx="1" type="body"/>
          </p:nvPr>
        </p:nvSpPr>
        <p:spPr>
          <a:xfrm>
            <a:off x="729450" y="2078875"/>
            <a:ext cx="76887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HTTPS (Hypertext Transfer Protocol Secure)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bezpieczna wersja protokołu HTTP używana w internecie do przesyłania danych między przeglądarką a serwerem. Dzięki HTTPS komunikacja jest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uwierzytelniana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integralna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co zapewnia ochronę danych użytkownika.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Co daje HTTPS?</a:t>
            </a:r>
            <a:endParaRPr/>
          </a:p>
        </p:txBody>
      </p:sp>
      <p:sp>
        <p:nvSpPr>
          <p:cNvPr id="385" name="Google Shape;385;p62"/>
          <p:cNvSpPr txBox="1"/>
          <p:nvPr>
            <p:ph idx="1" type="body"/>
          </p:nvPr>
        </p:nvSpPr>
        <p:spPr>
          <a:xfrm>
            <a:off x="729450" y="2078875"/>
            <a:ext cx="8263800" cy="284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Szyfrowanie (encryption)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przesyłane między przeglądarką a serwerem są zaszyfrowane przy pomocy protokołu </a:t>
            </a: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TLS (Transport Layer Security)</a:t>
            </a: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Nawet jeśli ktoś przechwyci ruch sieciowy – zobaczy tylko zaszyfrowane, bezużyteczne dane.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Uwierzytelnienie (authentication)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Certyfikat SSL/TLS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potwierdza, że strona, z którą się łączysz, jest prawdziwa i należy do właściwej firmy lub osoby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Integralność danych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Zapewnia, że dane nie zostały zmienione po drodze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nikt nie może ich potajemnie edytować, podmienić ani wstrzyknąć złośliwy kod.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6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Certyfikaty internetowe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91" name="Google Shape;391;p6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Certyfikaty internetowe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(zwane także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certyfikatami cyfrowymi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SSL/TLS certyfikatami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) to specjalne elektroniczne dokumenty, które służą do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potwierdzania tożsamości stron w internecie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oraz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umożliwiają bezpieczne, szyfrowane połączenia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między użytkownikiem a serwerem.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Jest oparty na standardzie X.509 i zawiera zestaw kluczowych informacji, które służą do weryfikacji tożsamości serwera oraz umożliwienia szyfrowania danych.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6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certyfikaty internetowe</a:t>
            </a:r>
            <a:endParaRPr/>
          </a:p>
        </p:txBody>
      </p:sp>
      <p:sp>
        <p:nvSpPr>
          <p:cNvPr id="397" name="Google Shape;397;p64"/>
          <p:cNvSpPr txBox="1"/>
          <p:nvPr>
            <p:ph idx="1" type="body"/>
          </p:nvPr>
        </p:nvSpPr>
        <p:spPr>
          <a:xfrm>
            <a:off x="729450" y="2078875"/>
            <a:ext cx="7688700" cy="293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1️⃣ 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Potwierdzają tożsamość strony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zapewnia, że strona, którą odwiedzasz, jest rzeczywiście tym, za co się podaje.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Przykład: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Jeśli wpisujesz</a:t>
            </a:r>
            <a:r>
              <a:rPr lang="pl" sz="1100">
                <a:solidFill>
                  <a:srgbClr val="000000"/>
                </a:solidFill>
                <a:uFill>
                  <a:noFill/>
                </a:uFill>
                <a:latin typeface="Tahoma"/>
                <a:ea typeface="Tahoma"/>
                <a:cs typeface="Tahoma"/>
                <a:sym typeface="Tahoma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 </a:t>
            </a:r>
            <a:r>
              <a:rPr i="1" lang="pl" sz="1100" u="sng">
                <a:solidFill>
                  <a:schemeClr val="hlink"/>
                </a:solidFill>
                <a:latin typeface="Tahoma"/>
                <a:ea typeface="Tahoma"/>
                <a:cs typeface="Tahoma"/>
                <a:sym typeface="Tahoma"/>
                <a:hlinkClick r:id="rId4"/>
              </a:rPr>
              <a:t>https://bank.pl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certyfikat gwarantuje, że łączysz się z prawdziwym bankiem, a nie z fałszywą stroną.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2️⃣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 Umożliwiają szyfrowanie danych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zawiera </a:t>
            </a:r>
            <a:r>
              <a:rPr b="1"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używany do bezpiecznego przesyłania danych.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Dzięki temu: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hasła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numery kart płatniczych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osobowe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są zaszyfrowane i niemożliwe do odczytania przez osoby trzecie.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3️⃣ </a:t>
            </a:r>
            <a:r>
              <a:rPr b="1" lang="pl" sz="1700">
                <a:solidFill>
                  <a:srgbClr val="783F04"/>
                </a:solidFill>
                <a:latin typeface="Tahoma"/>
                <a:ea typeface="Tahoma"/>
                <a:cs typeface="Tahoma"/>
                <a:sym typeface="Tahoma"/>
              </a:rPr>
              <a:t>Są wystawiane przez zaufane instytucje</a:t>
            </a:r>
            <a:endParaRPr b="1" sz="1700">
              <a:solidFill>
                <a:srgbClr val="783F0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45720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Nazywa się je </a:t>
            </a:r>
            <a:r>
              <a:rPr b="1"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CA – Certificate Authority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np.: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Let's Encrypt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DigiCert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GlobalSign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77495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Sectigo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Przeglądarki ufają tym instytucjom.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6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internetowy zawiera m.in.: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03" name="Google Shape;403;p6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Wersja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(Version)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Określa wersję standardu certyfikatu (np. wersja 3 dla X.509 v3).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Numer seryjny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(Serial Number)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Unikalny identyfikator nadany przez urząd certyfikacji (CA).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Algorytm podpisu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(Signature Algorithm)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Określa algorytm użyty do podpisania certyfikatu (np. SHA-256 with RSA).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Wydawca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(Issuer)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urzędu certyfikacji, który wystawił certyfikat, w tym nazwa, kraj, organizacja itp.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Okres ważności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(Validity)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Daty "od" (Not Before) i "do" (Not After), definiujące, kiedy certyfikat jest aktywny.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6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Certyfikat internetowy zawiera m.in.: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6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Podmiot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(Subject)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właściciela certyfikatu, np. nazwa domeny (Common Name), organizacja, kraj, miasto.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Informacje o kluczu publicznym podmiotu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(Subject Public Key Info)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Klucz publiczny serwera oraz algorytm klucza (np. RSA lub ECDSA).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Rozszerzenia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(Extensions)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Dodatkowe pola, takie jak Subject Alternative Names (SAN) dla alternatywnych domen, użycie klucza (Key Usage), autorytet certyfikacji itp.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Podpis cyfrowy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(Signature)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Podpis urzędu CA, weryfikujący autentyczność certyfikatu.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6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Rodzaje certyfikatów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5" name="Google Shape;415;p6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DV – Domain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Najprostsze i najtańsze (np. Let's Encrypt).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Sprawdzana jest tylko domena.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OV – Organization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Weryfikowana jest firma, która posiada domenę.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400"/>
              </a:spcBef>
              <a:spcAft>
                <a:spcPts val="0"/>
              </a:spcAft>
              <a:buSzPts val="1018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➡️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EV – Extended Validation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Najwyższy poziom weryfikacji – pełna weryfikacja organizacji.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Kiedyś prezentowane jako zielony pasek w przeglądarce.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6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SSL czy TLS</a:t>
            </a:r>
            <a:endParaRPr/>
          </a:p>
        </p:txBody>
      </p:sp>
      <p:sp>
        <p:nvSpPr>
          <p:cNvPr id="421" name="Google Shape;421;p6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SSL (Secure Sockets Layer)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To starszy protokół szyfrowania, opracowany w latach 90. przez Netscape. Jego ostatnie wersje (SSL 2.0 i 3.0) miały poważne luki bezpieczeństwa, dlatego od dawna nie są zalecane i nie są używane w praktyce.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TLS (Transport Layer Security)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To ulepszona i bezpieczniejsza wersja SSL, rozwijana od 1999 roku. Aktualne wersje to TLS 1.2 i TLS 1.3 (TLS 1.0 i 1.1 też są przestarzałe i wycofywane). TLS jest standardem de facto w dzisiejszym internecie.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5" name="Shape 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Google Shape;426;p6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end-to-end (E2EE)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27" name="Google Shape;427;p6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metoda zabezpieczania komunikacji</a:t>
            </a:r>
            <a:r>
              <a:rPr lang="pl" sz="1400">
                <a:solidFill>
                  <a:srgbClr val="001D35"/>
                </a:solidFill>
                <a:latin typeface="Tahoma"/>
                <a:ea typeface="Tahoma"/>
                <a:cs typeface="Tahoma"/>
                <a:sym typeface="Tahoma"/>
              </a:rPr>
              <a:t>, dzięki której wiadomość jest </a:t>
            </a: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dostępna tylko dla nadawcy i odbiorcy</a:t>
            </a:r>
            <a:r>
              <a:rPr lang="pl" sz="1400">
                <a:solidFill>
                  <a:srgbClr val="1C4587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. </a:t>
            </a:r>
            <a:r>
              <a:rPr b="1" lang="pl" sz="1400">
                <a:solidFill>
                  <a:srgbClr val="1C4587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Dane są szyfrowane na urządzeniu nadawcy i odszyfrowywane dopiero na urządzeniu odbiorcy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, co oznacza, że żaden pośrednik, w tym dostawca usługi, nie ma dostępu do ich treści.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✔️ Przykład: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WhatsApp,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Signal 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7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40000"/>
              </a:lnSpc>
              <a:spcBef>
                <a:spcPts val="1500"/>
              </a:spcBef>
              <a:spcAft>
                <a:spcPts val="800"/>
              </a:spcAft>
              <a:buNone/>
            </a:pPr>
            <a:r>
              <a:rPr lang="pl" sz="2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Jak działa?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33" name="Google Shape;433;p7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Klucze szyfrujące</a:t>
            </a:r>
            <a:r>
              <a:rPr b="1"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end-to-end opiera się na parze kluczy: publicznego (do szyfrowania) i prywatnego (do deszyfrowania).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Szyfrowanie u nadawcy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Wiadomość jest szyfrowana kluczem publicznym nadawcy i wysyłana.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Odszyfrowanie u odbiorcy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 Tylko klucz prywatny odbiorcy jest w stanie odszyfrować wiadomość, która dociera do niego w nieczytelnej formie.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400"/>
              <a:buFont typeface="Roboto"/>
              <a:buChar char="●"/>
            </a:pPr>
            <a:r>
              <a:rPr b="1" lang="pl" sz="1400">
                <a:solidFill>
                  <a:srgbClr val="38761D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Brak dostępu dla pośredników</a:t>
            </a:r>
            <a:r>
              <a:rPr b="1"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1400">
                <a:solidFill>
                  <a:srgbClr val="0A0A0A"/>
                </a:solidFill>
                <a:highlight>
                  <a:srgbClr val="FFFFFF"/>
                </a:highlight>
                <a:latin typeface="Tahoma"/>
                <a:ea typeface="Tahoma"/>
                <a:cs typeface="Tahoma"/>
                <a:sym typeface="Tahoma"/>
              </a:rPr>
              <a:t> Żaden serwer pośredniczący ani dostawca usługi nie ma możliwości odszyfrowania wiadomości, ponieważ nie posiada klucza prywatnego. </a:t>
            </a:r>
            <a:endParaRPr sz="1400">
              <a:solidFill>
                <a:srgbClr val="0A0A0A"/>
              </a:solidFill>
              <a:highlight>
                <a:srgbClr val="FFFFFF"/>
              </a:highlight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7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39" name="Google Shape;439;p71"/>
          <p:cNvSpPr txBox="1"/>
          <p:nvPr>
            <p:ph idx="1" type="body"/>
          </p:nvPr>
        </p:nvSpPr>
        <p:spPr>
          <a:xfrm>
            <a:off x="729450" y="2078875"/>
            <a:ext cx="7688700" cy="280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Zapewnia wysoki poziom prywatności – tylko nadawca i odbiorca mogą odczytać dane, chroniąc przed podsłuchem, hakerami czy szpiegostwem rządowym.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są bezpieczne nawet w przypadku naruszenia serwera dostawcy, ponieważ są zaszyfrowane.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Utrudnia masową inwigilację, co jest korzystne dla wolności słowa i ochrony danych osobowych.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Chroni przed nadużyciami ze strony firm lub rządów, promując zaufanie do usług komunikacyjnych.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-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Minimalizuje ryzyko wycieków danych w tranzycie, co jest kluczowe w aplikacjach jak komunikatory (np. Signal, WhatsApp).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7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Wady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45" name="Google Shape;445;p72"/>
          <p:cNvSpPr txBox="1"/>
          <p:nvPr>
            <p:ph idx="1" type="body"/>
          </p:nvPr>
        </p:nvSpPr>
        <p:spPr>
          <a:xfrm>
            <a:off x="729450" y="2078875"/>
            <a:ext cx="7688700" cy="28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Jeśli użytkownik zgubi klucz prywatny lub hasło, dane stają się nieodwracalnie niedostępne (brak możliwości odzyskania przez dostawcę).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Zwiększa złożoność systemu – wymaga prawidłowego zarządzania kluczami, co może być trudne dla mniej technicznych użytkowników.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Platformy nie mogą monitorować treści, co utrudnia walkę z nielegalnymi materiałami (np. dezinformacją, mową nienawiści czy treściami pedofilskimi).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Może komplikować egzekwowanie prawa – organy ścigania nie mają dostępu do danych, co budzi kontrowersje w sprawach bezpieczeństwa narodowego.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-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Wpływa na wydajność – szyfrowanie i deszyfrowanie wymaga więcej zasobów obliczeniowych, co może spowalniać urządzenia.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9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7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Kryptografia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51" name="Google Shape;451;p7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Kryptografia to dziedzina nauki i techniki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zajmująca się ochroną informacji poprzez ich szyfrowanie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deszyfrowanie oraz zapewnianie bezpieczeństwa komunikacji i danych</a:t>
            </a: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. Pochodzi od greckich słów "kryptos" (ukryty) i "graphein" (pisać), co dosłownie oznacza "tajne pisanie". </a:t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W praktyce kryptografia pozwala na przekształcanie czytelnych danych (zwanych tekstem jawnym) w formę nieczytelną (tekst zaszyfrowany) za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pomocą algorytmów i kluczy</a:t>
            </a:r>
            <a:r>
              <a:rPr b="1"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r>
              <a:rPr lang="pl" sz="14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 a następnie na ich odzyskiwanie tylko przez upoważnione osoby.</a:t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7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Główne elementy kryptografii:</a:t>
            </a:r>
            <a:endParaRPr sz="2400"/>
          </a:p>
        </p:txBody>
      </p:sp>
      <p:sp>
        <p:nvSpPr>
          <p:cNvPr id="457" name="Google Shape;457;p7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Szyfrowanie (encryption)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Proces konwersji danych na formę zaszyfrowaną, aby uniemożliwić nieautoryzowany dostęp.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Deszyfrowanie (decryption)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Odwrotny proces, wymagający klucza do przywrócenia oryginalnej formy danych.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Klucze kryptograficzne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Sekretne wartości używane w algorytmach do szyfrowania i deszyfrowania. Mogą być symetryczne (ten sam klucz do obu procesów) lub asymetryczne (para kluczy: publiczny i prywatny).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b="1" lang="pl" sz="11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Algorytmy kryptograficzne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Matematyczne procedury, np. AES (symetryczny), RSA (asymetryczny) czy SHA (do haszowania).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7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Zastosowania kryptografii: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63" name="Google Shape;463;p7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Bezpieczeństwo online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W protokołach jak HTTPS (szyfrowanie stron internetowych), VPN czy end-to-end encryption (E2EE) w komunikatorach (np. Signal, WhatsApp).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Ochrona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W bankowości (karty płatnicze, transakcje), medycynie (rekordy pacjentów) czy wojskowości (tajne komunikaty).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Blockchain i kryptowaluty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Podstawa Bitcoin i innych, zapewniająca integralność transakcji.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Podpisy cyfrowe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Weryfikacja autentyczności dokumentów lub oprogramowania.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7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7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69" name="Google Shape;469;p76"/>
          <p:cNvSpPr txBox="1"/>
          <p:nvPr>
            <p:ph idx="1" type="body"/>
          </p:nvPr>
        </p:nvSpPr>
        <p:spPr>
          <a:xfrm>
            <a:off x="729450" y="2078875"/>
            <a:ext cx="7688700" cy="291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klucz, który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możesz udostępniać każdemu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szyfrowania wiadomości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mają trafić do Ciebie.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Każdy, kto zna Twój klucz publiczny, może wysłać Ci zaszyfrowaną wiadomość, ale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tylko Ty możesz ją odczytać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Chcesz, żeby ktoś wysłał Ci bezpieczną wiadomość. Podajesz mu swój klucz publiczny, on szyfruje wiadomość, a następnie wysyła do Ciebie.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3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7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prywatny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75" name="Google Shape;475;p7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klucz, który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zawsze musisz trzymać w tajemnicy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Służy do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odszyfrowania wiadomości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zaszyfrowanych Twoim kluczem publicznym.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Tylko osoba posiadająca klucz prywatny może odczytać wiadomość.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Kiedy otrzymujesz zaszyfrowaną wiadomość, używasz swojego klucza prywatnego, aby odszyfrować jej treść i ją przeczytać.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7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symetryczny (Symmetric Key)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81" name="Google Shape;481;p7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 kryptografii symetrycznej do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szyfrowania i odszyfrowywania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danych używa się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tego samego klucza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musi być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tajny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i znany tylko nadawcy i odbiorcy.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algorytmów: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AES, DES.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7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AES (Advanced Encryption Standard)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87" name="Google Shape;487;p7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AES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symetryczny algorytm szyfrowania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co oznacza, że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ten sam klucz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służy do szyfrowania i odszyfrowywania danych. Jest bardzo szybki i wydajny, dlatego stosuje się go do szyfrowania dużych ilości danych.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przy użyciu klucza AES.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tego samego klucza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aby odszyfrować wiadomość.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93" name="Google Shape;493;p8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za pomocą klucza symetrycznego.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trafia do odbiorcy.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tego samego klucza, aby odszyfrować wiadomość.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Szybkie szyfrowanie i odszyfrowywanie (wydajne dla dużych danych).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Problem z bezpiecznym przesłaniem klucza – jeśli ktoś przechwyci klucz, może odczytać wszystkie wiadomości.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7" name="Shape 4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Google Shape;498;p8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Klucz asymetryczny (Asymmetric Key)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99" name="Google Shape;499;p8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 kryptografii asymetrycznej używa się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pary kluczy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do szyfrowania wiadomości.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prywatny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do odszyfrowania wiadomości.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 może być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udostępniany każdemu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 klucz prywatny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pozostaje tajny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algorytmów: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RSA, ECC.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8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RSA (Rivest–Shamir–Adleman)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05" name="Google Shape;505;p8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RSA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asymetryczny algorytm szyfrowania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który używa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pary kluczy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publiczny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→ do szyfrowania wiadomości.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 prywatny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→ do odszyfrowania wiadomości.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Umożliwia bezpieczne przesyłanie danych nawet przez niezabezpieczone kanały.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kluczem publicznym odbiorcy.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swojego klucza prywatnego, aby odszyfrować wiadomość.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8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działa w praktyce: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11" name="Google Shape;511;p8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Nadawca szyfruje wiadomość kluczem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publicznym odbiorcy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Wiadomość trafia w formie zaszyfrowanej.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Odbiorca używa swojego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klucza prywatnego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aby odszyfrować wiadomość.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Zalety: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Bezpieczne przesyłanie wiadomości, nawet jeśli klucz publiczny jest znany wszystkim.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Idealne dla komunikacji w Internecie (np. E2EE).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Wady: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Wolniejsze niż szyfrowanie symetryczne, szczególnie dla dużych plików.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8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Polityki bezpieczeństwa w sieci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17" name="Google Shape;517;p8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zestaw zasad, procedur i wytycznych, które mówią, </a:t>
            </a:r>
            <a:r>
              <a:rPr b="1"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jak chronić systemy komputerowe, dane i użytkowników przed zagrożeniami w internecie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Są one stosowane w firmach, szkołach, organizacjach, a czasem nawet w domowych sieciach.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Można powiedzieć, że polityki bezpieczeństwa to </a:t>
            </a: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instrukcja, jak dbać o bezpieczeństwo sieci i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8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 co istnieją polityki bezpieczeństwa?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23" name="Google Shape;523;p85"/>
          <p:cNvSpPr txBox="1"/>
          <p:nvPr>
            <p:ph idx="1" type="body"/>
          </p:nvPr>
        </p:nvSpPr>
        <p:spPr>
          <a:xfrm>
            <a:off x="729450" y="2078875"/>
            <a:ext cx="7688700" cy="270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Aby chronić: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dane (przed utratą, wyciekiem, zniszczeniem)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np.: 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obowiązek </a:t>
            </a: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tworzenia kopii zapasowych (backupów)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systemy (przed atakami i awariami)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np.: 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stosowanie </a:t>
            </a: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antywirusa i zapory sieciowej (firewall)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użytkowników (przed zagrożeniami)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np.: 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polityka </a:t>
            </a: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silnych haseł, 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automatyczne </a:t>
            </a: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wylogowanie po czasie bezczynności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firmę/szkołę (przed stratami i odpowiedzialnością prawną)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np.: 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zgodność z </a:t>
            </a: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RODO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– ochrona danych osobowych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p8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Co zawierają polityki bezpieczeństwa w sieci?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29" name="Google Shape;529;p86"/>
          <p:cNvSpPr txBox="1"/>
          <p:nvPr>
            <p:ph idx="1" type="body"/>
          </p:nvPr>
        </p:nvSpPr>
        <p:spPr>
          <a:xfrm>
            <a:off x="729450" y="2078875"/>
            <a:ext cx="7688700" cy="298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1. Zasady korzystania z sieci i komputerów</a:t>
            </a:r>
            <a:endParaRPr b="1" sz="17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kto ma dostęp do sieci,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jakie urządzenia mogą się łączyć,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jakie oprogramowanie jest dozwolone.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2. Zasady tworzenia i zarządzania hasłami</a:t>
            </a:r>
            <a:endParaRPr b="1" sz="17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minimalna długość hasła,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konieczność zmiany co X dni,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zakaz używania jednego hasła do wszystkiego.</a:t>
            </a:r>
            <a:b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1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7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3. Ochrona przed wirusami i malware</a:t>
            </a:r>
            <a:endParaRPr b="1" sz="17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obowiązkowe aktualizacje,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używanie antywirusów,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Tahoma"/>
              <a:buChar char="●"/>
            </a:pP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zakaz otwierania podejrzanych załączników.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3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8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Co zawierają polityki bezpieczeństwa w sieci?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8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4. Dostęp do danych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kto ma dostęp do jakich plików,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przechowywać dane wrażliwe (szyfrowanie).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5. Zasady pracy zdalnej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VPN,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zabezpieczone Wi-Fi,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sprawdzone urządzenia.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6. Kopie zapasowe (backupy)</a:t>
            </a:r>
            <a:endParaRPr b="1"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 często robić,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gdzie przechowywać,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kto jest odpowiedzialny.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p8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40573"/>
              <a:buFont typeface="Arial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Co zawierają polityki bezpieczeństwa w sieci?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88"/>
          <p:cNvSpPr txBox="1"/>
          <p:nvPr>
            <p:ph idx="1" type="body"/>
          </p:nvPr>
        </p:nvSpPr>
        <p:spPr>
          <a:xfrm>
            <a:off x="729450" y="2078875"/>
            <a:ext cx="7688700" cy="295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2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7. Reagowanie na incydenty bezpieczeństwa</a:t>
            </a:r>
            <a:endParaRPr b="1" sz="12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co zrobić, jeśli nastąpi: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○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włamanie,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○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infekcja systemu,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○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utrata danych,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1" marL="914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○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próba phishingu.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2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8. Ochrona sieci</a:t>
            </a:r>
            <a:endParaRPr b="1" sz="12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firewalle,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filtrowanie stron,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kontrola ruchu (monitoring sieci),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aktualizacja systemów.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2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✔ 9. Polityka prywatności użytkowników</a:t>
            </a:r>
            <a:endParaRPr b="1" sz="12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co można logować,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jakie dane są zbierane,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kto je może przeglądać.</a:t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5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p8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2400"/>
              </a:spcBef>
              <a:spcAft>
                <a:spcPts val="0"/>
              </a:spcAft>
              <a:buNone/>
            </a:pPr>
            <a:r>
              <a:rPr lang="pl" sz="2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Przykłady polityk bezpieczeństwa</a:t>
            </a:r>
            <a:endParaRPr sz="2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8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haseł,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dostępu do sieci Wi-Fi,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aktualizacji systemów,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backupów,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korzystania z urządzeń USB,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pracy zdalnej,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8135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10"/>
              <a:buFont typeface="Tahoma"/>
              <a:buChar char="❏"/>
            </a:pPr>
            <a:r>
              <a:rPr lang="pl" sz="141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polityka zabezpieczenia serwerowni.</a:t>
            </a:r>
            <a:endParaRPr sz="14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sz="111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p9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Dlaczego polityki bezpieczeństwa są ważne?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53" name="Google Shape;553;p9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 Zapobiegają: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atakom hakerów,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kradzieży danych,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infekcjom malware,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wyciekom danych osobowych (RODO),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przestojom firmy/szkoły,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0356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134F5C"/>
              </a:buClr>
              <a:buSzPts val="1288"/>
              <a:buFont typeface="Tahoma"/>
              <a:buChar char="●"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awariom systemów.</a:t>
            </a:r>
            <a:b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pl" sz="1412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To podstawowy element cyberbezpieczeństwa</a:t>
            </a:r>
            <a:endParaRPr sz="1412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9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Cyberbezpieczeństwo</a:t>
            </a:r>
            <a:endParaRPr sz="39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59" name="Google Shape;559;p91"/>
          <p:cNvSpPr txBox="1"/>
          <p:nvPr>
            <p:ph idx="1" type="body"/>
          </p:nvPr>
        </p:nvSpPr>
        <p:spPr>
          <a:xfrm>
            <a:off x="729450" y="2078875"/>
            <a:ext cx="7688700" cy="28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zbiór: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41B47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zasad,</a:t>
            </a:r>
            <a:endParaRPr sz="1400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41B47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technologii,</a:t>
            </a:r>
            <a:endParaRPr sz="1400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41B47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procedur i działań,</a:t>
            </a:r>
            <a:endParaRPr sz="1400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których celem jest </a:t>
            </a: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ochrona systemów komputerowych, sieci, urządzeń i danych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przed: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atakami,</a:t>
            </a:r>
            <a:endParaRPr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kradzieżą,</a:t>
            </a:r>
            <a:endParaRPr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zniszczeniem,</a:t>
            </a:r>
            <a:endParaRPr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F6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nieuprawnionym dostępem.</a:t>
            </a:r>
            <a:endParaRPr sz="1400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Dotyczy komputerów, smartfonów, Internetu, serwerów, chmur, sieci Wi-Fi.</a:t>
            </a:r>
            <a:endParaRPr b="1"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3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Google Shape;564;p9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Cyberbezpieczeństwo służy do: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65" name="Google Shape;565;p9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❏"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ochrony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danych osobowych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(np. PESEL, hasła, oceny),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0"/>
              <a:buFont typeface="Tahoma"/>
              <a:buChar char="❏"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zabezpieczenia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systemów informatycznych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b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0"/>
              <a:buFont typeface="Tahoma"/>
              <a:buChar char="❏"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zapewnienia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ciągłości działania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firmy, szkoły lub instytucji,</a:t>
            </a:r>
            <a:b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0"/>
              <a:buFont typeface="Tahoma"/>
              <a:buChar char="❏"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ochrony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użytkowników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 przed oszustwami i zagrożeniami w sieci,</a:t>
            </a:r>
            <a:b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0"/>
              <a:buFont typeface="Tahoma"/>
              <a:buChar char="❏"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zapobiegania </a:t>
            </a:r>
            <a:r>
              <a:rPr b="1"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atakom hakerskim i wirusom</a:t>
            </a: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9" name="Shape 5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Google Shape;570;p9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Zalety cyberbezpieczeństwa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71" name="Google Shape;571;p9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Najważniejsze zalety:</a:t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ochrona danych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przed wyciekiem i kradzieżą,</a:t>
            </a:r>
            <a:endParaRPr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bezpieczne działanie systemów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i sieci,</a:t>
            </a:r>
            <a:endParaRPr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ochrona użytkowników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przed phishingiem i malware,</a:t>
            </a:r>
            <a:endParaRPr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mniejsze straty finansowe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,</a:t>
            </a:r>
            <a:endParaRPr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zgodność z prawem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(np. RODO),</a:t>
            </a:r>
            <a:endParaRPr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ochrona reputacji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 szkoły lub firmy.</a:t>
            </a:r>
            <a:endParaRPr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400"/>
              </a:spcBef>
              <a:spcAft>
                <a:spcPts val="400"/>
              </a:spcAft>
              <a:buSzPts val="990"/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zagrożeń, przed którymi chroni </a:t>
            </a: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</a:t>
            </a: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yberbezpieczeństwo:</a:t>
            </a:r>
            <a:endParaRPr sz="2400"/>
          </a:p>
        </p:txBody>
      </p:sp>
      <p:sp>
        <p:nvSpPr>
          <p:cNvPr id="577" name="Google Shape;577;p9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817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5"/>
              <a:buFont typeface="Tahoma"/>
              <a:buChar char="❏"/>
            </a:pPr>
            <a: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phishing (fałszywe maile),</a:t>
            </a:r>
            <a:b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817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5"/>
              <a:buFont typeface="Tahoma"/>
              <a:buChar char="❏"/>
            </a:pPr>
            <a: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wirusy i ransomware,</a:t>
            </a:r>
            <a:b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817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5"/>
              <a:buFont typeface="Tahoma"/>
              <a:buChar char="❏"/>
            </a:pPr>
            <a: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kradzież danych,</a:t>
            </a:r>
            <a:b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817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5"/>
              <a:buFont typeface="Tahoma"/>
              <a:buChar char="❏"/>
            </a:pPr>
            <a: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ataki DDoS,</a:t>
            </a:r>
            <a:b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817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4E13"/>
              </a:buClr>
              <a:buSzPts val="1405"/>
              <a:buFont typeface="Tahoma"/>
              <a:buChar char="❏"/>
            </a:pPr>
            <a:r>
              <a:rPr b="1" lang="pl" sz="1405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podsłuchiwanie sieci Wi-Fi.</a:t>
            </a:r>
            <a:endParaRPr b="1" sz="1405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5"/>
          <p:cNvSpPr txBox="1"/>
          <p:nvPr>
            <p:ph type="title"/>
          </p:nvPr>
        </p:nvSpPr>
        <p:spPr>
          <a:xfrm>
            <a:off x="729450" y="1318650"/>
            <a:ext cx="82833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SzPts val="990"/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Cyberbezpieczeństwo zagrożenia i zabezpieczenia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583" name="Google Shape;583;p9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Zagrożenie</a:t>
            </a: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						</a:t>
            </a:r>
            <a:r>
              <a:rPr b="1"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Zabezpieczenie</a:t>
            </a:r>
            <a:endParaRPr b="1"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660000"/>
                </a:solidFill>
                <a:latin typeface="Tahoma"/>
                <a:ea typeface="Tahoma"/>
                <a:cs typeface="Tahoma"/>
                <a:sym typeface="Tahoma"/>
              </a:rPr>
              <a:t>Phishing (fałszywe e-maile, SMS-y)	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		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szkolenia użytkowników, filtry antyspamowe</a:t>
            </a:r>
            <a:endParaRPr sz="1400">
              <a:solidFill>
                <a:srgbClr val="18803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660000"/>
                </a:solidFill>
                <a:latin typeface="Tahoma"/>
                <a:ea typeface="Tahoma"/>
                <a:cs typeface="Tahoma"/>
                <a:sym typeface="Tahoma"/>
              </a:rPr>
              <a:t>Wirusy i malware	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					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program antywirusowy, aktualizacje systemu</a:t>
            </a:r>
            <a:endParaRPr sz="1400">
              <a:solidFill>
                <a:srgbClr val="18803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660000"/>
                </a:solidFill>
                <a:latin typeface="Tahoma"/>
                <a:ea typeface="Tahoma"/>
                <a:cs typeface="Tahoma"/>
                <a:sym typeface="Tahoma"/>
              </a:rPr>
              <a:t>Ransomware (blokada plików)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			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kopie zapasowe (backup), antywirus</a:t>
            </a:r>
            <a:endParaRPr sz="1400">
              <a:solidFill>
                <a:srgbClr val="18803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660000"/>
                </a:solidFill>
                <a:latin typeface="Tahoma"/>
                <a:ea typeface="Tahoma"/>
                <a:cs typeface="Tahoma"/>
                <a:sym typeface="Tahoma"/>
              </a:rPr>
              <a:t>Kradzież haseł	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					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silne hasła, uwierzytelnianie dwuetapowe (2FA)</a:t>
            </a:r>
            <a:endParaRPr sz="1400">
              <a:solidFill>
                <a:srgbClr val="188038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660000"/>
                </a:solidFill>
                <a:latin typeface="Tahoma"/>
                <a:ea typeface="Tahoma"/>
                <a:cs typeface="Tahoma"/>
                <a:sym typeface="Tahoma"/>
              </a:rPr>
              <a:t>Nieautoryzowany dostęp	</a:t>
            </a:r>
            <a:r>
              <a:rPr lang="pl" sz="1400">
                <a:latin typeface="Tahoma"/>
                <a:ea typeface="Tahoma"/>
                <a:cs typeface="Tahoma"/>
                <a:sym typeface="Tahoma"/>
              </a:rPr>
              <a:t>			</a:t>
            </a:r>
            <a:r>
              <a:rPr lang="pl" sz="1400">
                <a:solidFill>
                  <a:srgbClr val="188038"/>
                </a:solidFill>
                <a:latin typeface="Tahoma"/>
                <a:ea typeface="Tahoma"/>
                <a:cs typeface="Tahoma"/>
                <a:sym typeface="Tahoma"/>
              </a:rPr>
              <a:t>kontrola dostępu, loginy i role</a:t>
            </a:r>
            <a:endParaRPr sz="1400">
              <a:solidFill>
                <a:srgbClr val="188038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p96"/>
          <p:cNvSpPr txBox="1"/>
          <p:nvPr>
            <p:ph type="title"/>
          </p:nvPr>
        </p:nvSpPr>
        <p:spPr>
          <a:xfrm>
            <a:off x="606025" y="1318650"/>
            <a:ext cx="79251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Clr>
                <a:srgbClr val="000000"/>
              </a:buClr>
              <a:buSzPts val="990"/>
              <a:buFont typeface="Arial"/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Cyberbezpieczeństwo zagrożenia i zabezpieczenia</a:t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589" name="Google Shape;589;p9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660000"/>
                </a:solidFill>
              </a:rPr>
              <a:t>Wycieki danych					</a:t>
            </a:r>
            <a:r>
              <a:rPr lang="pl">
                <a:solidFill>
                  <a:srgbClr val="274E13"/>
                </a:solidFill>
              </a:rPr>
              <a:t>szyfrowanie danych, ograniczenie uprawnień</a:t>
            </a:r>
            <a:endParaRPr>
              <a:solidFill>
                <a:srgbClr val="274E13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660000"/>
                </a:solidFill>
              </a:rPr>
              <a:t>Ataki hakerskie					</a:t>
            </a:r>
            <a:r>
              <a:rPr lang="pl">
                <a:solidFill>
                  <a:srgbClr val="274E13"/>
                </a:solidFill>
              </a:rPr>
              <a:t>firewall, monitoring sieci</a:t>
            </a:r>
            <a:endParaRPr>
              <a:solidFill>
                <a:srgbClr val="274E13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660000"/>
                </a:solidFill>
              </a:rPr>
              <a:t>Podsłuch w sieci Wi-Fi	</a:t>
            </a:r>
            <a:r>
              <a:rPr lang="pl">
                <a:solidFill>
                  <a:srgbClr val="274E13"/>
                </a:solidFill>
              </a:rPr>
              <a:t>			szyfrowanie Wi-Fi (WPA2/WPA3)</a:t>
            </a:r>
            <a:endParaRPr>
              <a:solidFill>
                <a:srgbClr val="274E13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pl">
                <a:solidFill>
                  <a:srgbClr val="660000"/>
                </a:solidFill>
              </a:rPr>
              <a:t>Utrata danych (awaria sprzętu)	</a:t>
            </a:r>
            <a:r>
              <a:rPr lang="pl">
                <a:solidFill>
                  <a:srgbClr val="274E13"/>
                </a:solidFill>
              </a:rPr>
              <a:t>		regularne kopie zapasowe</a:t>
            </a:r>
            <a:endParaRPr>
              <a:solidFill>
                <a:srgbClr val="274E13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pl">
                <a:solidFill>
                  <a:srgbClr val="660000"/>
                </a:solidFill>
              </a:rPr>
              <a:t>Błędy użytkownika</a:t>
            </a:r>
            <a:r>
              <a:rPr lang="pl">
                <a:solidFill>
                  <a:srgbClr val="274E13"/>
                </a:solidFill>
              </a:rPr>
              <a:t>				szkolenia, procedury bezpieczeństwa</a:t>
            </a:r>
            <a:endParaRPr>
              <a:solidFill>
                <a:srgbClr val="274E13"/>
              </a:solidFill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3" name="Shape 5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Google Shape;594;p97"/>
          <p:cNvSpPr txBox="1"/>
          <p:nvPr>
            <p:ph type="title"/>
          </p:nvPr>
        </p:nvSpPr>
        <p:spPr>
          <a:xfrm>
            <a:off x="729450" y="1318650"/>
            <a:ext cx="8024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systemów infor. opartych na chmurach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95" name="Google Shape;595;p97"/>
          <p:cNvSpPr txBox="1"/>
          <p:nvPr>
            <p:ph idx="1" type="body"/>
          </p:nvPr>
        </p:nvSpPr>
        <p:spPr>
          <a:xfrm>
            <a:off x="729450" y="2078875"/>
            <a:ext cx="7688700" cy="285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Platformy chmurowe (IaaS / PaaS)</a:t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Amazon Web Services (AWS)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EC2, S3, Lambda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Microsoft Azure 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– App Services, Azure SQL, Functions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Google Cloud Platform (GCP)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Compute Engine, BigQuery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Oracle Cloud Infrastructure</a:t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Systemy biznesowe (SaaS)</a:t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Salesforce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CRM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SAP S/4HANA Cloud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ERP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Microsoft Dynamics 365</a:t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Workday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HR i finanse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HubSpot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marketing i CRM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Komunikacja i praca zespołowa</a:t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Microsoft 365 (Office 365)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Outlook, Teams, OneDrive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Google Workspace</a:t>
            </a:r>
            <a:r>
              <a:rPr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– Gmail, Drive, Docs</a:t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Slack</a:t>
            </a: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2921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Tahoma"/>
              <a:buChar char="●"/>
            </a:pPr>
            <a: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Zoom</a:t>
            </a:r>
            <a:br>
              <a:rPr b="1" lang="pl" sz="10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b="1"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9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Budowa systemów infor. opartych na chmurach</a:t>
            </a:r>
            <a:endParaRPr sz="2400"/>
          </a:p>
        </p:txBody>
      </p:sp>
      <p:sp>
        <p:nvSpPr>
          <p:cNvPr id="601" name="Google Shape;601;p9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System informatyczny oparty na chmurze to zbiór </a:t>
            </a: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współpracujących warstw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które razem umożliwiają przechowywanie danych, przetwarzanie informacji oraz dostęp do aplikacji przez Internet.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99"/>
          <p:cNvSpPr txBox="1"/>
          <p:nvPr>
            <p:ph type="title"/>
          </p:nvPr>
        </p:nvSpPr>
        <p:spPr>
          <a:xfrm>
            <a:off x="189625" y="1318650"/>
            <a:ext cx="88884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Warstwa infrastruktury (IaaS – Infrastructure as a Service)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07" name="Google Shape;607;p99"/>
          <p:cNvSpPr txBox="1"/>
          <p:nvPr>
            <p:ph idx="1" type="body"/>
          </p:nvPr>
        </p:nvSpPr>
        <p:spPr>
          <a:xfrm>
            <a:off x="729450" y="2078875"/>
            <a:ext cx="7688700" cy="274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podstawa całego systemu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Składa się z: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serwerów fizycznych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(data center dostawcy chmury)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351C75"/>
              </a:buClr>
              <a:buSzPts val="1400"/>
              <a:buFont typeface="Tahoma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maszyn wirtualnych</a:t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pamięci masowych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(dyski, obiekty – np. S3)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sieci komputerowych</a:t>
            </a: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(load balancery, firewalle)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Zapewnia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moc obliczeniową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przestrzeń dyskową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połączenia sieciowe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Przykład: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AWS EC2, Azure Virtual Machines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0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Warstwa platformy (PaaS – Platform as a Service)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13" name="Google Shape;613;p10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351C75"/>
                </a:solidFill>
                <a:latin typeface="Arial"/>
                <a:ea typeface="Arial"/>
                <a:cs typeface="Arial"/>
                <a:sym typeface="Arial"/>
              </a:rPr>
              <a:t>Ułatwia tworzenie i uruchamianie aplikacji. </a:t>
            </a:r>
            <a:endParaRPr b="1" sz="1100">
              <a:solidFill>
                <a:srgbClr val="351C7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Zawiera: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systemy operacyjne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środowiska uruchomieniowe (Java, .NET, Node.js)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serwery aplikacyjne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bazy danych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narzędzia developerskie</a:t>
            </a:r>
            <a:b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Programista </a:t>
            </a:r>
            <a:r>
              <a:rPr b="1" lang="pl" sz="1100">
                <a:solidFill>
                  <a:srgbClr val="351C75"/>
                </a:solidFill>
                <a:latin typeface="Arial"/>
                <a:ea typeface="Arial"/>
                <a:cs typeface="Arial"/>
                <a:sym typeface="Arial"/>
              </a:rPr>
              <a:t>nie zarządza serwerem</a:t>
            </a:r>
            <a:r>
              <a:rPr lang="pl" sz="1100">
                <a:solidFill>
                  <a:srgbClr val="351C75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tylko kodem.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Przykład:</a:t>
            </a:r>
            <a:r>
              <a:rPr lang="pl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Google App Engine, Azure App Service</a:t>
            </a:r>
            <a:endParaRPr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10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latin typeface="Tahoma"/>
                <a:ea typeface="Tahoma"/>
                <a:cs typeface="Tahoma"/>
                <a:sym typeface="Tahoma"/>
              </a:rPr>
              <a:t>Warstwa aplikacji (SaaS – Software as a Service)</a:t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19" name="Google Shape;619;p10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To </a:t>
            </a: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gotowe aplikacje dostępne przez przeglądarkę</a:t>
            </a:r>
            <a:r>
              <a:rPr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.</a:t>
            </a:r>
            <a:endParaRPr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Charakterystyka: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brak instalacji lokalnej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dostęp z dowolnego miejsca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aktualizacje po stronie dostawcy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Gmail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Microsoft 365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Salesforce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Dropbox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10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Warstwa danych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25" name="Google Shape;625;p10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b="1" lang="pl" sz="1402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Odpowiada za:</a:t>
            </a:r>
            <a:endParaRPr b="1" sz="1402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911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18"/>
              <a:buFont typeface="Tahoma"/>
              <a:buChar char="●"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przechowywanie danych</a:t>
            </a: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91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18"/>
              <a:buFont typeface="Tahoma"/>
              <a:buChar char="●"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kopie zapasowe (backup)</a:t>
            </a: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91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18"/>
              <a:buFont typeface="Tahoma"/>
              <a:buChar char="●"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replikację danych</a:t>
            </a: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91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18"/>
              <a:buFont typeface="Tahoma"/>
              <a:buChar char="●"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bezpieczeństwo informacji</a:t>
            </a:r>
            <a:b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Rodzaje baz danych:</a:t>
            </a: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911" lvl="0" marL="457200" rtl="0" algn="l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1218"/>
              <a:buFont typeface="Tahoma"/>
              <a:buChar char="●"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relacyjne (np. Azure SQL, Amazon RDS)</a:t>
            </a: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5911" lvl="0" marL="45720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18"/>
              <a:buFont typeface="Tahoma"/>
              <a:buChar char="●"/>
            </a:pPr>
            <a:r>
              <a:rPr lang="pl" sz="1402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nierelacyjne (NoSQL – MongoDB, DynamoDB)</a:t>
            </a:r>
            <a:endParaRPr sz="1402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9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p10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Warstwa bezpieczeństwa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31" name="Google Shape;631;p10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Chroni system i dane użytkowników.</a:t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Obejmuje: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uwierzytelnianie (logowanie)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autoryzację (role, uprawnienia)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szyfrowanie danych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zapory sieciowe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monitorowanie zagrożeń</a:t>
            </a: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Bardzo ważna w chmurze publicznej.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5" name="Shape 6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6" name="Google Shape;636;p10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Warstwa zarządzania i monitoringu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37" name="Google Shape;637;p10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Umożliwia:</a:t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kontrolę zasobów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skalowanie systemu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monitorowanie wydajności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rozliczanie zużycia (pay-as-you-go)</a:t>
            </a:r>
            <a:b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Przykłady narzędzi:</a:t>
            </a:r>
            <a:endParaRPr b="1"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AWS CloudWatch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Azure Monitor</a:t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10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Warstwa dostępu użytkownika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43" name="Google Shape;643;p10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351C75"/>
                </a:solidFill>
                <a:latin typeface="Tahoma"/>
                <a:ea typeface="Tahoma"/>
                <a:cs typeface="Tahoma"/>
                <a:sym typeface="Tahoma"/>
              </a:rPr>
              <a:t>To interfejs, przez który użytkownik korzysta z systemu:</a:t>
            </a:r>
            <a:endParaRPr b="1" sz="1400">
              <a:solidFill>
                <a:srgbClr val="351C75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przeglądarka internetowa</a:t>
            </a: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aplikacja mobilna</a:t>
            </a:r>
            <a:b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API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Schemat uproszczony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49" name="Google Shape;649;p10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Użytkownik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  ↓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Aplikacja (SaaS)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  ↓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Platforma (PaaS)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  ↓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Infrastruktura (IaaS)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   ↓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Centra danych</a:t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7F6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P</a:t>
            </a:r>
            <a:r>
              <a:rPr lang="pl"/>
              <a:t>liki, bazy danych , aplikacje w Chmurze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5" name="Google Shape;655;p10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Chmura obliczeniowa (cloud computing) to model dostarczania zasobów IT do których masz dostęp przez internet, gdzie dane i aplikacje są przechowywane na zdalnych serwerach zarządzanych przez dostawców takich jak</a:t>
            </a:r>
            <a:r>
              <a:rPr lang="pl" sz="1400">
                <a:solidFill>
                  <a:srgbClr val="0B5394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400">
              <a:solidFill>
                <a:srgbClr val="0B5394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Amazon Web Services (AWS), 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Google Cloud 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ahoma"/>
              <a:buChar char="●"/>
            </a:pPr>
            <a:r>
              <a:rPr lang="pl" sz="1400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rPr>
              <a:t>Microsoft Azure</a:t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Zamiast trzymać wszystko na lokalnym komputerze lub serwerze, dane są umieszczane w centrach danych rozproszonych po świecie.</a:t>
            </a:r>
            <a:endParaRPr sz="1400"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chemeClr val="dk2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FF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9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10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Chmura i jej usługi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1" name="Google Shape;661;p10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2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Przechowywanie odbywa się za pomocą specjalistycznych usług</a:t>
            </a:r>
            <a:r>
              <a:rPr lang="pl" sz="12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, które zapewniają skalowalność, redundancję (kopie zapasowe) i dostępność. </a:t>
            </a:r>
            <a:endParaRPr sz="12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Do tych usług należą </a:t>
            </a:r>
            <a:r>
              <a:rPr lang="pl" sz="12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między</a:t>
            </a:r>
            <a:r>
              <a:rPr lang="pl" sz="1200">
                <a:solidFill>
                  <a:srgbClr val="0A0A0A"/>
                </a:solidFill>
                <a:latin typeface="Tahoma"/>
                <a:ea typeface="Tahoma"/>
                <a:cs typeface="Tahoma"/>
                <a:sym typeface="Tahoma"/>
              </a:rPr>
              <a:t> innymi </a:t>
            </a:r>
            <a:endParaRPr sz="12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1. </a:t>
            </a:r>
            <a:r>
              <a:rPr b="1"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Object Storage</a:t>
            </a: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(najczęściej spotykane). Przykłady: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AWS S3</a:t>
            </a:r>
            <a:endParaRPr sz="12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73763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Azure Blob Storage</a:t>
            </a:r>
            <a:endParaRPr sz="1200">
              <a:solidFill>
                <a:srgbClr val="07376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73763"/>
                </a:solidFill>
                <a:latin typeface="Tahoma"/>
                <a:ea typeface="Tahoma"/>
                <a:cs typeface="Tahoma"/>
                <a:sym typeface="Tahoma"/>
              </a:rPr>
              <a:t>Google Cloud Storage</a:t>
            </a:r>
            <a:b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Przechowuje</a:t>
            </a: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pliki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zdjęcia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PDF-y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backupy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logi</a:t>
            </a:r>
            <a:endParaRPr sz="1200">
              <a:solidFill>
                <a:srgbClr val="0A0A0A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p10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Chmura i jej usługi, c.d.</a:t>
            </a:r>
            <a:endParaRPr/>
          </a:p>
        </p:txBody>
      </p:sp>
      <p:sp>
        <p:nvSpPr>
          <p:cNvPr id="667" name="Google Shape;667;p10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2. </a:t>
            </a:r>
            <a:r>
              <a:rPr b="1"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Block Storage</a:t>
            </a: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(wirtualne dyski). Przykłady: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AWS EBS</a:t>
            </a:r>
            <a:endParaRPr sz="12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Azure Managed Disks</a:t>
            </a:r>
            <a:b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Przechowuje</a:t>
            </a: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system plików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baz danych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aplikacje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p11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Chmura i jej usługi, c.d.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3" name="Google Shape;673;p11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3. </a:t>
            </a:r>
            <a:r>
              <a:rPr b="1"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File Storage</a:t>
            </a: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(jak sieciowy dysk). Przykłady: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AWS EFS</a:t>
            </a:r>
            <a:endParaRPr sz="12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Azure Files</a:t>
            </a:r>
            <a:b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Przechowuje</a:t>
            </a: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pliki współdzielone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uploady użytkowników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4. </a:t>
            </a:r>
            <a:r>
              <a:rPr b="1"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Bazy danych</a:t>
            </a: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jako usługa. Przykłady: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AWS RDS</a:t>
            </a:r>
            <a:endParaRPr sz="12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C4587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Azure SQL Database</a:t>
            </a:r>
            <a:endParaRPr sz="12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Cloud SQL</a:t>
            </a:r>
            <a:b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Przechowuje</a:t>
            </a: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strukturalne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7" name="Shape 6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Google Shape;678;p111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Chmura i jej usługi, c.d.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111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5. </a:t>
            </a:r>
            <a:r>
              <a:rPr b="1"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Backup / Archive Storage</a:t>
            </a: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Przykłady: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C4587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AWS Glacier</a:t>
            </a:r>
            <a:endParaRPr sz="1200">
              <a:solidFill>
                <a:srgbClr val="1C458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1C4587"/>
                </a:solidFill>
                <a:latin typeface="Tahoma"/>
                <a:ea typeface="Tahoma"/>
                <a:cs typeface="Tahoma"/>
                <a:sym typeface="Tahoma"/>
              </a:rPr>
              <a:t>Azure Archive Storage</a:t>
            </a:r>
            <a:b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</a:b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pl" sz="1200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Przechowuje</a:t>
            </a: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archiwa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04800" lvl="0" marL="4572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ahoma"/>
              <a:buChar char="●"/>
            </a:pPr>
            <a:r>
              <a:rPr lang="pl" sz="12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dane rzadko używane</a:t>
            </a:r>
            <a:endParaRPr sz="12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400"/>
              </a:spcBef>
              <a:spcAft>
                <a:spcPts val="400"/>
              </a:spcAft>
              <a:buNone/>
            </a:pPr>
            <a:r>
              <a:t/>
            </a:r>
            <a:endParaRPr sz="12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3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Google Shape;684;p112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1. </a:t>
            </a:r>
            <a:r>
              <a:rPr lang="pl" sz="2440">
                <a:latin typeface="Tahoma"/>
                <a:ea typeface="Tahoma"/>
                <a:cs typeface="Tahoma"/>
                <a:sym typeface="Tahoma"/>
              </a:rPr>
              <a:t>Przechowywanie plików w chmurze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600"/>
              </a:spcAft>
              <a:buNone/>
            </a:pPr>
            <a:r>
              <a:t/>
            </a:r>
            <a:endParaRPr sz="2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85" name="Google Shape;685;p112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Pliki (np. dokumenty, zdjęcia, wideo) są przechowywane w usługach typu </a:t>
            </a: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object storage</a:t>
            </a: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 lub </a:t>
            </a: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block storage</a:t>
            </a: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endParaRPr sz="1400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To działa jak wirtualny dysk twardy, ale dane są dzielone na obiekty (pliki) i przechowywane w rozproszonych systemach.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 Dostawca chmury zarządza replikacją danych (kopiami w różnych lokalizacjach), aby zapobiec utracie.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p113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Przechowywanie plików w chmurze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691" name="Google Shape;691;p113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Jak to działa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Użytkownik uploaduje plik przez API, aplikację lub interfejs webowy. Plik jest dzielony na bloki, szyfrowany i rozproszony po serwerach. Dostęp odbywa się przez unikalny URL lub klucz dostępu.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Przykład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Amazon S3 (Simple Storage Service) – możesz wrzucić plik PDF, a S3 automatycznie stworzy kopie w różnych regionach geograficznych dla bezpieczeństwa.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Zastosowanie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W aplikacjach mobilnych, np. Instagram przechowuje zdjęcia użytkowników w chmurze, co pozwala na szybki dostęp z dowolnego urządzenia.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4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2. Przechowywanie baz danych w chmurze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97" name="Google Shape;697;p114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Bazy danych są hostowane w usługach </a:t>
            </a: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managed database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, </a:t>
            </a: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gdzie dostawca chmury zarządza serwerem, aktualizacjami i backupami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.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Mogą to być relacyjne bazy (SQL, jak MySQL) lub nierelacyjne (NoSQL, jak MongoDB).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115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 sz="2711">
                <a:latin typeface="Tahoma"/>
                <a:ea typeface="Tahoma"/>
                <a:cs typeface="Tahoma"/>
                <a:sym typeface="Tahoma"/>
              </a:rPr>
              <a:t>Przechowywanie baz danych</a:t>
            </a:r>
            <a:endParaRPr sz="2711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" name="Google Shape;703;p115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Jak to działa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Tworzysz instancję bazy, łączysz się z nią przez połączenie sieciowe (np. JDBC). Dane są przechowywane na dyskach chmurowych z automatyczną replikacją i skalowaniem (np. dodawanie mocy obliczeniowej w razie wzrostu obciążenia).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Przykład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Google Cloud SQL – firma e-commerce przechowuje dane klientów (imiona, zamówienia) w bazie MySQL hostowanej w chmurze, co pozwala na automatyczne skalowanie podczas Black Friday.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Zastosowanie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W aplikacjach webowych, np. Netflix używa chmurowych baz do przechowywania preferencji użytkowników, co umożliwia personalizację treści na skalę globalną.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116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700"/>
              </a:spcBef>
              <a:spcAft>
                <a:spcPts val="600"/>
              </a:spcAft>
              <a:buNone/>
            </a:pPr>
            <a:r>
              <a:rPr lang="pl" sz="2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3. Przechowywanie aplikacji</a:t>
            </a:r>
            <a:endParaRPr sz="24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09" name="Google Shape;709;p116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Aplikacje są wdrażane w chmurze za pomocą </a:t>
            </a: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kontenerów</a:t>
            </a: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(np. Docker), orkiestratorów (Kubernetes) lub modeli </a:t>
            </a: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serverless</a:t>
            </a:r>
            <a:r>
              <a:rPr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 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(bezserwerowych). 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741B47"/>
                </a:solidFill>
                <a:latin typeface="Tahoma"/>
                <a:ea typeface="Tahoma"/>
                <a:cs typeface="Tahoma"/>
                <a:sym typeface="Tahoma"/>
              </a:rPr>
              <a:t>Kod aplikacji jest pakowany w kontener i uruchamiany na wirtualnych maszynach lub funkcjach chmurowych.</a:t>
            </a:r>
            <a:endParaRPr b="1" sz="1400">
              <a:solidFill>
                <a:srgbClr val="741B47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p117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Przechowywanie aplikacji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715" name="Google Shape;715;p117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Jak to działa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Aplikacja jest budowana jako obraz (image), uploadowana do repozytorium chmurowego, a potem uruchamiana na żądanie. Chmura zarządza zasobami (CPU, RAM) dynamicznie.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Przykład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AWS Lambda – aplikacja do przetwarzania obrazów (np. automatyczne tagowanie zdjęć) jest przechowywana jako funkcja kodu, która uruchamia się tylko wtedy, gdy ktoś uploaduje plik, bez stałego serwera.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100">
                <a:solidFill>
                  <a:srgbClr val="7F6000"/>
                </a:solidFill>
                <a:latin typeface="Tahoma"/>
                <a:ea typeface="Tahoma"/>
                <a:cs typeface="Tahoma"/>
                <a:sym typeface="Tahoma"/>
              </a:rPr>
              <a:t>Zastosowanie</a:t>
            </a:r>
            <a:r>
              <a:rPr lang="pl" sz="11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W DevOps, np. Uber deployuje aplikacje w chmurze, co pozwala na szybkie aktualizacje i skalowanie floty serwerów w zależności od liczby użytkowników.</a:t>
            </a:r>
            <a:endParaRPr sz="11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9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118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l" sz="2440">
                <a:latin typeface="Tahoma"/>
                <a:ea typeface="Tahoma"/>
                <a:cs typeface="Tahoma"/>
                <a:sym typeface="Tahoma"/>
              </a:rPr>
              <a:t>Ogólne zastosowanie chmury</a:t>
            </a:r>
            <a:endParaRPr sz="244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t/>
            </a:r>
            <a:endParaRPr sz="2340"/>
          </a:p>
        </p:txBody>
      </p:sp>
      <p:sp>
        <p:nvSpPr>
          <p:cNvPr id="721" name="Google Shape;721;p118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Chmura jest używana w biznesie, edukacji i codziennym życiu. 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l">
                <a:solidFill>
                  <a:srgbClr val="274E13"/>
                </a:solidFill>
                <a:latin typeface="Tahoma"/>
                <a:ea typeface="Tahoma"/>
                <a:cs typeface="Tahoma"/>
                <a:sym typeface="Tahoma"/>
              </a:rPr>
              <a:t>Na przykład, firma startupowa może przechowywać pliki w Dropbox (opartym na chmurze), bazy danych w Azure SQL i aplikacje w Heroku, co pozwala na szybki rozwój bez inwestycji w sprzęt. W medycynie chmura przechowuje dane pacjentów (zgodne z GDPR/HIPAA), enabling telemedycynę.</a:t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274E13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5" name="Shape 7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Google Shape;726;p119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Zalety</a:t>
            </a:r>
            <a:endParaRPr/>
          </a:p>
        </p:txBody>
      </p:sp>
      <p:sp>
        <p:nvSpPr>
          <p:cNvPr id="727" name="Google Shape;727;p119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134F5C"/>
                </a:solidFill>
                <a:latin typeface="Tahoma"/>
                <a:ea typeface="Tahoma"/>
                <a:cs typeface="Tahoma"/>
                <a:sym typeface="Tahoma"/>
              </a:rPr>
              <a:t>Zalety</a:t>
            </a:r>
            <a:endParaRPr b="1" sz="1400">
              <a:solidFill>
                <a:srgbClr val="134F5C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Skalowalność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Łatwo zwiększyć zasoby (np. z 1 TB do 100 TB) bez kupowania nowego sprzętu.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Dostępność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dostępne z dowolnego miejsca z internetem, 24/7, z wysoką redundancją (np. 99.99% uptime).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Koszt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Płacisz tylko za użyte zasoby (pay-as-you-go), co jest tańsze niż utrzymanie własnego serwera.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Bezpieczeństwo i backup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Automatyczne szyfrowanie, firewalle i kopie zapasowe.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Łatwość zarządzania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Dostawcy obsługują aktualizacje i maintenance.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20"/>
          <p:cNvSpPr txBox="1"/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l"/>
              <a:t>W</a:t>
            </a:r>
            <a:r>
              <a:rPr lang="pl"/>
              <a:t>ady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3" name="Google Shape;733;p120"/>
          <p:cNvSpPr txBox="1"/>
          <p:nvPr>
            <p:ph idx="1" type="body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pl" sz="1400">
                <a:solidFill>
                  <a:srgbClr val="A61C00"/>
                </a:solidFill>
                <a:latin typeface="Tahoma"/>
                <a:ea typeface="Tahoma"/>
                <a:cs typeface="Tahoma"/>
                <a:sym typeface="Tahoma"/>
              </a:rPr>
              <a:t>Wady</a:t>
            </a:r>
            <a:endParaRPr b="1" sz="1400">
              <a:solidFill>
                <a:srgbClr val="A61C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Zależność od internetu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Bez połączenia nie masz dostępu do danych.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Koszty ukryte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Przy dużym użyciu (np. transfer danych) rachunki mogą wzrosnąć nieoczekiwanie.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Bezpieczeństwo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Ryzyko wycieków danych (np. ataki hakerskie), choć dostawcy mają zabezpieczenia – zależy od konfiguracji użytkownika.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Utrata kontroli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Dane są u trzeciej strony, co może budzić obawy o prywatność lub zgodność z prawem (np. gdzie fizycznie są serwery?).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</a:pPr>
            <a:r>
              <a:rPr b="1"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Opóźnienia (latency)</a:t>
            </a:r>
            <a:r>
              <a:rPr lang="pl" sz="1400">
                <a:solidFill>
                  <a:srgbClr val="000000"/>
                </a:solidFill>
                <a:latin typeface="Tahoma"/>
                <a:ea typeface="Tahoma"/>
                <a:cs typeface="Tahoma"/>
                <a:sym typeface="Tahoma"/>
              </a:rPr>
              <a:t>: Dla aplikacji wymagających szybkiego dostępu (np. gry online) chmura może być wolniejsza niż lokalny serwer.</a:t>
            </a:r>
            <a:endParaRPr sz="140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