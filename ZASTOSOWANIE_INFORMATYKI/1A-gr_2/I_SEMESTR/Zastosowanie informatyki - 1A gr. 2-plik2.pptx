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</p:sldIdLst>
  <p:sldSz cy="5143500" cx="9144000"/>
  <p:notesSz cx="6858000" cy="9144000"/>
  <p:embeddedFontLst>
    <p:embeddedFont>
      <p:font typeface="Raleway"/>
      <p:regular r:id="rId115"/>
      <p:bold r:id="rId116"/>
      <p:italic r:id="rId117"/>
      <p:boldItalic r:id="rId118"/>
    </p:embeddedFont>
    <p:embeddedFont>
      <p:font typeface="Lato"/>
      <p:regular r:id="rId119"/>
      <p:bold r:id="rId120"/>
      <p:italic r:id="rId121"/>
      <p:boldItalic r:id="rId122"/>
    </p:embeddedFont>
    <p:embeddedFont>
      <p:font typeface="Tahoma"/>
      <p:regular r:id="rId123"/>
      <p:bold r:id="rId124"/>
    </p:embeddedFont>
    <p:embeddedFont>
      <p:font typeface="Roboto Mono"/>
      <p:regular r:id="rId125"/>
      <p:bold r:id="rId126"/>
      <p:italic r:id="rId127"/>
      <p:boldItalic r:id="rId1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A275CFA-C0D1-4B51-A439-E13D0F5CFB34}">
  <a:tblStyle styleId="{8A275CFA-C0D1-4B51-A439-E13D0F5CFB3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8" Type="http://schemas.openxmlformats.org/officeDocument/2006/relationships/font" Target="fonts/RobotoMono-boldItalic.fntdata"/><Relationship Id="rId127" Type="http://schemas.openxmlformats.org/officeDocument/2006/relationships/font" Target="fonts/RobotoMono-italic.fntdata"/><Relationship Id="rId126" Type="http://schemas.openxmlformats.org/officeDocument/2006/relationships/font" Target="fonts/RobotoMono-bold.fntdata"/><Relationship Id="rId26" Type="http://schemas.openxmlformats.org/officeDocument/2006/relationships/slide" Target="slides/slide20.xml"/><Relationship Id="rId121" Type="http://schemas.openxmlformats.org/officeDocument/2006/relationships/font" Target="fonts/Lato-italic.fntdata"/><Relationship Id="rId25" Type="http://schemas.openxmlformats.org/officeDocument/2006/relationships/slide" Target="slides/slide19.xml"/><Relationship Id="rId120" Type="http://schemas.openxmlformats.org/officeDocument/2006/relationships/font" Target="fonts/Lato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font" Target="fonts/RobotoMono-regular.fntdata"/><Relationship Id="rId29" Type="http://schemas.openxmlformats.org/officeDocument/2006/relationships/slide" Target="slides/slide23.xml"/><Relationship Id="rId124" Type="http://schemas.openxmlformats.org/officeDocument/2006/relationships/font" Target="fonts/Tahoma-bold.fntdata"/><Relationship Id="rId123" Type="http://schemas.openxmlformats.org/officeDocument/2006/relationships/font" Target="fonts/Tahoma-regular.fntdata"/><Relationship Id="rId122" Type="http://schemas.openxmlformats.org/officeDocument/2006/relationships/font" Target="fonts/Lato-boldItalic.fntdata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font" Target="fonts/Raleway-boldItalic.fntdata"/><Relationship Id="rId117" Type="http://schemas.openxmlformats.org/officeDocument/2006/relationships/font" Target="fonts/Raleway-italic.fntdata"/><Relationship Id="rId116" Type="http://schemas.openxmlformats.org/officeDocument/2006/relationships/font" Target="fonts/Raleway-bold.fntdata"/><Relationship Id="rId115" Type="http://schemas.openxmlformats.org/officeDocument/2006/relationships/font" Target="fonts/Raleway-regular.fntdata"/><Relationship Id="rId119" Type="http://schemas.openxmlformats.org/officeDocument/2006/relationships/font" Target="fonts/Lato-regular.fntdata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edc68585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edc68585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edc685857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edc685857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edc685857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edc685857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edc685857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edc685857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edc685857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edc685857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edc685857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edc685857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edc685857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edc685857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edc685857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edc685857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edc685857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edc685857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edc685857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edc685857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fbc4a1c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6fbc4a1c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fbc4a1c5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6fbc4a1c5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fbc4a1c5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6fbc4a1c5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fbc4a1c5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6fbc4a1c5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fbc4a1c5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6fbc4a1c5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fbc4a1c5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6fbc4a1c5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fbc4a1c5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6fbc4a1c5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fbc4a1c5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6fbc4a1c5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fbc4a1c57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6fbc4a1c57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6fbc4a1c57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6fbc4a1c57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12cefa1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12cefa1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12cefa15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a12cefa15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12cefa15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12cefa15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12cefa15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a12cefa15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12cefa159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a12cefa15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12cefa159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a12cefa159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13cfc4c8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a13cfc4c8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35a0ca6c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a35a0ca6c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35a0ca6c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a35a0ca6c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35a0ca6c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a35a0ca6c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a35a0ca6c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a35a0ca6c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0db029d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90db029d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90db029de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90db029de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90db029de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90db029de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90db029de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90db029de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90db029de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90db029de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90db029de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90db029de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90db029de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90db029de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90db029de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90db029de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90db029de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90db029de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90db029de9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90db029de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90db029de9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90db029de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90db029de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90db029de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90db029de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90db029de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90db029de9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90db029de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90db029de9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90db029de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90db029de9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90db029de9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aa99e5f2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aa99e5f2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aa99e5f2c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aa99e5f2c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aa99e5f2c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aa99e5f2c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aa99e5f2c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aa99e5f2c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aa99e5f2c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aa99e5f2c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aa99e5f2c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aa99e5f2c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aa99e5f2c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aa99e5f2c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aa99e5f2c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aa99e5f2c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ac905aeb3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ac905aeb3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ac905aeb3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ac905aeb3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ac905aeb3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ac905aeb3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ac905aeb3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ac905aeb3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ac905aeb3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ac905aeb3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ac905aeb3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ac905aeb3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ac905aeb3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ac905aeb3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915c9749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915c9749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915c97491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915c9749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915c97491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915c97491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915c97491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915c97491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915c97491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915c97491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915c97491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915c97491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915c97491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915c97491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915c97491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915c97491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afe926a0a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afe926a0a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afe926a0a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afe926a0a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afe926a0a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afe926a0a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afe926a0a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afe926a0a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afe926a0a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afe926a0a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afe926a0a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afe926a0a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afe926a0ac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afe926a0a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91824cf5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91824cf5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91c0dedbe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91c0dedbe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91c0dedbe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91c0dedbe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91c0dedbe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91c0dedbe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91c0dedbe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91c0dedbe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91c0dedbe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91c0dedbe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b183985f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b183985f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b183985fd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b183985fd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b183985fd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b183985fd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b183985fd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3b183985fd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b183985fd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b183985fd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b183985fd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b183985fd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b183985fd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b183985fd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b183985fd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b183985fd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b183985fd4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b183985fd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b183985fd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b183985fd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91c0dedbe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91c0dedbe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9256ae687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9256ae687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9256ae687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9256ae687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9256ae687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9256ae687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9256ae687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9256ae687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9256ae687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9256ae687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9256ae687b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39256ae687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9256ae687b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39256ae687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9256ae687b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39256ae687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9256ae687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39256ae687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9256ae687b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39256ae687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9256ae687b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9256ae687b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9256ae687b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39256ae687b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9256ae687b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39256ae687b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node.js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s://bank.pl" TargetMode="External"/><Relationship Id="rId4" Type="http://schemas.openxmlformats.org/officeDocument/2006/relationships/hyperlink" Target="https://bank.pl" TargetMode="Externa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5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Sieci przewodowe</a:t>
            </a:r>
            <a:endParaRPr sz="2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1996825"/>
            <a:ext cx="7688100" cy="28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Sieć przewodowa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to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rodzaj sieci komputerowej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w której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urządzenia są połączone za pomocą fizycznych kabli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— najczęściej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miedzianych (Ethernet)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lub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światłowodowych (fiber optic)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🧩 Najprościej mówiąc:</a:t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Sieć przewodowa = połączenie komputerów, drukarek, routerów itp.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za pomocą kabli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a nie przez Wi-Fi.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2300"/>
              </a:spcBef>
              <a:spcAft>
                <a:spcPts val="8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Główne cechy:</a:t>
            </a:r>
            <a:endParaRPr sz="35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351C75"/>
                </a:solidFill>
                <a:latin typeface="Tahoma"/>
                <a:ea typeface="Tahoma"/>
                <a:cs typeface="Tahoma"/>
                <a:sym typeface="Tahoma"/>
              </a:rPr>
              <a:t>Przesył danych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Dane są transmitowane przez przewodniki, co zapewnia stabilne i szybkie połączenie, zazwyczaj z mniejszą podatnością na zakłócenia niż w sieciach bezprzewodowych.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351C75"/>
                </a:solidFill>
                <a:latin typeface="Tahoma"/>
                <a:ea typeface="Tahoma"/>
                <a:cs typeface="Tahoma"/>
                <a:sym typeface="Tahoma"/>
              </a:rPr>
              <a:t>Przykłady zastosowań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Sieci LAN w domach, biurach, centrach danych czy systemy monitoringu CCTV.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990"/>
              <a:buNone/>
            </a:pPr>
            <a:r>
              <a:rPr lang="pl" sz="243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Przykłady sieci przewodowych</a:t>
            </a:r>
            <a:endParaRPr sz="243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40"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9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Ethernet (LAN)</a:t>
            </a:r>
            <a:r>
              <a:rPr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— najczęściej spotykana sieć przewodowa w domach i firmach.</a:t>
            </a:r>
            <a:endParaRPr sz="2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543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używa kabli </a:t>
            </a:r>
            <a:r>
              <a:rPr b="1"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RJ-45 (skrętka)</a:t>
            </a:r>
            <a:r>
              <a:rPr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endParaRPr sz="2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543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prędkości np. </a:t>
            </a:r>
            <a:r>
              <a:rPr b="1"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100 Mb/s, 1 Gb/s, 10 Gb/s</a:t>
            </a:r>
            <a:r>
              <a:rPr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endParaRPr sz="2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543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łączy komputery, routery, switche.</a:t>
            </a:r>
            <a:endParaRPr sz="2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Światłowód (Fiber Optic)</a:t>
            </a:r>
            <a:r>
              <a:rPr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— sieć zbudowana z kabli światłowodowych.</a:t>
            </a:r>
            <a:endParaRPr sz="2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543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bardzo duża prędkość transmisji,</a:t>
            </a:r>
            <a:endParaRPr sz="2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543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stosowana w łączach między miastami, serwerowniach lub w nowoczesnych domach (FTTH – Fiber To The Home).</a:t>
            </a:r>
            <a:endParaRPr sz="2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Połączenia szeregowe / przemysłowe</a:t>
            </a:r>
            <a:r>
              <a:rPr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— np. RS-232, RS-485 — używane w automatyce i systemach przemysłowych.</a:t>
            </a:r>
            <a:endParaRPr sz="2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Jak działa sieć przewodowa</a:t>
            </a:r>
            <a:endParaRPr sz="2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Każde urządzenie ma </a:t>
            </a:r>
            <a:r>
              <a:rPr b="1" lang="pl" sz="1600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rPr>
              <a:t>kartę sieciową (NIC)</a:t>
            </a:r>
            <a:r>
              <a:rPr lang="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Kable łączą urządzenia poprzez </a:t>
            </a:r>
            <a:r>
              <a:rPr b="1" lang="pl" sz="1600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rPr>
              <a:t>switch</a:t>
            </a:r>
            <a:r>
              <a:rPr lang="pl" sz="1600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l" sz="1600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rPr>
              <a:t>router</a:t>
            </a:r>
            <a:r>
              <a:rPr lang="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lub </a:t>
            </a:r>
            <a:r>
              <a:rPr b="1" lang="pl" sz="1600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rPr>
              <a:t>hub</a:t>
            </a:r>
            <a:r>
              <a:rPr lang="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Dane przesyłane są w postaci </a:t>
            </a:r>
            <a:r>
              <a:rPr b="1" lang="pl" sz="1600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rPr>
              <a:t>sygnałów elektrycznych lub optycznych</a:t>
            </a:r>
            <a:r>
              <a:rPr lang="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przez przewody.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Komunikacja odbywa się według określonych </a:t>
            </a:r>
            <a:r>
              <a:rPr b="1" lang="pl" sz="1600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rPr>
              <a:t>protokołów sieciowych</a:t>
            </a:r>
            <a:r>
              <a:rPr lang="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(np. TCP/IP, Ethernet).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990"/>
              <a:buNone/>
            </a:pPr>
            <a:r>
              <a:rPr lang="pl" sz="243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Zalety sieci przewodowej</a:t>
            </a:r>
            <a:endParaRPr sz="243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40"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✅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Szybka transmisja danych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stabilniejsze połączenie niż Wi-Fi.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✅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Niskie opóźnienia (ping)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ważne np. w grach i serwerach.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✅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Bezpieczeństwo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trudniej podsłuchać połączenie fizyczne.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✅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Odporność na zakłócenia radiowe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nie zależy od zasięgu Wi-Fi.</a:t>
            </a:r>
            <a:endParaRPr sz="16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pl" sz="27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Wady sieci przewodowej</a:t>
            </a:r>
            <a:endParaRPr sz="27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❌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Trudniejszy montaż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trzeba prowadzić kable w ścianach lub po podłodze.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❌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Mniejsza mobilność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urządzenia muszą być fizycznie podłączone.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❌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Koszty instalacji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więcej sprzętu (kable, gniazda, przełączniki).</a:t>
            </a:r>
            <a:endParaRPr sz="16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Sieć bezprzewodowa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Sieć komputerowa</a:t>
            </a:r>
            <a:r>
              <a:rPr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 której urządzenia </a:t>
            </a:r>
            <a:r>
              <a:rPr b="1"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łączą się ze sobą bez użycia kabli</a:t>
            </a:r>
            <a:r>
              <a:rPr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wykorzystując </a:t>
            </a:r>
            <a:r>
              <a:rPr b="1"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fale radiowe</a:t>
            </a:r>
            <a:r>
              <a:rPr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podczerwień</a:t>
            </a:r>
            <a:r>
              <a:rPr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lub </a:t>
            </a:r>
            <a:r>
              <a:rPr b="1"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mikrofale</a:t>
            </a:r>
            <a:r>
              <a:rPr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 przesyłania danych.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🧩 Najprościej mówiąc: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Sieć bezprzewodowa = połączenie komputerów, telefonów, tabletów i innych urządzeń bez kabli</a:t>
            </a:r>
            <a:r>
              <a:rPr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np. przez </a:t>
            </a:r>
            <a:r>
              <a:rPr b="1"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Wi-Fi</a:t>
            </a:r>
            <a:r>
              <a:rPr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lub </a:t>
            </a:r>
            <a:r>
              <a:rPr b="1"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Bluetooth</a:t>
            </a:r>
            <a:r>
              <a:rPr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Przykłady sieci bezprzewodowych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729450" y="2078875"/>
            <a:ext cx="7688700" cy="28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-30607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b="1"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Wi-Fi (WLAN – Wireless Local Area Network)</a:t>
            </a:r>
            <a:endParaRPr b="1" sz="30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6069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○"/>
            </a:pPr>
            <a:r>
              <a:rPr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najpopularniejsza sieć domowa lub biurowa,</a:t>
            </a:r>
            <a:endParaRPr sz="30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6069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○"/>
            </a:pPr>
            <a:r>
              <a:rPr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wykorzystuje fale radiowe (częstotliwości 2,4 GHz i 5 GHz),</a:t>
            </a:r>
            <a:endParaRPr sz="30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6069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○"/>
            </a:pPr>
            <a:r>
              <a:rPr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umożliwia łączenie komputerów, smartfonów i innych urządzeń z routerem bez kabli.</a:t>
            </a:r>
            <a:endParaRPr sz="30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60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b="1"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Bluetooth</a:t>
            </a:r>
            <a:endParaRPr b="1" sz="30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6069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○"/>
            </a:pPr>
            <a:r>
              <a:rPr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służy do połączenia urządzeń na krótką odległość (np. telefon ↔ słuchawki).</a:t>
            </a:r>
            <a:br>
              <a:rPr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30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60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b="1"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Sieć komórkowa (LTE, 5G)</a:t>
            </a:r>
            <a:endParaRPr b="1" sz="30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6069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○"/>
            </a:pPr>
            <a:r>
              <a:rPr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zapewnia dostęp do Internetu przez operatorów sieci komórkowych,</a:t>
            </a:r>
            <a:endParaRPr sz="30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6069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○"/>
            </a:pPr>
            <a:r>
              <a:rPr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obejmuje duże obszary (miasta, regiony).</a:t>
            </a:r>
            <a:br>
              <a:rPr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30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60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b="1"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Hotspot Wi-Fi</a:t>
            </a:r>
            <a:endParaRPr b="1" sz="30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654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6065"/>
              <a:buFont typeface="Arial"/>
              <a:buChar char="○"/>
            </a:pPr>
            <a:r>
              <a:rPr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punkt dostępu umożliwiający innym urządzeniom korzystanie z Internetu bezprzewodowo.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 Jak działa sieć bezprzewodowa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Urządzenie (np. laptop, telefon) ma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kartę sieciową Wi-Fi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Wysyła i odbiera dane przez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antenę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która komunikuje się z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routerem (punktem dostępowym)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Router przekazuje dane dalej – np. do Internetu przez kabel (światłowód lub Ethernet).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Komunikacja odbywa się wg ustalonych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protokołów sieciowych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(np. 802.11).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Zalety sieci bezprzewodowej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1" name="Google Shape;141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351C75"/>
                </a:solidFill>
                <a:latin typeface="Tahoma"/>
                <a:ea typeface="Tahoma"/>
                <a:cs typeface="Tahoma"/>
                <a:sym typeface="Tahoma"/>
              </a:rPr>
              <a:t>Mobilność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	Można się łączyć z dowolnego miejsca w zasięgu sygnału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351C75"/>
                </a:solidFill>
                <a:latin typeface="Tahoma"/>
                <a:ea typeface="Tahoma"/>
                <a:cs typeface="Tahoma"/>
                <a:sym typeface="Tahoma"/>
              </a:rPr>
              <a:t>Brak kabli	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Nie trzeba prowadzić przewodów przez ściany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351C75"/>
                </a:solidFill>
                <a:latin typeface="Tahoma"/>
                <a:ea typeface="Tahoma"/>
                <a:cs typeface="Tahoma"/>
                <a:sym typeface="Tahoma"/>
              </a:rPr>
              <a:t>Łatwość instalacji	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Wystarczy router i urządzenia z Wi-Fi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351C75"/>
                </a:solidFill>
                <a:latin typeface="Tahoma"/>
                <a:ea typeface="Tahoma"/>
                <a:cs typeface="Tahoma"/>
                <a:sym typeface="Tahoma"/>
              </a:rPr>
              <a:t>Wiele urządzeń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Może łączyć laptopy, smartfony, drukarki itd.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Wady sieci bezprzewodowej</a:t>
            </a:r>
            <a:endParaRPr sz="2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Tahoma"/>
              <a:buChar char="●"/>
            </a:pPr>
            <a:r>
              <a:rPr lang="pl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Mniejsza stabilność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	Sygnał może zanikać przez ściany lub zakłócenia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Tahoma"/>
              <a:buChar char="●"/>
            </a:pPr>
            <a:r>
              <a:rPr lang="pl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Bezpieczeństwo	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	Łatwiej podsłuchać lub włamać się niż w sieci przewodowej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Tahoma"/>
              <a:buChar char="●"/>
            </a:pPr>
            <a:r>
              <a:rPr lang="pl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Niższa prędkość	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	Wolniejsza transmisja niż przez kabel Ethernet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Tahoma"/>
              <a:buChar char="●"/>
            </a:pPr>
            <a:r>
              <a:rPr lang="pl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Zużycie energii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		Urządzenia mobilne szybciej rozładowują baterię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P</a:t>
            </a:r>
            <a:r>
              <a:rPr lang="pl" sz="2440">
                <a:latin typeface="Tahoma"/>
                <a:ea typeface="Tahoma"/>
                <a:cs typeface="Tahoma"/>
                <a:sym typeface="Tahoma"/>
              </a:rPr>
              <a:t>olityka bezpieczeństwa w sieci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3" name="Google Shape;153;p24"/>
          <p:cNvSpPr txBox="1"/>
          <p:nvPr>
            <p:ph idx="1" type="body"/>
          </p:nvPr>
        </p:nvSpPr>
        <p:spPr>
          <a:xfrm>
            <a:off x="729450" y="2078875"/>
            <a:ext cx="7688700" cy="27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bezpieczeństwa sieci (Network Security Policy)</a:t>
            </a: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zbiór zasad, procedur i wytycznych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które określają: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jak chronić dane i zasoby sieciowe,</a:t>
            </a:r>
            <a:endParaRPr sz="14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kto i w jaki sposób może korzystać z sieci,</a:t>
            </a:r>
            <a:endParaRPr sz="14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jakie działania są dozwolone, a jakie zabronione,</a:t>
            </a:r>
            <a:endParaRPr sz="14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jak reagować w razie incydentów bezpieczeństwa.</a:t>
            </a:r>
            <a:endParaRPr sz="14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Innymi słowy: to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plan działania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który pomaga organizacji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utrzymać poufność, integralność i dostępność danych (zasada CIA: Confidentiality, Integrity, Availability)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990"/>
              <a:buNone/>
            </a:pPr>
            <a:r>
              <a:rPr lang="pl" sz="243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Główne cele polityki bezpieczeństwa</a:t>
            </a:r>
            <a:endParaRPr sz="243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5"/>
          <p:cNvSpPr txBox="1"/>
          <p:nvPr>
            <p:ph idx="1" type="body"/>
          </p:nvPr>
        </p:nvSpPr>
        <p:spPr>
          <a:xfrm>
            <a:off x="729450" y="2078875"/>
            <a:ext cx="7688700" cy="27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Poufność (Confidentiality)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ochrona danych przed nieautoryzowanym dostępem.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👉 np. szyfrowanie, uwierzytelnianie użytkowników.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Integralność (Integrity)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zapobieganie nieautoryzowanym zmianom danych.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👉 np. sumy kontrolne, kopie zapasowe.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Dostępność (Availability)</a:t>
            </a:r>
            <a:r>
              <a:rPr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– zapewnienie, że dane i usługi są dostępne, gdy są potrzebne.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👉 np. ochrona przed atakami DDoS, redundancja serwerów.</a:t>
            </a:r>
            <a:br>
              <a:rPr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Rodzaje polityk bezpieczeństwa w sieci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729450" y="2078875"/>
            <a:ext cx="7688700" cy="29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293265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AutoNum type="arabicPeriod"/>
            </a:pPr>
            <a:r>
              <a:rPr b="1" lang="pl" sz="1454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dostępu do sieci (Access Control Policy)</a:t>
            </a:r>
            <a:br>
              <a:rPr b="1"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b="1" sz="1454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Określa, kto może korzystać z sieci i w jakim zakresie.</a:t>
            </a:r>
            <a:b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🔹 </a:t>
            </a:r>
            <a:r>
              <a:rPr i="1"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Przykład:</a:t>
            </a:r>
            <a: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pracownicy działu finansowego mają dostęp do serwera księgowego, ale nie do serwera HR.</a:t>
            </a:r>
            <a:b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54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3265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AutoNum type="arabicPeriod"/>
            </a:pPr>
            <a:r>
              <a:rPr b="1" lang="pl" sz="1454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haseł (Password Policy)</a:t>
            </a:r>
            <a:br>
              <a:rPr b="1"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b="1" sz="1454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Ustala reguły dotyczące złożoności, długości i zmiany haseł.</a:t>
            </a:r>
            <a:b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🔹 </a:t>
            </a:r>
            <a:r>
              <a:rPr i="1"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Przykład:</a:t>
            </a:r>
            <a: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hasło musi mieć min. 10 znaków, zawierać litery, cyfry i znaki specjalne, zmiana co 90 dni.</a:t>
            </a:r>
            <a:endParaRPr sz="1454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4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3265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ct val="100000"/>
              <a:buFont typeface="Tahoma"/>
              <a:buAutoNum type="arabicPeriod"/>
            </a:pPr>
            <a:r>
              <a:rPr b="1" lang="pl" sz="1454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korzystania z Internetu (Acceptable Use Policy)</a:t>
            </a:r>
            <a:endParaRPr b="1" sz="1454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54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Określa, w jaki sposób można korzystać z Internetu w pracy.</a:t>
            </a:r>
            <a:b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🔹 </a:t>
            </a:r>
            <a:r>
              <a:rPr i="1"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Przykład:</a:t>
            </a:r>
            <a: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zakaz wchodzenia na strony o treści niezgodnej z prawem lub niezwiązanej z pracą.</a:t>
            </a:r>
            <a:endParaRPr sz="1454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0573"/>
              <a:buFont typeface="Arial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Rodzaje polityk bezpieczeństwa w sieci c.d.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7"/>
          <p:cNvSpPr txBox="1"/>
          <p:nvPr>
            <p:ph idx="1" type="body"/>
          </p:nvPr>
        </p:nvSpPr>
        <p:spPr>
          <a:xfrm>
            <a:off x="729450" y="2078875"/>
            <a:ext cx="7688700" cy="29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4. 	</a:t>
            </a:r>
            <a:r>
              <a:rPr b="1" lang="pl" sz="1674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zapory sieciowej (Firewall Policy)</a:t>
            </a:r>
            <a:b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</a:t>
            </a: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Definiuje, które połączenia są dozwolone, a które blokowane.</a:t>
            </a:r>
            <a:b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		🔹 </a:t>
            </a:r>
            <a:r>
              <a:rPr i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Przykład:</a:t>
            </a: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ruch przychodzący na port 22 (SSH) dozwolony tylko z sieci firmowej.</a:t>
            </a:r>
            <a:b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674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5. 	</a:t>
            </a:r>
            <a:r>
              <a:rPr b="1" lang="pl" sz="1674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aktualizacji i łatania systemów (Patch Management Policy)</a:t>
            </a:r>
            <a:b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Określa zasady instalowania poprawek bezpieczeństwa.</a:t>
            </a:r>
            <a:b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		🔹 </a:t>
            </a:r>
            <a:r>
              <a:rPr i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Przykład:</a:t>
            </a: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wszystkie serwery muszą być aktualizowane co najmniej raz w miesiącu.</a:t>
            </a:r>
            <a:b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674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6.	</a:t>
            </a:r>
            <a:r>
              <a:rPr b="1" lang="pl" sz="1674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tworzenia kopii zapasowych (Backup Policy)</a:t>
            </a:r>
            <a:b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</a:t>
            </a: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Wskazuje, jak i kiedy wykonywać backupy danych.</a:t>
            </a:r>
            <a:b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		🔹 </a:t>
            </a:r>
            <a:r>
              <a:rPr i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Przykład:</a:t>
            </a: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codzienna kopia danych na serwer zewnętrzny, przechowywana przez 30 dni.</a:t>
            </a:r>
            <a:b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674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7.	</a:t>
            </a:r>
            <a:r>
              <a:rPr b="1" lang="pl" sz="1674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reagowania na incydenty (Incident Response Policy)</a:t>
            </a:r>
            <a:b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</a:t>
            </a: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Opisuje procedury w razie włamania, ataku lub awarii.</a:t>
            </a:r>
            <a:b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🔹 </a:t>
            </a:r>
            <a:r>
              <a:rPr i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Przykład:</a:t>
            </a: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po wykryciu ataku DDoS administrator odłącza serwer i powiadamia zespół SOC.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990"/>
              <a:buNone/>
            </a:pPr>
            <a:r>
              <a:rPr lang="pl" sz="243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Praktyczne zastosowania</a:t>
            </a:r>
            <a:endParaRPr sz="243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40"/>
          </a:p>
        </p:txBody>
      </p:sp>
      <p:sp>
        <p:nvSpPr>
          <p:cNvPr id="177" name="Google Shape;177;p28"/>
          <p:cNvSpPr txBox="1"/>
          <p:nvPr>
            <p:ph idx="1" type="body"/>
          </p:nvPr>
        </p:nvSpPr>
        <p:spPr>
          <a:xfrm>
            <a:off x="729450" y="2078875"/>
            <a:ext cx="76887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Pracownik loguje się do sieci VPN z domu 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Zastosowana polityka: Polityka dostępu + polityka haseł (Efekt: Bezpieczny, uwierzytelniony dostęp)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Firma blokuje porty 21 (FTP) i 23 (Telnet)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Zastosowana polityka: Polityka zapory sieciowej (Efekt: Ochrona przed niebezpiecznymi protokołami)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Użytkownicy mają ograniczony dostęp do pendrive’ów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Zastosowana polityka: Polityka dostępu do urządzeń (Efekt: Zapobieganie wyciekom danych)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Codzienne kopie zapasowe serwerów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Zastosowana polityka: Polityka backupu (Efekt: Ochrona przed utratą danych)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Pracownicy nie mogą instalować oprogramowania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Zastosowana polityka: Polityka uprawnień użytkownika (Efekt: Redukcja ryzyka złośliwego oprogramowania)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Polityka haseł</a:t>
            </a:r>
            <a:endParaRPr/>
          </a:p>
        </p:txBody>
      </p:sp>
      <p:sp>
        <p:nvSpPr>
          <p:cNvPr id="183" name="Google Shape;183;p29"/>
          <p:cNvSpPr txBox="1"/>
          <p:nvPr>
            <p:ph idx="1" type="body"/>
          </p:nvPr>
        </p:nvSpPr>
        <p:spPr>
          <a:xfrm>
            <a:off x="729450" y="2078875"/>
            <a:ext cx="7688700" cy="27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Polityka haseł określa, jak </a:t>
            </a:r>
            <a:r>
              <a:rPr b="1"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trudne powinny być hasła</a:t>
            </a: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i jak często trzeba je </a:t>
            </a:r>
            <a:r>
              <a:rPr b="1"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zmieniać</a:t>
            </a: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5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Ma to chronić</a:t>
            </a: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konta użytkowników przed włamaniami.</a:t>
            </a:r>
            <a:endParaRPr sz="15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Hasło </a:t>
            </a:r>
            <a:r>
              <a:rPr b="1"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powinno mieć duże i małe litery, cyfry i znaki specjalne</a:t>
            </a: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5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Nie powinno się używać tego samego hasła w kilku miejscach</a:t>
            </a: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5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 firmach często </a:t>
            </a:r>
            <a:r>
              <a:rPr b="1"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wymaga się zmiany hasła co kilka miesięcy</a:t>
            </a: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5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To </a:t>
            </a:r>
            <a:r>
              <a:rPr b="1"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pomaga zwiększyć bezpieczeństwo</a:t>
            </a: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danych i systemów.</a:t>
            </a:r>
            <a:endParaRPr sz="15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Tahoma"/>
                <a:ea typeface="Tahoma"/>
                <a:cs typeface="Tahoma"/>
                <a:sym typeface="Tahoma"/>
              </a:rPr>
              <a:t>Polityka korzystania z Internetu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9" name="Google Shape;189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Ta polityka mówi, jak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pracownicy mogą używać Internetu w pracy.</a:t>
            </a:r>
            <a:endParaRPr b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Na przykład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zabrania wchodzenia na strony niezwiązane z obowiązkami służbowymi.</a:t>
            </a:r>
            <a:endParaRPr b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Chroni to firmę przed wirusami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i stratą czasu w pracy.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Dzięki niej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administratorzy mogą łatwiej monitorować ruch sieciowy.</a:t>
            </a:r>
            <a:endParaRPr b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 szkole taka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zasada też może obowiązywać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– np. nie wolno grać online podczas lekcji.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To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pomaga utrzymać porządek i bezpieczeństwo w sieci.</a:t>
            </a:r>
            <a:endParaRPr b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Polityka zapory sieciowej (Firewall)</a:t>
            </a:r>
            <a:endParaRPr/>
          </a:p>
        </p:txBody>
      </p:sp>
      <p:sp>
        <p:nvSpPr>
          <p:cNvPr id="195" name="Google Shape;195;p31"/>
          <p:cNvSpPr txBox="1"/>
          <p:nvPr>
            <p:ph idx="1" type="body"/>
          </p:nvPr>
        </p:nvSpPr>
        <p:spPr>
          <a:xfrm>
            <a:off x="729450" y="2078875"/>
            <a:ext cx="8019300" cy="29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Zapora sieciowa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to program lub urządzenie, które blokuje niebezpieczne połączenia z Internetu.</a:t>
            </a:r>
            <a:endParaRPr b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Polityka określa, które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połączenia są dozwolone, a które zablokowane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Na przykład może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pozwalać tylko na strony firmowe, a blokować porty używane przez hakerów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Dzięki temu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wirusy i nieautoryzowani użytkownicy nie dostają się do sieci.</a:t>
            </a:r>
            <a:endParaRPr b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Firewall działa jak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strażnik 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pilnujący bramy do firmy.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To jedna z podstawowych metod ochrony sieci komputerowych.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Polityka tworzenia kopii zapasowych (Backup)</a:t>
            </a:r>
            <a:endParaRPr/>
          </a:p>
        </p:txBody>
      </p:sp>
      <p:sp>
        <p:nvSpPr>
          <p:cNvPr id="201" name="Google Shape;201;p32"/>
          <p:cNvSpPr txBox="1"/>
          <p:nvPr>
            <p:ph idx="1" type="body"/>
          </p:nvPr>
        </p:nvSpPr>
        <p:spPr>
          <a:xfrm>
            <a:off x="729450" y="2078875"/>
            <a:ext cx="7688700" cy="29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Ta polityka mówi, </a:t>
            </a:r>
            <a:r>
              <a:rPr b="1"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jak często trzeba robić kopie danych</a:t>
            </a: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, żeby ich nie stracić.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Backupy </a:t>
            </a: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mogą być zapisywane na dysku zewnętrznym lub w </a:t>
            </a:r>
            <a:r>
              <a:rPr b="1"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chmurze</a:t>
            </a: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W razie awarii, </a:t>
            </a:r>
            <a:r>
              <a:rPr b="1"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ataku lub błędu można łatwo odzyskać dane</a:t>
            </a: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Firmy często robią kopie codziennie lub co tydzień.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W domu też warto robić kopie zdjęć czy </a:t>
            </a:r>
            <a:r>
              <a:rPr b="1"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dokumentów</a:t>
            </a: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Dzięki temu nawet po awarii komputera dane nie przepadają.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Polityka reagowania na incydenty</a:t>
            </a:r>
            <a:endParaRPr/>
          </a:p>
        </p:txBody>
      </p:sp>
      <p:sp>
        <p:nvSpPr>
          <p:cNvPr id="207" name="Google Shape;207;p33"/>
          <p:cNvSpPr txBox="1"/>
          <p:nvPr>
            <p:ph idx="1" type="body"/>
          </p:nvPr>
        </p:nvSpPr>
        <p:spPr>
          <a:xfrm>
            <a:off x="729450" y="2078875"/>
            <a:ext cx="7688700" cy="30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Ta polityka określa, co robić, gdy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dojdzie do ataku lub problemu z bezpieczeństwem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Na przykład: kto ma zostać powiadomiony, jak zabezpieczyć dane i jak naprawić system.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Pomaga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szybko zareagować, zanim szkody będą duże.</a:t>
            </a:r>
            <a:endParaRPr b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W firmach często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tworzy się specjalne zespoły reagowania (tzw. CERT lub SOC)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Dzięki tej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polityce każdy wie, jakie są jego obowiązki.</a:t>
            </a:r>
            <a:endParaRPr b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To pozwala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utrzymać spokój i porządek w sytuacjach kryzysowych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Programowanie rozproszone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3" name="Google Shape;213;p3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 sposób tworzenia oprogramowania, w którym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program (system)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nie działa na jednym komputerze, tylko na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wielu połączonych ze sobą komputerach (w sieci)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Każda z tych maszyn wykonuje część zadań, a razem tworzą jeden wspólny system.</a:t>
            </a:r>
            <a:endParaRPr sz="16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Rodzaje (modele) progr. rozproszonego c.d.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9" name="Google Shape;219;p35"/>
          <p:cNvSpPr txBox="1"/>
          <p:nvPr>
            <p:ph idx="1" type="body"/>
          </p:nvPr>
        </p:nvSpPr>
        <p:spPr>
          <a:xfrm>
            <a:off x="729450" y="2042500"/>
            <a:ext cx="7688700" cy="29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Rodzaj:</a:t>
            </a:r>
            <a:endParaRPr b="1"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8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Klient–serwer (Client–Server) </a:t>
            </a: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 Klient wysyła żądania, serwer odpowiada.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Przykład: Strona WWW (przeglądarka ↔ serwer)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8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Wielowarstwowe (n-warstwowe)</a:t>
            </a: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- System podzielony na warstwy: prezentacji, logiki i danych.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Przykład: Aplikacja webowa: frontend – backend – baza danych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8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Peer-to-Peer (P2P)</a:t>
            </a: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- Każdy komputer (węzeł) może być klientem i serwerem jednocześnie.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Przykład: Torrent, komunikatory (np. Skype, BitTorrent)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0573"/>
              <a:buFont typeface="Arial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Rodzaje (modele) programow. rozproszonego</a:t>
            </a:r>
            <a:endParaRPr/>
          </a:p>
        </p:txBody>
      </p:sp>
      <p:sp>
        <p:nvSpPr>
          <p:cNvPr id="225" name="Google Shape;225;p36"/>
          <p:cNvSpPr txBox="1"/>
          <p:nvPr>
            <p:ph idx="1" type="body"/>
          </p:nvPr>
        </p:nvSpPr>
        <p:spPr>
          <a:xfrm>
            <a:off x="729450" y="2078875"/>
            <a:ext cx="7688700" cy="27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8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Zdalne wywołania procedur (RPC) </a:t>
            </a: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 Program na jednym komputerze wywołuje funkcję na innym.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Przykład: Java RMI, gRPC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8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Systemy oparte o komunikaty (Message-Oriented) </a:t>
            </a: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 Komputery komunikują się przez kolejki wiadomości.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Przykład: RabbitMQ, Apache Kafka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8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Mikroserwisowe (Microservices)</a:t>
            </a: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- System składa się z wielu małych usług, które komunikują się przez sieć.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Przykład: Aplikacje w chmurze (np. Netflix, Amazon)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8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Grid Computing / Cloud Computing </a:t>
            </a: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 Wiele serwerów współdzieli zasoby obliczeniowe lub pamięć.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Przykład: AWS, Azure, Google Cloud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Technologie używane w progr. rozproszonym</a:t>
            </a:r>
            <a:endParaRPr/>
          </a:p>
        </p:txBody>
      </p:sp>
      <p:sp>
        <p:nvSpPr>
          <p:cNvPr id="231" name="Google Shape;231;p3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Obszar:			Przykłady</a:t>
            </a:r>
            <a:endParaRPr b="1">
              <a:solidFill>
                <a:srgbClr val="741B4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Backend 			Java (Spring Cloud), .NET, </a:t>
            </a:r>
            <a:r>
              <a:rPr lang="pl" sz="1400" u="sng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Node.js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Komunikacja		REST API, gRPC, WebSocket, message queues (RabbitMQ, Kafka)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Bazy danych		MongoDB, Cassandra, PostgreSQL Cluster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Architektura		mikroserwisy, chmura (AWS, Azure, GCP)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Cechy systemów rozproszonych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7" name="Google Shape;237;p38"/>
          <p:cNvSpPr txBox="1"/>
          <p:nvPr>
            <p:ph idx="1" type="body"/>
          </p:nvPr>
        </p:nvSpPr>
        <p:spPr>
          <a:xfrm>
            <a:off x="729450" y="2078875"/>
            <a:ext cx="7688700" cy="27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Cecha				Znaczenie</a:t>
            </a:r>
            <a:endParaRPr b="1" sz="14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Współbieżność			wiele komputerów działa jednocześnie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Komunikacja przez sieć		wymiana danych np. przez HTTP, TCP/IP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Niezależność sprzętowa		różne komputery i systemy operacyjne mogą współpracować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Odporność na awarie		gdy jeden element padnie, reszta może działać dalej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Skalowalność			łatwo dodać więcej maszyn, żeby system działał szybciej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 z życia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3" name="Google Shape;243;p3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Wyobraź sobie aplikację bankową:</a:t>
            </a:r>
            <a:endParaRPr b="1" sz="1400">
              <a:solidFill>
                <a:srgbClr val="7F6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Serwer A obsługuje logowanie,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Serwer B zapisuje dane klientów w bazie,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Serwer C przetwarza płatności.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Współpracują razem w sieci —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 właśnie programowanie rozproszone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9" name="Google Shape;249;p4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Git to </a:t>
            </a:r>
            <a:r>
              <a:rPr b="1" lang="pl" sz="14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system kontroli wersji</a:t>
            </a:r>
            <a:r>
              <a:rPr lang="pl" sz="14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(ang. </a:t>
            </a:r>
            <a:r>
              <a:rPr i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Version Control System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), używany do </a:t>
            </a:r>
            <a:r>
              <a:rPr b="1" lang="pl" sz="14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śledzenia zmian w plikach</a:t>
            </a:r>
            <a:r>
              <a:rPr lang="pl" sz="14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głównie w projektach programistycznych. Dzięki niemu możesz współpracować z innymi, wracać do wcześniejszych wersji plików i zarządzać historią projektu.</a:t>
            </a:r>
            <a:endParaRPr sz="16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Najważniejsze cechy Gita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5" name="Google Shape;255;p4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Śledzenie zmian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○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Git zapisuje historię zmian plików.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○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Możesz zobaczyć, kto i kiedy zmienił dany fragment kodu.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Gałęzie (</a:t>
            </a:r>
            <a:r>
              <a:rPr b="1" i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branches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○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Pozwalają na tworzenie równoległych wersji projektu.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○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Możesz testować nowe funkcje bez psucia głównej wersji (</a:t>
            </a:r>
            <a:r>
              <a:rPr i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main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lub </a:t>
            </a:r>
            <a:r>
              <a:rPr i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master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Scalanie zmian (</a:t>
            </a:r>
            <a:r>
              <a:rPr b="1" i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merge</a:t>
            </a: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1" sz="14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○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Gałęzie można łączyć.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○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Git automatycznie łączy zmiany w jednym projekcie.</a:t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Najważniejsze cechy Gita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4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Rozproszony system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○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Każdy użytkownik ma pełną kopię repozytorium.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○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Możesz pracować lokalnie bez połączenia z internetem.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Współpraca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○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Git ułatwia pracę zespołową.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Popularne platformy: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GitHub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GitLab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Bitbucket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Podstawowe komendy Git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7" name="Google Shape;267;p4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74E13"/>
                </a:solidFill>
              </a:rPr>
              <a:t>git init </a:t>
            </a:r>
            <a:r>
              <a:rPr lang="pl">
                <a:solidFill>
                  <a:srgbClr val="000000"/>
                </a:solidFill>
              </a:rPr>
              <a:t>				- Tworzy nowe repozytorium w folderze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74E13"/>
                </a:solidFill>
              </a:rPr>
              <a:t>git clone &lt;url&gt;</a:t>
            </a:r>
            <a:r>
              <a:rPr lang="pl">
                <a:solidFill>
                  <a:srgbClr val="000000"/>
                </a:solidFill>
              </a:rPr>
              <a:t> 			- Pobiera repozytorium z internetu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74E13"/>
                </a:solidFill>
              </a:rPr>
              <a:t>git add &lt;plik&gt; </a:t>
            </a:r>
            <a:r>
              <a:rPr lang="pl">
                <a:solidFill>
                  <a:srgbClr val="000000"/>
                </a:solidFill>
              </a:rPr>
              <a:t>			</a:t>
            </a:r>
            <a:r>
              <a:rPr lang="pl">
                <a:solidFill>
                  <a:srgbClr val="000000"/>
                </a:solidFill>
              </a:rPr>
              <a:t>-</a:t>
            </a:r>
            <a:r>
              <a:rPr lang="pl">
                <a:solidFill>
                  <a:srgbClr val="000000"/>
                </a:solidFill>
              </a:rPr>
              <a:t> Dodaje plik do "staging area" (przygotowanie do commit)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74E13"/>
                </a:solidFill>
              </a:rPr>
              <a:t>git commit -m "komentarz" </a:t>
            </a:r>
            <a:r>
              <a:rPr lang="pl">
                <a:solidFill>
                  <a:srgbClr val="000000"/>
                </a:solidFill>
              </a:rPr>
              <a:t>	- Zapisuje zmiany z opisem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74E13"/>
                </a:solidFill>
              </a:rPr>
              <a:t>git status </a:t>
            </a:r>
            <a:r>
              <a:rPr lang="pl">
                <a:solidFill>
                  <a:srgbClr val="000000"/>
                </a:solidFill>
              </a:rPr>
              <a:t>				- Pokazuje stan repozytorium i zmienione pliki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Podstawowe komendy Git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git push </a:t>
            </a:r>
            <a:r>
              <a:rPr lang="pl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	- Wysyła zmiany do zdalnego repozytorium</a:t>
            </a:r>
            <a:endParaRPr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git pull </a:t>
            </a:r>
            <a:r>
              <a:rPr lang="pl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	- Pobiera zmiany z repozytorium zdalnego</a:t>
            </a:r>
            <a:endParaRPr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git branch</a:t>
            </a:r>
            <a:r>
              <a:rPr lang="pl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			- Wyświetla dostępne gałęzie</a:t>
            </a:r>
            <a:endParaRPr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git checkout &lt;branch&gt; </a:t>
            </a:r>
            <a:r>
              <a:rPr lang="pl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- Przełącza się na inną gałąź</a:t>
            </a:r>
            <a:endParaRPr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274" name="Google Shape;274;p44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{8A275CFA-C0D1-4B51-A439-E13D0F5CFB34}</a:tableStyleId>
              </a:tblPr>
              <a:tblGrid>
                <a:gridCol w="561975"/>
              </a:tblGrid>
              <a:tr h="17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git push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  <p:graphicFrame>
        <p:nvGraphicFramePr>
          <p:cNvPr id="275" name="Google Shape;275;p44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{8A275CFA-C0D1-4B51-A439-E13D0F5CFB34}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  <p:graphicFrame>
        <p:nvGraphicFramePr>
          <p:cNvPr id="276" name="Google Shape;276;p44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{8A275CFA-C0D1-4B51-A439-E13D0F5CFB34}</a:tableStyleId>
              </a:tblPr>
              <a:tblGrid>
                <a:gridCol w="561975"/>
              </a:tblGrid>
              <a:tr h="17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git push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  <p:graphicFrame>
        <p:nvGraphicFramePr>
          <p:cNvPr id="277" name="Google Shape;277;p44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{8A275CFA-C0D1-4B51-A439-E13D0F5CFB34}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commit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3" name="Google Shape;283;p45"/>
          <p:cNvSpPr txBox="1"/>
          <p:nvPr>
            <p:ph idx="1" type="body"/>
          </p:nvPr>
        </p:nvSpPr>
        <p:spPr>
          <a:xfrm>
            <a:off x="729450" y="2078875"/>
            <a:ext cx="7688700" cy="30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9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commit </a:t>
            </a:r>
            <a:r>
              <a:rPr b="1" lang="pl" sz="29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b="1" lang="pl" sz="29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służy do zapisania zmian, które zostały </a:t>
            </a:r>
            <a:r>
              <a:rPr b="1" lang="pl" sz="29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wcześniej</a:t>
            </a:r>
            <a:r>
              <a:rPr b="1" lang="pl" sz="29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dodane do obszaru index</a:t>
            </a:r>
            <a:r>
              <a:rPr lang="pl" sz="29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2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(za pomocą </a:t>
            </a:r>
            <a:r>
              <a:rPr b="1" lang="pl" sz="29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git add</a:t>
            </a:r>
            <a:r>
              <a:rPr lang="pl" sz="2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29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Pomocne polecenia do wykonania commit</a:t>
            </a:r>
            <a:endParaRPr sz="29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607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-"/>
            </a:pPr>
            <a:r>
              <a:rPr b="1" lang="pl" sz="29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lang="pl" sz="2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- przejście w tryb –INSERT , modyfikowania </a:t>
            </a:r>
            <a:endParaRPr sz="29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607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-"/>
            </a:pPr>
            <a:r>
              <a:rPr b="1" lang="pl" sz="29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ESCAPE :wq</a:t>
            </a:r>
            <a:r>
              <a:rPr lang="pl" sz="2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- ESC (przełącza w tryb poleceń), w -zapisz, q-quit, wyjście </a:t>
            </a:r>
            <a:endParaRPr sz="29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9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Ważne opcje:</a:t>
            </a:r>
            <a:endParaRPr b="1" sz="29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9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-m "tytuł commit"</a:t>
            </a:r>
            <a:r>
              <a:rPr lang="pl" sz="29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r>
              <a:rPr lang="pl" sz="2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29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Dodaje komunikat bezpośrednio w poleceniu.</a:t>
            </a:r>
            <a:endParaRPr sz="29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9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--amend</a:t>
            </a:r>
            <a:r>
              <a:rPr lang="pl" sz="29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r>
              <a:rPr b="1" lang="pl" sz="29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29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Pozwala edytować ostatni commit (np. poprawić wiadomość lub dodać zapomniane pliki).</a:t>
            </a:r>
            <a:endParaRPr sz="29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9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-a</a:t>
            </a:r>
            <a:r>
              <a:rPr lang="pl" sz="29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: Automatycznie dodaje wszystkie śledzone pliki do staging przed commitem (skrót od git add dla zmodyfikowanych plików).</a:t>
            </a:r>
            <a:endParaRPr sz="29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log 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9" name="Google Shape;289;p46"/>
          <p:cNvSpPr txBox="1"/>
          <p:nvPr>
            <p:ph idx="1" type="body"/>
          </p:nvPr>
        </p:nvSpPr>
        <p:spPr>
          <a:xfrm>
            <a:off x="729450" y="2078875"/>
            <a:ext cx="7688700" cy="300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log</a:t>
            </a:r>
            <a:r>
              <a:rPr b="1" lang="pl" sz="25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- </a:t>
            </a:r>
            <a:r>
              <a:rPr b="1" lang="pl" sz="25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służy do wyświetlania historii commitów w repozytorium</a:t>
            </a:r>
            <a:r>
              <a:rPr b="1" lang="pl" sz="25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r>
              <a:rPr lang="pl" sz="25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W kolejności chronologicznej – od najnowszego do najstarszego</a:t>
            </a:r>
            <a:r>
              <a:rPr lang="pl" sz="2500">
                <a:latin typeface="Tahoma"/>
                <a:ea typeface="Tahoma"/>
                <a:cs typeface="Tahoma"/>
                <a:sym typeface="Tahoma"/>
              </a:rPr>
              <a:t>.</a:t>
            </a:r>
            <a:endParaRPr sz="25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Wyświetlane informacje</a:t>
            </a:r>
            <a:r>
              <a:rPr lang="pl" sz="25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r>
              <a:rPr lang="pl" sz="25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Dla każdego commita pokazuje:</a:t>
            </a:r>
            <a:endParaRPr sz="25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591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❏"/>
            </a:pPr>
            <a:r>
              <a:rPr lang="pl" sz="25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Hash commita (unikalny identyfikator).</a:t>
            </a:r>
            <a:endParaRPr sz="25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591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❏"/>
            </a:pPr>
            <a:r>
              <a:rPr lang="pl" sz="25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Autora i datę.</a:t>
            </a:r>
            <a:endParaRPr sz="25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591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❏"/>
            </a:pPr>
            <a:r>
              <a:rPr lang="pl" sz="25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Wiadomość commita. </a:t>
            </a:r>
            <a:endParaRPr sz="25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Ważne opcje:</a:t>
            </a:r>
            <a:endParaRPr b="1" sz="25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--oneline</a:t>
            </a:r>
            <a:r>
              <a:rPr lang="pl" sz="25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pl" sz="25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Wyświetla każdy commit w jednej linii (skrótowo: hash + wiadomość).</a:t>
            </a:r>
            <a:endParaRPr sz="25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--graph</a:t>
            </a:r>
            <a:r>
              <a:rPr lang="pl" sz="25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: Pokazuje historię w formie grafu (drzewa branchy).</a:t>
            </a:r>
            <a:endParaRPr sz="25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-n 5</a:t>
            </a:r>
            <a:r>
              <a:rPr lang="pl" sz="25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pl" sz="25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Ogranicza do ostatnich n commitów (np. 5).</a:t>
            </a:r>
            <a:endParaRPr sz="25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--author="Imię"</a:t>
            </a:r>
            <a:r>
              <a:rPr lang="pl" sz="25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: Filtruje po autorze.</a:t>
            </a:r>
            <a:endParaRPr sz="25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--since="2023-01-01"</a:t>
            </a:r>
            <a:r>
              <a:rPr lang="pl" sz="25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: Commit'y od danej daty.</a:t>
            </a:r>
            <a:endParaRPr sz="25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-p lub --patch</a:t>
            </a:r>
            <a:r>
              <a:rPr lang="pl" sz="25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: Pokazuje pełne zmiany (diff) w każdym commicie.</a:t>
            </a:r>
            <a:endParaRPr sz="25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index i git checkout 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5" name="Google Shape;295;p47"/>
          <p:cNvSpPr txBox="1"/>
          <p:nvPr>
            <p:ph idx="1" type="body"/>
          </p:nvPr>
        </p:nvSpPr>
        <p:spPr>
          <a:xfrm>
            <a:off x="729450" y="2078875"/>
            <a:ext cx="7688700" cy="29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Index w Git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(nazywany też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staging area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albo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strefą przejściową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to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miejsce, w którym Git przechowuje informacje o zmianach przygotowanych do zatwierdzenia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(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commit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).</a:t>
            </a:r>
            <a:endParaRPr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Przykład 1:</a:t>
            </a:r>
            <a:endParaRPr b="1" sz="14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Tworzymy katalog w nim są plik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$ mkdir folder-test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i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$ touch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folder-test/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plik2.txt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Dodajemy je do index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za pomocą polecenie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$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git add folder-test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. Następnie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usuwamy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jeden z plików w katalogu folder-test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$ rm  folder-test/plik2.txt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Aby go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odzyskać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mimo tego, że nie ma go w katalogu roboczym należy wykonać polecenie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$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git checkout folder-test/plik2.txt</a:t>
            </a:r>
            <a:endParaRPr b="1"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Przykład 2:</a:t>
            </a:r>
            <a:endParaRPr b="1" sz="14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Teraz jak dodamy tekst do pliku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folder-test/plik2.txt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 plik będzie wyświetlany 2 razy w index (gdzie będzie pusty) i w katalogu roboczym z nową zawartością tekstu.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8"/>
          <p:cNvSpPr txBox="1"/>
          <p:nvPr>
            <p:ph type="title"/>
          </p:nvPr>
        </p:nvSpPr>
        <p:spPr>
          <a:xfrm>
            <a:off x="729450" y="13853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index i git reset HEAD , touch .gitignore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1" name="Google Shape;301;p4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reset HEAD &lt;plik&gt;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usuwa wskazany plik z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indexu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ale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nie usuwa go z katalogu roboczego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Plik </a:t>
            </a:r>
            <a:r>
              <a:rPr b="1" lang="pl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.gitignore</a:t>
            </a:r>
            <a:r>
              <a:rPr lang="pl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służy do tego, aby powiedzieć Gitowi, </a:t>
            </a:r>
            <a:r>
              <a:rPr b="1" lang="pl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których plików i katalogów NIE ma śledzić</a:t>
            </a:r>
            <a:r>
              <a:rPr lang="pl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(czyli nie dodawać ich do indexu, commitów i repozytorium).</a:t>
            </a:r>
            <a:endParaRPr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Git ignoruje pliki wymienione w </a:t>
            </a:r>
            <a:r>
              <a:rPr b="1" lang="pl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.gitignore, o ile nie były wcześniej dodane do repozytorium.</a:t>
            </a:r>
            <a:endParaRPr b="1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Zwykle </a:t>
            </a:r>
            <a:r>
              <a:rPr lang="pl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ignorujemy</a:t>
            </a:r>
            <a:r>
              <a:rPr lang="pl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katalogi node_module, dist, .env oraz pliki *.log, *.temp, DS_Store</a:t>
            </a:r>
            <a:endParaRPr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Plik </a:t>
            </a:r>
            <a:r>
              <a:rPr b="1" lang="pl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.gitignore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jest niewidoczny dopiero polecenie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$ ls –all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go wyświetli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revert SHA-1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7" name="Google Shape;307;p4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revert SHA-1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tworzy NOWY commit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który wykonuje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odwrotność zmian z tamtego commita.</a:t>
            </a:r>
            <a:endParaRPr b="1"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Przykład 1:</a:t>
            </a:r>
            <a:endParaRPr b="1"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W commit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git show SHA-1 dodaliśmy w 2 linii tekst, a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usunęliśmy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pierwszą linie tekstu, to możemy to odwrócić.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Czyli po wykonaniu polecenia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git revert SHA-1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odwrócimy to co było w pliku.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Druga linia zostanie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usunięta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, a pierwsza linia zostanie dodana z zawartością tekstu przed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usunięciem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jej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Pamiętajmy,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że ta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zmiana dodaje nowy commit</a:t>
            </a:r>
            <a:endParaRPr b="1"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Działanie git reset z historią commit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3" name="Google Shape;313;p5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reset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resetuje index do danego commit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lub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zresetowanie indexu do wybranych plików danego commit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Czyli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git reset HEAD nazwa.txt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pobierze z ostatniego commit plik nazwa.txt przywróci do index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Natomiast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to co jest obecnie w index umieści w katalogu roboczym</a:t>
            </a:r>
            <a:endParaRPr b="1"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Sprawdzenie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wykonuje się poleceniem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git restore nazwa-pliku</a:t>
            </a:r>
            <a:endParaRPr b="1"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rebase -</a:t>
            </a:r>
            <a:r>
              <a:rPr lang="pl" sz="2440">
                <a:latin typeface="Tahoma"/>
                <a:ea typeface="Tahoma"/>
                <a:cs typeface="Tahoma"/>
                <a:sym typeface="Tahoma"/>
              </a:rPr>
              <a:t>interactive</a:t>
            </a:r>
            <a:r>
              <a:rPr lang="pl" sz="2440">
                <a:latin typeface="Tahoma"/>
                <a:ea typeface="Tahoma"/>
                <a:cs typeface="Tahoma"/>
                <a:sym typeface="Tahoma"/>
              </a:rPr>
              <a:t> HEAD~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9" name="Google Shape;319;p51"/>
          <p:cNvSpPr txBox="1"/>
          <p:nvPr>
            <p:ph idx="1" type="body"/>
          </p:nvPr>
        </p:nvSpPr>
        <p:spPr>
          <a:xfrm>
            <a:off x="729450" y="2078875"/>
            <a:ext cx="7688700" cy="30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rebase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-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służy do przeniesienia commit z jednego miejsca do drugiego.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W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szczególności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do poprawy commit,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łączenia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ich, układania w odpowiedniej kolejności, usuniecia zbędnych commit</a:t>
            </a:r>
            <a:endParaRPr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Commands: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p, pick &lt;commit&gt; = use commit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r, reword &lt;commit&gt; = use commit, but edit the commit message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e, edit &lt;commit&gt; = use commit, but stop for amending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s, squash &lt;commit&gt; = use commit, but meld into previous commit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f, fixup &lt;commit&gt; = like "squash", but discard this commit's log message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x, exec &lt;command&gt; = run command (the rest of the line) using shell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b, break = stop here (continue rebase later with 'git rebase --continue')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d, drop &lt;commit&gt; = remove commit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l, label &lt;label&gt; = label current HEAD with a name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t, reset &lt;label&gt; = reset HEAD to a label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m, merge [-C &lt;commit&gt; | -c &lt;commit&gt;] &lt;label&gt; [# &lt;oneline&gt;]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.       create a merge commit using the original merge commit's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.       message (or the oneline, if no original merge commit was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.       specified). Use -c &lt;commit&gt; to reword the commit message.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 branch -verbose, git branch nowy-brache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5" name="Google Shape;325;p5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 branch -v</a:t>
            </a:r>
            <a:r>
              <a:rPr b="1"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-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wyświetla listę wszystkich gałęz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i r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azem z ostatnim commitem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na każdej z nich (skrót commit hash + pierwsza linia wiadomości, gdzie * oznacza branche na którym jesteśmy)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 branch –list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-</a:t>
            </a: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zwraca listę branch (tylko nazwę)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branch -m nowy-branch nowa-nazwa-branch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zmienia nazwę branch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branch -d nazwa-branch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- usuwa branch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checkout nazwa-branch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1" name="Google Shape;331;p5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checkout nazwa-branch -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przełączenie się na brancha (gałąź) o podanej nazwie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checkout -b nazwa-branch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- tworzy nowy branch i od razu przełącza się na niego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stash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7" name="Google Shape;337;p5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stash</a:t>
            </a:r>
            <a:r>
              <a:rPr lang="pl" sz="1400">
                <a:latin typeface="Tahoma"/>
                <a:ea typeface="Tahoma"/>
                <a:cs typeface="Tahoma"/>
                <a:sym typeface="Tahoma"/>
              </a:rPr>
              <a:t> -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tymczasowo odkłada Twoje zmiany na bok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tak żeby repo wyglądało, jakby nie było żadnych zmian. Zmiany muszą znajdować się w index aby można było je odłożyć na bok za pomocą polecenia git stash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stash list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wyświetla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listę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stash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stash pop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- zdejmuje z listy stash ostatnią zmianę oraz wyświetla szczegółowe informacje o statusie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5"/>
          <p:cNvSpPr txBox="1"/>
          <p:nvPr>
            <p:ph type="title"/>
          </p:nvPr>
        </p:nvSpPr>
        <p:spPr>
          <a:xfrm>
            <a:off x="716312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merge nazwa_branch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3" name="Google Shape;343;p5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merge nazwa_branch (lub nazwe commit, SHA-1)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łączy</a:t>
            </a:r>
            <a:r>
              <a:rPr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(scalą)</a:t>
            </a:r>
            <a:r>
              <a:rPr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historię wskazanej gałęzi z aktualną gałęzią na której jesteś.</a:t>
            </a:r>
            <a:r>
              <a:rPr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Mogą się pojawić konflikty. </a:t>
            </a: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Czyli jeśli te same linie w tych samych plikach zostały zmienione inaczej w obu branchach – powstaje konflikt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Rozwiązanie konfliktów wykonuje się przez otworzenie pliku w którym są konflikty. Usunięciu linii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&lt;&lt;&lt;&lt;&lt;&lt;&lt;, =======, &gt;&gt;&gt;&gt;&gt;&gt;&gt;</a:t>
            </a:r>
            <a:r>
              <a:rPr lang="pl" sz="14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oraz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wybraniem poprawnej wersji.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Po czym należy dodać pliki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$ git add nazwa_pliku_z_konfliktem </a:t>
            </a:r>
            <a:r>
              <a:rPr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i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wykonać commit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clone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9" name="Google Shape;349;p56"/>
          <p:cNvSpPr txBox="1"/>
          <p:nvPr>
            <p:ph idx="1" type="body"/>
          </p:nvPr>
        </p:nvSpPr>
        <p:spPr>
          <a:xfrm>
            <a:off x="729450" y="2078875"/>
            <a:ext cx="7688700" cy="29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clone</a:t>
            </a:r>
            <a:r>
              <a:rPr lang="pl" sz="16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- </a:t>
            </a:r>
            <a:r>
              <a:rPr b="1" lang="pl" sz="16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kopiuje całe zdalne repozytorium</a:t>
            </a:r>
            <a:r>
              <a:rPr lang="pl" sz="16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(np. z GitHuba) na Twój komputer. </a:t>
            </a:r>
            <a:endParaRPr sz="16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Oznacza to:</a:t>
            </a:r>
            <a:endParaRPr sz="16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600"/>
              <a:buFont typeface="Tahoma"/>
              <a:buChar char="❏"/>
            </a:pPr>
            <a:r>
              <a:rPr b="1" lang="pl" sz="16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pobiera wszystkie pliki</a:t>
            </a:r>
            <a:endParaRPr b="1" sz="16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600"/>
              <a:buFont typeface="Tahoma"/>
              <a:buChar char="❏"/>
            </a:pPr>
            <a:r>
              <a:rPr b="1" lang="pl" sz="16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pobiera całą historię commitów</a:t>
            </a:r>
            <a:endParaRPr b="1" sz="16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600"/>
              <a:buFont typeface="Tahoma"/>
              <a:buChar char="❏"/>
            </a:pPr>
            <a:r>
              <a:rPr b="1" lang="pl" sz="16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ustawia domyślne połączenie z repozytorium (origin)</a:t>
            </a:r>
            <a:endParaRPr b="1" sz="16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600"/>
              <a:buFont typeface="Tahoma"/>
              <a:buChar char="❏"/>
            </a:pPr>
            <a:r>
              <a:rPr b="1" lang="pl" sz="16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tworzy katalog z projektem</a:t>
            </a:r>
            <a:endParaRPr b="1" sz="16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Przykład:</a:t>
            </a:r>
            <a:endParaRPr sz="16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git clone https://github.com/user/projekt.git</a:t>
            </a:r>
            <a:endParaRPr sz="16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push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5" name="Google Shape;355;p5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push </a:t>
            </a:r>
            <a:r>
              <a:rPr lang="pl" sz="1400"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wysyła Twoje</a:t>
            </a:r>
            <a:r>
              <a:rPr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lokalne commity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do </a:t>
            </a: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zdalnego repozytorium</a:t>
            </a:r>
            <a:r>
              <a:rPr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(np. GitHub, GitLab, Bitbucket).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push origin nazwa_brancha</a:t>
            </a:r>
            <a:endParaRPr b="1" sz="1400">
              <a:solidFill>
                <a:srgbClr val="783F0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gdzie: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origin –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nazwa zdalnego repozytorium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nazwa_brancha</a:t>
            </a:r>
            <a:r>
              <a:rPr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– gałąź, którą chcesz wysłać (np. main, feature/login)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Nie wysyła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stash, plików roboczych, nic co jest nie commit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pull 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1" name="Google Shape;361;p58"/>
          <p:cNvSpPr txBox="1"/>
          <p:nvPr>
            <p:ph idx="1" type="body"/>
          </p:nvPr>
        </p:nvSpPr>
        <p:spPr>
          <a:xfrm>
            <a:off x="729450" y="2078875"/>
            <a:ext cx="7688700" cy="27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pull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-</a:t>
            </a: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 pobierania i integracji zmian z zdalnego repozytorium do lokalnej kopii projektu.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Łączy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ono </a:t>
            </a: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operacje git fetch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(pobieranie zmian) </a:t>
            </a: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i git merge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(scalanie ich z bieżącą gałęzią), co </a:t>
            </a: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pozwala na aktualizację lokalnego kodu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o najnowsze wersje od współpracowników.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git pull wykonuje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wewnętrznie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❏"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Fetch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Git pobiera wszystkie nowe commity i branchy z zdalnego repozytorium, ale nie zmienia lokalnych plików.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❏"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Merge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Scalane są zmiany z pobranej gałęzi do Twojej lokalnej. Jeśli są konflikty (np. edytowałeś te same linie), Git poprosi o ich ręczne rozwiązanie.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fetch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7" name="Google Shape;367;p5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</a:t>
            </a: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it fetch -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służy do </a:t>
            </a: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pobierania zmian z zdalnego repozytorium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(np. z GitHuba) </a:t>
            </a: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do lokalnego repozytorium, bez automatycznego scalania ich z Twoimi lokalnymi gałęziam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i. Aktualizuje ono informacje o zdalnych branchach (np. "origin/main"), co pozwala sprawdzić, co się zmieniło, zanim zdecydujesz się na integrację (np. via merge lub rebase)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6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git fetch vs git pull</a:t>
            </a:r>
            <a:endParaRPr/>
          </a:p>
        </p:txBody>
      </p:sp>
      <p:sp>
        <p:nvSpPr>
          <p:cNvPr id="373" name="Google Shape;373;p60"/>
          <p:cNvSpPr txBox="1"/>
          <p:nvPr>
            <p:ph idx="1" type="body"/>
          </p:nvPr>
        </p:nvSpPr>
        <p:spPr>
          <a:xfrm>
            <a:off x="215900" y="2078875"/>
            <a:ext cx="87249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latin typeface="Tahoma"/>
                <a:ea typeface="Tahoma"/>
                <a:cs typeface="Tahoma"/>
                <a:sym typeface="Tahoma"/>
              </a:rPr>
              <a:t>	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Co robi? 					Czy zmienia pliki lokalne?	Czy łączy zmiany?</a:t>
            </a:r>
            <a:endParaRPr b="1"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fetch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pobiera zmiany z serwera 		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❌ NIE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			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❌ NIE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pull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pobiera i łączy zmiany			✅ TAK					✅ TAK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Szyfrowanie sieci internetowych HTTPS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9" name="Google Shape;379;p61"/>
          <p:cNvSpPr txBox="1"/>
          <p:nvPr>
            <p:ph idx="1" type="body"/>
          </p:nvPr>
        </p:nvSpPr>
        <p:spPr>
          <a:xfrm>
            <a:off x="729450" y="2078875"/>
            <a:ext cx="7688700" cy="28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HTTPS (Hypertext Transfer Protocol Secure)</a:t>
            </a:r>
            <a:r>
              <a:rPr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 bezpieczna wersja protokołu HTTP używana w internecie do przesyłania danych między przeglądarką a serwerem. Dzięki HTTPS komunikacja jest 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szyfrowana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uwierzytelniana 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integralna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 zapewnia ochronę danych użytkownika.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Co daje HTTPS?</a:t>
            </a:r>
            <a:endParaRPr/>
          </a:p>
        </p:txBody>
      </p:sp>
      <p:sp>
        <p:nvSpPr>
          <p:cNvPr id="385" name="Google Shape;385;p62"/>
          <p:cNvSpPr txBox="1"/>
          <p:nvPr>
            <p:ph idx="1" type="body"/>
          </p:nvPr>
        </p:nvSpPr>
        <p:spPr>
          <a:xfrm>
            <a:off x="729450" y="2078875"/>
            <a:ext cx="8263800" cy="28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Szyfrowanie (encryption)</a:t>
            </a:r>
            <a:endParaRPr b="1" sz="14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Dane przesyłane między przeglądarką a serwerem są zaszyfrowane przy pomocy protokołu </a:t>
            </a: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TLS (Transport Layer Security)</a:t>
            </a:r>
            <a:r>
              <a:rPr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Nawet jeśli ktoś przechwyci ruch sieciowy – zobaczy tylko zaszyfrowane, bezużyteczne dane.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Uwierzytelnienie (authentication)</a:t>
            </a:r>
            <a:endParaRPr b="1" sz="14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Certyfikat SSL/TLS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potwierdza, że strona, z którą się łączysz, jest prawdziwa i należy do właściwej firmy lub osoby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Integralność danych</a:t>
            </a:r>
            <a:endParaRPr b="1" sz="14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Zapewnia, że dane nie zostały zmienione po drodze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nikt nie może ich potajemnie edytować, podmienić ani wstrzyknąć złośliwy kod.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Certyfikaty internetowe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1" name="Google Shape;391;p6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Certyfikaty internetowe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(zwane także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certyfikatami cyfrowymi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SSL/TLS certyfikatami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to specjalne elektroniczne dokumenty, które służą do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potwierdzania tożsamości stron w internecie</a:t>
            </a: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 oraz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umożliwiają bezpieczne, szyfrowane połączenia</a:t>
            </a: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 między użytkownikiem a serwerem.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Jest oparty na standardzie X.509 i zawiera zestaw kluczowych informacji, które służą do weryfikacji tożsamości serwera oraz umożliwienia szyfrowania danych.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certyfikaty internetowe</a:t>
            </a:r>
            <a:endParaRPr/>
          </a:p>
        </p:txBody>
      </p:sp>
      <p:sp>
        <p:nvSpPr>
          <p:cNvPr id="397" name="Google Shape;397;p64"/>
          <p:cNvSpPr txBox="1"/>
          <p:nvPr>
            <p:ph idx="1" type="body"/>
          </p:nvPr>
        </p:nvSpPr>
        <p:spPr>
          <a:xfrm>
            <a:off x="729450" y="2078875"/>
            <a:ext cx="7688700" cy="29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7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1️⃣ </a:t>
            </a:r>
            <a:r>
              <a:rPr b="1" lang="pl" sz="17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Potwierdzają tożsamość strony</a:t>
            </a:r>
            <a:endParaRPr b="1" sz="1700">
              <a:solidFill>
                <a:srgbClr val="783F0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Certyfikat zapewnia, że strona, którą odwiedzasz, jest rzeczywiście tym, za co się podaje.</a:t>
            </a:r>
            <a:b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Przykład:</a:t>
            </a:r>
            <a:b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Jeśli wpisujesz</a:t>
            </a:r>
            <a:r>
              <a:rPr lang="pl" sz="1100">
                <a:solidFill>
                  <a:srgbClr val="000000"/>
                </a:solidFill>
                <a:uFill>
                  <a:noFill/>
                </a:uFill>
                <a:latin typeface="Tahoma"/>
                <a:ea typeface="Tahoma"/>
                <a:cs typeface="Tahoma"/>
                <a:sym typeface="Tahom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i="1" lang="pl" sz="1100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4"/>
              </a:rPr>
              <a:t>https://bank.pl</a:t>
            </a: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certyfikat gwarantuje, że łączysz się z prawdziwym bankiem, a nie z fałszywą stroną.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7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2️⃣</a:t>
            </a:r>
            <a:r>
              <a:rPr b="1" lang="pl" sz="17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 Umożliwiają szyfrowanie danych</a:t>
            </a:r>
            <a:endParaRPr b="1" sz="1700">
              <a:solidFill>
                <a:srgbClr val="783F0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Certyfikat zawiera </a:t>
            </a:r>
            <a:r>
              <a:rPr b="1"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klucz publiczny</a:t>
            </a: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używany do bezpiecznego przesyłania danych.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Dzięki temu: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74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hasła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74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numery kart płatniczych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74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dane osobowe</a:t>
            </a:r>
            <a:b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są zaszyfrowane i niemożliwe do odczytania przez osoby trzecie.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7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3️⃣ </a:t>
            </a:r>
            <a:r>
              <a:rPr b="1" lang="pl" sz="17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Są wystawiane przez zaufane instytucje</a:t>
            </a:r>
            <a:endParaRPr b="1" sz="1700">
              <a:solidFill>
                <a:srgbClr val="783F0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Nazywa się je </a:t>
            </a:r>
            <a:r>
              <a:rPr b="1"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CA – Certificate Authority</a:t>
            </a: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np.: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74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Let's Encrypt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74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DigiCert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74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GlobalSign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74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Sectigo</a:t>
            </a:r>
            <a:b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Przeglądarki ufają tym instytucjom.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Certyfikat internetowy zawiera m.in.: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3" name="Google Shape;403;p6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Wersja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(Version)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Określa wersję standardu certyfikatu (np. wersja 3 dla X.509 v3).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Numer seryjny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(Serial Number)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Unikalny identyfikator nadany przez urząd certyfikacji (CA).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Algorytm podpisu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(Signature Algorithm)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Określa algorytm użyty do podpisania certyfikatu (np. SHA-256 with RSA).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Wydawca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(Issuer)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Dane urzędu certyfikacji, który wystawił certyfikat, w tym nazwa, kraj, organizacja itp.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Okres ważności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(Validity)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Daty "od" (Not Before) i "do" (Not After), definiujące, kiedy certyfikat jest aktywny.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Certyfikat internetowy zawiera m.in.: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6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Podmiot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(Subject)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Dane właściciela certyfikatu, np. nazwa domeny (Common Name), organizacja, kraj, miasto.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Informacje o kluczu publicznym podmiotu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(Subject Public Key Info)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Klucz publiczny serwera oraz algorytm klucza (np. RSA lub ECDSA).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Rozszerzenia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(Extensions)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Dodatkowe pola, takie jak Subject Alternative Names (SAN) dla alternatywnych domen, użycie klucza (Key Usage), autorytet certyfikacji itp.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Podpis cyfrowy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(Signature)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Podpis urzędu CA, weryfikujący autentyczność certyfikatu.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Rodzaje certyfikatów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5" name="Google Shape;415;p6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➡️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DV – Domain Validation</a:t>
            </a:r>
            <a:endParaRPr b="1"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Najprostsze i najtańsze (np. Let's Encrypt).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Sprawdzana jest tylko domena.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➡️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OV – Organization Validation</a:t>
            </a:r>
            <a:endParaRPr b="1"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Weryfikowana jest firma, która posiada domenę.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➡️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EV – Extended Validation</a:t>
            </a:r>
            <a:endParaRPr b="1"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Najwyższy poziom weryfikacji – pełna weryfikacja organizacji.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Kiedyś prezentowane jako zielony pasek w przeglądarce.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SSL czy TLS</a:t>
            </a:r>
            <a:endParaRPr/>
          </a:p>
        </p:txBody>
      </p:sp>
      <p:sp>
        <p:nvSpPr>
          <p:cNvPr id="421" name="Google Shape;421;p6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SSL (Secure Sockets Layer)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To starszy protokół szyfrowania, opracowany w latach 90. przez Netscape. Jego ostatnie wersje (SSL 2.0 i 3.0) miały poważne luki bezpieczeństwa, dlatego od dawna nie są zalecane i nie są używane w praktyce.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TLS (Transport Layer Security)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To ulepszona i bezpieczniejsza wersja SSL, rozwijana od 1999 roku. Aktualne wersje to TLS 1.2 i TLS 1.3 (TLS 1.0 i 1.1 też są przestarzałe i wycofywane). TLS jest standardem de facto w dzisiejszym internecie.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A0A0A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Szyfrowanie end-to-end (E2EE)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7" name="Google Shape;427;p6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metoda zabezpieczania komunikacji</a:t>
            </a:r>
            <a:r>
              <a:rPr lang="pl" sz="1400">
                <a:solidFill>
                  <a:srgbClr val="001D35"/>
                </a:solidFill>
                <a:latin typeface="Tahoma"/>
                <a:ea typeface="Tahoma"/>
                <a:cs typeface="Tahoma"/>
                <a:sym typeface="Tahoma"/>
              </a:rPr>
              <a:t>, dzięki której wiadomość jest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dostępna tylko dla nadawcy i odbiorcy</a:t>
            </a:r>
            <a:r>
              <a:rPr lang="pl" sz="1400">
                <a:solidFill>
                  <a:srgbClr val="1C4587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. </a:t>
            </a:r>
            <a:r>
              <a:rPr b="1" lang="pl" sz="1400">
                <a:solidFill>
                  <a:srgbClr val="1C4587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Dane są szyfrowane na urządzeniu nadawcy i odszyfrowywane dopiero na urządzeniu odbiorcy</a:t>
            </a:r>
            <a:r>
              <a:rPr lang="pl" sz="1400">
                <a:solidFill>
                  <a:srgbClr val="0A0A0A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, co oznacza, że żaden pośrednik, w tym dostawca usługi, nie ma dostępu do ich treści. </a:t>
            </a:r>
            <a:endParaRPr sz="1400">
              <a:solidFill>
                <a:srgbClr val="0A0A0A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A0A0A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A0A0A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✔️ Przykład:</a:t>
            </a:r>
            <a:endParaRPr sz="1400">
              <a:solidFill>
                <a:srgbClr val="0A0A0A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A0A0A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WhatsApp, </a:t>
            </a:r>
            <a:endParaRPr sz="1400">
              <a:solidFill>
                <a:srgbClr val="0A0A0A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A0A0A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Signal 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7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1500"/>
              </a:spcBef>
              <a:spcAft>
                <a:spcPts val="800"/>
              </a:spcAft>
              <a:buNone/>
            </a:pPr>
            <a:r>
              <a:rPr lang="pl" sz="2400">
                <a:solidFill>
                  <a:srgbClr val="0A0A0A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Jak działa?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3" name="Google Shape;433;p7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Font typeface="Roboto"/>
              <a:buChar char="●"/>
            </a:pPr>
            <a:r>
              <a:rPr b="1" lang="pl" sz="1400">
                <a:solidFill>
                  <a:srgbClr val="38761D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Klucze szyfrujące</a:t>
            </a:r>
            <a:r>
              <a:rPr b="1" lang="pl" sz="1400">
                <a:solidFill>
                  <a:srgbClr val="0A0A0A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pl" sz="1400">
                <a:solidFill>
                  <a:srgbClr val="0A0A0A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Szyfrowanie end-to-end opiera się na parze kluczy: publicznego (do szyfrowania) i prywatnego (do deszyfrowania).</a:t>
            </a:r>
            <a:endParaRPr sz="1400">
              <a:solidFill>
                <a:srgbClr val="0A0A0A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Font typeface="Roboto"/>
              <a:buChar char="●"/>
            </a:pPr>
            <a:r>
              <a:rPr b="1" lang="pl" sz="1400">
                <a:solidFill>
                  <a:srgbClr val="38761D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Szyfrowanie u nadawcy</a:t>
            </a:r>
            <a:r>
              <a:rPr lang="pl" sz="1400">
                <a:solidFill>
                  <a:srgbClr val="0A0A0A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: Wiadomość jest szyfrowana kluczem publicznym nadawcy i wysyłana.</a:t>
            </a:r>
            <a:endParaRPr sz="1400">
              <a:solidFill>
                <a:srgbClr val="0A0A0A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Font typeface="Roboto"/>
              <a:buChar char="●"/>
            </a:pPr>
            <a:r>
              <a:rPr b="1" lang="pl" sz="1400">
                <a:solidFill>
                  <a:srgbClr val="38761D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Odszyfrowanie u odbiorcy</a:t>
            </a:r>
            <a:r>
              <a:rPr lang="pl" sz="1400">
                <a:solidFill>
                  <a:srgbClr val="0A0A0A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: Tylko klucz prywatny odbiorcy jest w stanie odszyfrować wiadomość, która dociera do niego w nieczytelnej formie.</a:t>
            </a:r>
            <a:endParaRPr sz="1400">
              <a:solidFill>
                <a:srgbClr val="0A0A0A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Font typeface="Roboto"/>
              <a:buChar char="●"/>
            </a:pPr>
            <a:r>
              <a:rPr b="1" lang="pl" sz="1400">
                <a:solidFill>
                  <a:srgbClr val="38761D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Brak dostępu dla pośredników</a:t>
            </a:r>
            <a:r>
              <a:rPr b="1" lang="pl" sz="1400">
                <a:solidFill>
                  <a:srgbClr val="0A0A0A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:</a:t>
            </a:r>
            <a:r>
              <a:rPr lang="pl" sz="1400">
                <a:solidFill>
                  <a:srgbClr val="0A0A0A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Żaden serwer pośredniczący ani dostawca usługi nie ma możliwości odszyfrowania wiadomości, ponieważ nie posiada klucza prywatnego. </a:t>
            </a:r>
            <a:endParaRPr sz="1400">
              <a:solidFill>
                <a:srgbClr val="0A0A0A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7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Zalety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9" name="Google Shape;439;p71"/>
          <p:cNvSpPr txBox="1"/>
          <p:nvPr>
            <p:ph idx="1" type="body"/>
          </p:nvPr>
        </p:nvSpPr>
        <p:spPr>
          <a:xfrm>
            <a:off x="729450" y="2078875"/>
            <a:ext cx="7688700" cy="28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-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Zapewnia wysoki poziom prywatności – tylko nadawca i odbiorca mogą odczytać dane, chroniąc przed podsłuchem, hakerami czy szpiegostwem rządowym.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-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Dane są bezpieczne nawet w przypadku naruszenia serwera dostawcy, ponieważ są zaszyfrowane.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-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Utrudnia masową inwigilację, co jest korzystne dla wolności słowa i ochrony danych osobowych.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-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Chroni przed nadużyciami ze strony firm lub rządów, promując zaufanie do usług komunikacyjnych.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-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Minimalizuje ryzyko wycieków danych w tranzycie, co jest kluczowe w aplikacjach jak komunikatory (np. Signal, WhatsApp).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7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Wady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5" name="Google Shape;445;p72"/>
          <p:cNvSpPr txBox="1"/>
          <p:nvPr>
            <p:ph idx="1" type="body"/>
          </p:nvPr>
        </p:nvSpPr>
        <p:spPr>
          <a:xfrm>
            <a:off x="729450" y="2078875"/>
            <a:ext cx="7688700" cy="28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ahoma"/>
              <a:buChar char="-"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Jeśli użytkownik zgubi klucz prywatny lub hasło, dane stają się nieodwracalnie niedostępne (brak możliwości odzyskania przez dostawcę).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ahoma"/>
              <a:buChar char="-"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Zwiększa złożoność systemu – wymaga prawidłowego zarządzania kluczami, co może być trudne dla mniej technicznych użytkowników.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ahoma"/>
              <a:buChar char="-"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Platformy nie mogą monitorować treści, co utrudnia walkę z nielegalnymi materiałami (np. dezinformacją, mową nienawiści czy treściami pedofilskimi).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ahoma"/>
              <a:buChar char="-"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Może komplikować egzekwowanie prawa – organy ścigania nie mają dostępu do danych, co budzi kontrowersje w sprawach bezpieczeństwa narodowego.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ahoma"/>
              <a:buChar char="-"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Wpływa na wydajność – szyfrowanie i deszyfrowanie wymaga więcej zasobów obliczeniowych, co może spowalniać urządzenia.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Kryptografia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1" name="Google Shape;451;p7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A0A0A"/>
                </a:solidFill>
                <a:latin typeface="Tahoma"/>
                <a:ea typeface="Tahoma"/>
                <a:cs typeface="Tahoma"/>
                <a:sym typeface="Tahoma"/>
              </a:rPr>
              <a:t>Kryptografia to dziedzina nauki i techniki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zajmująca się ochroną informacji poprzez ich szyfrowanie</a:t>
            </a: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deszyfrowanie oraz zapewnianie bezpieczeństwa komunikacji i danych</a:t>
            </a:r>
            <a:r>
              <a:rPr lang="pl" sz="1400">
                <a:solidFill>
                  <a:srgbClr val="0A0A0A"/>
                </a:solidFill>
                <a:latin typeface="Tahoma"/>
                <a:ea typeface="Tahoma"/>
                <a:cs typeface="Tahoma"/>
                <a:sym typeface="Tahoma"/>
              </a:rPr>
              <a:t>. Pochodzi od greckich słów "kryptos" (ukryty) i "graphein" (pisać), co dosłownie oznacza "tajne pisanie". </a:t>
            </a:r>
            <a:endParaRPr sz="1400">
              <a:solidFill>
                <a:srgbClr val="0A0A0A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A0A0A"/>
                </a:solidFill>
                <a:latin typeface="Tahoma"/>
                <a:ea typeface="Tahoma"/>
                <a:cs typeface="Tahoma"/>
                <a:sym typeface="Tahoma"/>
              </a:rPr>
              <a:t>W praktyce kryptografia pozwala na przekształcanie czytelnych danych (zwanych tekstem jawnym) w formę nieczytelną (tekst zaszyfrowany) za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pomocą algorytmów i kluczy</a:t>
            </a:r>
            <a:r>
              <a:rPr b="1" lang="pl" sz="1400">
                <a:solidFill>
                  <a:srgbClr val="0A0A0A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r>
              <a:rPr lang="pl" sz="1400">
                <a:solidFill>
                  <a:srgbClr val="0A0A0A"/>
                </a:solidFill>
                <a:latin typeface="Tahoma"/>
                <a:ea typeface="Tahoma"/>
                <a:cs typeface="Tahoma"/>
                <a:sym typeface="Tahoma"/>
              </a:rPr>
              <a:t> a następnie na ich odzyskiwanie tylko przez upoważnione osoby.</a:t>
            </a:r>
            <a:endParaRPr sz="1400">
              <a:solidFill>
                <a:srgbClr val="0A0A0A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A0A0A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7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6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Główne elementy kryptografii:</a:t>
            </a:r>
            <a:endParaRPr sz="2400"/>
          </a:p>
        </p:txBody>
      </p:sp>
      <p:sp>
        <p:nvSpPr>
          <p:cNvPr id="457" name="Google Shape;457;p7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ahoma"/>
              <a:buChar char="●"/>
            </a:pPr>
            <a:r>
              <a:rPr b="1" lang="pl" sz="11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Szyfrowanie (encryption)</a:t>
            </a: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Proces konwersji danych na formę zaszyfrowaną, aby uniemożliwić nieautoryzowany dostęp.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ahoma"/>
              <a:buChar char="●"/>
            </a:pPr>
            <a:r>
              <a:rPr b="1" lang="pl" sz="11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Deszyfrowanie (decryption)</a:t>
            </a: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Odwrotny proces, wymagający klucza do przywrócenia oryginalnej formy danych.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ahoma"/>
              <a:buChar char="●"/>
            </a:pPr>
            <a:r>
              <a:rPr b="1" lang="pl" sz="11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Klucze kryptograficzne</a:t>
            </a: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Sekretne wartości używane w algorytmach do szyfrowania i deszyfrowania. Mogą być symetryczne (ten sam klucz do obu procesów) lub asymetryczne (para kluczy: publiczny i prywatny).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ahoma"/>
              <a:buChar char="●"/>
            </a:pPr>
            <a:r>
              <a:rPr b="1" lang="pl" sz="11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Algorytmy kryptograficzne</a:t>
            </a: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Matematyczne procedury, np. AES (symetryczny), RSA (asymetryczny) czy SHA (do haszowania).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6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Zastosowania kryptografii: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3" name="Google Shape;463;p7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Bezpieczeństwo online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W protokołach jak HTTPS (szyfrowanie stron internetowych), VPN czy end-to-end encryption (E2EE) w komunikatorach (np. Signal, WhatsApp).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Ochrona danych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W bankowości (karty płatnicze, transakcje), medycynie (rekordy pacjentów) czy wojskowości (tajne komunikaty).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Blockchain i kryptowaluty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Podstawa Bitcoin i innych, zapewniająca integralność transakcji.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Podpisy cyfrowe</a:t>
            </a:r>
            <a:r>
              <a:rPr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Weryfikacja autentyczności dokumentów lub oprogramowania.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7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Klucz publiczny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9" name="Google Shape;469;p76"/>
          <p:cNvSpPr txBox="1"/>
          <p:nvPr>
            <p:ph idx="1" type="body"/>
          </p:nvPr>
        </p:nvSpPr>
        <p:spPr>
          <a:xfrm>
            <a:off x="729450" y="2078875"/>
            <a:ext cx="7688700" cy="29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 klucz, który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możesz udostępniać każdemu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Służy do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szyfrowania wiadomości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które mają trafić do Ciebie.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Każdy, kto zna Twój klucz publiczny, może wysłać Ci zaszyfrowaną wiadomość, ale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tylko Ty możesz ją odczytać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Przykład:</a:t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Chcesz, żeby ktoś wysłał Ci bezpieczną wiadomość. Podajesz mu swój klucz publiczny, on szyfruje wiadomość, a następnie wysyła do Ciebie.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7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Klucz prywatny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5" name="Google Shape;475;p7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 klucz, który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zawsze musisz trzymać w tajemnicy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Służy do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odszyfrowania wiadomości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zaszyfrowanych Twoim kluczem publicznym.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Tylko osoba posiadająca klucz prywatny może odczytać wiadomość.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Przykład:</a:t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Kiedy otrzymujesz zaszyfrowaną wiadomość, używasz swojego klucza prywatnego, aby odszyfrować jej treść i ją przeczytać.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Klucz symetryczny (Symmetric Key)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1" name="Google Shape;481;p7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 kryptografii symetrycznej do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szyfrowania i odszyfrowywania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danych używa się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tego samego klucza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Klucz musi być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tajny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i znany tylko nadawcy i odbiorcy.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Przykłady algorytmów: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AES, DES.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AES (Advanced Encryption Standard)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7" name="Google Shape;487;p7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AES to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symetryczny algorytm szyfrowania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co oznacza, że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ten sam klucz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służy do szyfrowania i odszyfrowywania danych. Jest bardzo szybki i wydajny, dlatego stosuje się go do szyfrowania dużych ilości danych.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Jak działa w praktyce:</a:t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Nadawca szyfruje wiadomość przy użyciu klucza AES.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Odbiorca używa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tego samego klucza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aby odszyfrować wiadomość.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8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Jak działa w praktyce: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3" name="Google Shape;493;p8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Nadawca szyfruje wiadomość za pomocą klucza symetrycznego.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Wiadomość trafia do odbiorcy.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Odbiorca używa tego samego klucza, aby odszyfrować wiadomość.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Zalety:</a:t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Szybkie szyfrowanie i odszyfrowywanie (wydajne dla dużych danych).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Wady:</a:t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Problem z bezpiecznym przesłaniem klucza – jeśli ktoś przechwyci klucz, może odczytać wszystkie wiadomości.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8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Klucz asymetryczny (Asymmetric Key)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9" name="Google Shape;499;p8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 kryptografii asymetrycznej używa się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pary kluczy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Klucz publiczny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do szyfrowania wiadomości.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Klucz prywatny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do odszyfrowania wiadomości.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Klucz publiczny może być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udostępniany każdemu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a klucz prywatny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pozostaje tajny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Przykłady algorytmów: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RSA, ECC.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8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RSA (Rivest–Shamir–Adleman)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5" name="Google Shape;505;p8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RSA to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asymetryczny algorytm szyfrowania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który używa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pary kluczy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Klucz publiczny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→ do szyfrowania wiadomości.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Klucz prywatny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→ do odszyfrowania wiadomości.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Umożliwia bezpieczne przesyłanie danych nawet przez niezabezpieczone kanały.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Jak działa w praktyce:</a:t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Nadawca szyfruje wiadomość kluczem publicznym odbiorcy.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Odbiorca używa swojego klucza prywatnego, aby odszyfrować wiadomość.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8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Jak działa w praktyce: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1" name="Google Shape;511;p8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Nadawca szyfruje wiadomość kluczem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publicznym odbiorcy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Wiadomość trafia w formie zaszyfrowanej.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Odbiorca używa swojego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klucza prywatnego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aby odszyfrować wiadomość.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Zalety:</a:t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Bezpieczne przesyłanie wiadomości, nawet jeśli klucz publiczny jest znany wszystkim.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Idealne dla komunikacji w Internecie (np. E2EE).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Wady:</a:t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Wolniejsze niż szyfrowanie symetryczne, szczególnie dla dużych plików.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8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Polityki bezpieczeństwa w sieci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7" name="Google Shape;517;p8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 zestaw zasad, procedur i wytycznych, które mówią, </a:t>
            </a:r>
            <a:r>
              <a:rPr b="1" lang="pl" sz="14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jak chronić systemy komputerowe, dane i użytkowników przed zagrożeniami w internecie</a:t>
            </a:r>
            <a:r>
              <a:rPr lang="pl" sz="14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Są one stosowane w firmach, szkołach, organizacjach, a czasem nawet w domowych sieciach.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Można powiedzieć, że polityki bezpieczeństwa to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instrukcja, jak dbać o bezpieczeństwo sieci i danych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8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 co istnieją polityki bezpieczeństwa?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3" name="Google Shape;523;p85"/>
          <p:cNvSpPr txBox="1"/>
          <p:nvPr>
            <p:ph idx="1" type="body"/>
          </p:nvPr>
        </p:nvSpPr>
        <p:spPr>
          <a:xfrm>
            <a:off x="729450" y="2078875"/>
            <a:ext cx="7688700" cy="27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Aby chronić: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dane (przed utratą, wyciekiem, zniszczeniem)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np.: </a:t>
            </a:r>
            <a:r>
              <a:rPr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obowiązek </a:t>
            </a:r>
            <a:r>
              <a:rPr b="1"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tworzenia kopii zapasowych (backupów)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systemy (przed atakami i awariami)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np.: </a:t>
            </a:r>
            <a:r>
              <a:rPr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stosowanie </a:t>
            </a:r>
            <a:r>
              <a:rPr b="1"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antywirusa i zapory sieciowej (firewall)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użytkowników (przed zagrożeniami)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np.: </a:t>
            </a:r>
            <a:r>
              <a:rPr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polityka </a:t>
            </a:r>
            <a:r>
              <a:rPr b="1"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silnych haseł, </a:t>
            </a:r>
            <a:r>
              <a:rPr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automatyczne </a:t>
            </a:r>
            <a:r>
              <a:rPr b="1"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wylogowanie po czasie bezczynności</a:t>
            </a:r>
            <a:r>
              <a:rPr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firmę/szkołę (przed stratami i odpowiedzialnością prawną)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np.: </a:t>
            </a:r>
            <a:r>
              <a:rPr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zgodność z </a:t>
            </a:r>
            <a:r>
              <a:rPr b="1"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RODO</a:t>
            </a:r>
            <a:r>
              <a:rPr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ochrona danych osobowych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8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Co zawierają polityki bezpieczeństwa w sieci?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9" name="Google Shape;529;p86"/>
          <p:cNvSpPr txBox="1"/>
          <p:nvPr>
            <p:ph idx="1" type="body"/>
          </p:nvPr>
        </p:nvSpPr>
        <p:spPr>
          <a:xfrm>
            <a:off x="729450" y="2078875"/>
            <a:ext cx="7688700" cy="29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7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✔ 1. Zasady korzystania z sieci i komputerów</a:t>
            </a:r>
            <a:endParaRPr b="1" sz="17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kto ma dostęp do sieci,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jakie urządzenia mogą się łączyć,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jakie oprogramowanie jest dozwolone.</a:t>
            </a:r>
            <a:b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7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✔ 2. Zasady tworzenia i zarządzania hasłami</a:t>
            </a:r>
            <a:endParaRPr b="1" sz="17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minimalna długość hasła,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konieczność zmiany co X dni,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zakaz używania jednego hasła do wszystkiego.</a:t>
            </a:r>
            <a:b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1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7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✔ 3. Ochrona przed wirusami i malware</a:t>
            </a:r>
            <a:endParaRPr b="1" sz="17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obowiązkowe aktualizacje,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używanie antywirusów,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zakaz otwierania podejrzanych załączników.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8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0573"/>
              <a:buFont typeface="Arial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Co zawierają polityki bezpieczeństwa w sieci?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8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✔ 4. Dostęp do danych</a:t>
            </a:r>
            <a:endParaRPr b="1" sz="14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kto ma dostęp do jakich plików,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jak przechowywać dane wrażliwe (szyfrowanie).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✔ 5. Zasady pracy zdalnej</a:t>
            </a:r>
            <a:endParaRPr b="1" sz="14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VPN,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zabezpieczone Wi-Fi,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sprawdzone urządzenia.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✔ 6. Kopie zapasowe (backupy)</a:t>
            </a:r>
            <a:endParaRPr b="1" sz="14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jak często robić,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gdzie przechowywać,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kto jest odpowiedzialny.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8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0573"/>
              <a:buFont typeface="Arial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Co zawierają polityki bezpieczeństwa w sieci?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88"/>
          <p:cNvSpPr txBox="1"/>
          <p:nvPr>
            <p:ph idx="1" type="body"/>
          </p:nvPr>
        </p:nvSpPr>
        <p:spPr>
          <a:xfrm>
            <a:off x="729450" y="2078875"/>
            <a:ext cx="7688700" cy="29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2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✔ 7. Reagowanie na incydenty bezpieczeństwa</a:t>
            </a:r>
            <a:endParaRPr b="1" sz="12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 zrobić, jeśli nastąpi: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○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włamanie,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○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infekcja systemu,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○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utrata danych,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○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próba phishingu.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2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✔ 8. Ochrona sieci</a:t>
            </a:r>
            <a:endParaRPr b="1" sz="12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firewalle,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filtrowanie stron,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kontrola ruchu (monitoring sieci),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aktualizacja systemów.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2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✔ 9. Polityka prywatności użytkowników</a:t>
            </a:r>
            <a:endParaRPr b="1" sz="12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 można logować,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jakie dane są zbierane,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kto je może przeglądać.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8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pl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Przykłady polityk bezpieczeństwa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8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813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10"/>
              <a:buFont typeface="Tahoma"/>
              <a:buChar char="❏"/>
            </a:pPr>
            <a:r>
              <a:rPr lang="pl" sz="141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haseł,</a:t>
            </a:r>
            <a:endParaRPr sz="141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813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10"/>
              <a:buFont typeface="Tahoma"/>
              <a:buChar char="❏"/>
            </a:pPr>
            <a:r>
              <a:rPr lang="pl" sz="141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dostępu do sieci Wi-Fi,</a:t>
            </a:r>
            <a:endParaRPr sz="141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813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10"/>
              <a:buFont typeface="Tahoma"/>
              <a:buChar char="❏"/>
            </a:pPr>
            <a:r>
              <a:rPr lang="pl" sz="141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aktualizacji systemów,</a:t>
            </a:r>
            <a:endParaRPr sz="141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813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10"/>
              <a:buFont typeface="Tahoma"/>
              <a:buChar char="❏"/>
            </a:pPr>
            <a:r>
              <a:rPr lang="pl" sz="141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backupów,</a:t>
            </a:r>
            <a:endParaRPr sz="141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813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10"/>
              <a:buFont typeface="Tahoma"/>
              <a:buChar char="❏"/>
            </a:pPr>
            <a:r>
              <a:rPr lang="pl" sz="141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korzystania z urządzeń USB,</a:t>
            </a:r>
            <a:endParaRPr sz="141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813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10"/>
              <a:buFont typeface="Tahoma"/>
              <a:buChar char="❏"/>
            </a:pPr>
            <a:r>
              <a:rPr lang="pl" sz="141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pracy zdalnej,</a:t>
            </a:r>
            <a:endParaRPr sz="141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813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10"/>
              <a:buFont typeface="Tahoma"/>
              <a:buChar char="❏"/>
            </a:pPr>
            <a:r>
              <a:rPr lang="pl" sz="141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zabezpieczenia serwerowni.</a:t>
            </a:r>
            <a:endParaRPr sz="141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11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9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Dlaczego polityki bezpieczeństwa są ważne?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53" name="Google Shape;553;p9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pl" sz="1412">
                <a:solidFill>
                  <a:srgbClr val="134F5C"/>
                </a:solidFill>
                <a:latin typeface="Tahoma"/>
                <a:ea typeface="Tahoma"/>
                <a:cs typeface="Tahoma"/>
                <a:sym typeface="Tahoma"/>
              </a:rPr>
              <a:t> Zapobiegają:</a:t>
            </a:r>
            <a:endParaRPr sz="1412">
              <a:solidFill>
                <a:srgbClr val="134F5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03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1288"/>
              <a:buFont typeface="Tahoma"/>
              <a:buChar char="●"/>
            </a:pPr>
            <a:r>
              <a:rPr lang="pl" sz="1412">
                <a:solidFill>
                  <a:srgbClr val="134F5C"/>
                </a:solidFill>
                <a:latin typeface="Tahoma"/>
                <a:ea typeface="Tahoma"/>
                <a:cs typeface="Tahoma"/>
                <a:sym typeface="Tahoma"/>
              </a:rPr>
              <a:t>atakom hakerów,</a:t>
            </a:r>
            <a:endParaRPr sz="1412">
              <a:solidFill>
                <a:srgbClr val="134F5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03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1288"/>
              <a:buFont typeface="Tahoma"/>
              <a:buChar char="●"/>
            </a:pPr>
            <a:r>
              <a:rPr lang="pl" sz="1412">
                <a:solidFill>
                  <a:srgbClr val="134F5C"/>
                </a:solidFill>
                <a:latin typeface="Tahoma"/>
                <a:ea typeface="Tahoma"/>
                <a:cs typeface="Tahoma"/>
                <a:sym typeface="Tahoma"/>
              </a:rPr>
              <a:t>kradzieży danych,</a:t>
            </a:r>
            <a:endParaRPr sz="1412">
              <a:solidFill>
                <a:srgbClr val="134F5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03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1288"/>
              <a:buFont typeface="Tahoma"/>
              <a:buChar char="●"/>
            </a:pPr>
            <a:r>
              <a:rPr lang="pl" sz="1412">
                <a:solidFill>
                  <a:srgbClr val="134F5C"/>
                </a:solidFill>
                <a:latin typeface="Tahoma"/>
                <a:ea typeface="Tahoma"/>
                <a:cs typeface="Tahoma"/>
                <a:sym typeface="Tahoma"/>
              </a:rPr>
              <a:t>infekcjom malware,</a:t>
            </a:r>
            <a:endParaRPr sz="1412">
              <a:solidFill>
                <a:srgbClr val="134F5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03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1288"/>
              <a:buFont typeface="Tahoma"/>
              <a:buChar char="●"/>
            </a:pPr>
            <a:r>
              <a:rPr lang="pl" sz="1412">
                <a:solidFill>
                  <a:srgbClr val="134F5C"/>
                </a:solidFill>
                <a:latin typeface="Tahoma"/>
                <a:ea typeface="Tahoma"/>
                <a:cs typeface="Tahoma"/>
                <a:sym typeface="Tahoma"/>
              </a:rPr>
              <a:t>wyciekom danych osobowych (RODO),</a:t>
            </a:r>
            <a:endParaRPr sz="1412">
              <a:solidFill>
                <a:srgbClr val="134F5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03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1288"/>
              <a:buFont typeface="Tahoma"/>
              <a:buChar char="●"/>
            </a:pPr>
            <a:r>
              <a:rPr lang="pl" sz="1412">
                <a:solidFill>
                  <a:srgbClr val="134F5C"/>
                </a:solidFill>
                <a:latin typeface="Tahoma"/>
                <a:ea typeface="Tahoma"/>
                <a:cs typeface="Tahoma"/>
                <a:sym typeface="Tahoma"/>
              </a:rPr>
              <a:t>przestojom firmy/szkoły,</a:t>
            </a:r>
            <a:endParaRPr sz="1412">
              <a:solidFill>
                <a:srgbClr val="134F5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03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1288"/>
              <a:buFont typeface="Tahoma"/>
              <a:buChar char="●"/>
            </a:pPr>
            <a:r>
              <a:rPr lang="pl" sz="1412">
                <a:solidFill>
                  <a:srgbClr val="134F5C"/>
                </a:solidFill>
                <a:latin typeface="Tahoma"/>
                <a:ea typeface="Tahoma"/>
                <a:cs typeface="Tahoma"/>
                <a:sym typeface="Tahoma"/>
              </a:rPr>
              <a:t>awariom systemów.</a:t>
            </a:r>
            <a:br>
              <a:rPr lang="pl" sz="1412">
                <a:solidFill>
                  <a:srgbClr val="134F5C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12">
              <a:solidFill>
                <a:srgbClr val="134F5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pl" sz="1412">
                <a:solidFill>
                  <a:srgbClr val="134F5C"/>
                </a:solidFill>
                <a:latin typeface="Tahoma"/>
                <a:ea typeface="Tahoma"/>
                <a:cs typeface="Tahoma"/>
                <a:sym typeface="Tahoma"/>
              </a:rPr>
              <a:t>To podstawowy element cyberbezpieczeństwa</a:t>
            </a:r>
            <a:endParaRPr sz="1412">
              <a:solidFill>
                <a:srgbClr val="134F5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9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Cyberbezpieczeństwo</a:t>
            </a:r>
            <a:endParaRPr sz="3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59" name="Google Shape;559;p91"/>
          <p:cNvSpPr txBox="1"/>
          <p:nvPr>
            <p:ph idx="1" type="body"/>
          </p:nvPr>
        </p:nvSpPr>
        <p:spPr>
          <a:xfrm>
            <a:off x="729450" y="2078875"/>
            <a:ext cx="7688700" cy="28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 zbiór: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zasad,</a:t>
            </a:r>
            <a:endParaRPr sz="1400">
              <a:solidFill>
                <a:srgbClr val="741B4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technologii,</a:t>
            </a:r>
            <a:endParaRPr sz="1400">
              <a:solidFill>
                <a:srgbClr val="741B4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procedur i działań,</a:t>
            </a:r>
            <a:endParaRPr sz="1400">
              <a:solidFill>
                <a:srgbClr val="741B4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których celem jest </a:t>
            </a: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ochrona systemów komputerowych, sieci, urządzeń i danych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przed: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atakami,</a:t>
            </a:r>
            <a:endParaRPr sz="1400">
              <a:solidFill>
                <a:srgbClr val="7F6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kradzieżą,</a:t>
            </a:r>
            <a:endParaRPr sz="1400">
              <a:solidFill>
                <a:srgbClr val="7F6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zniszczeniem,</a:t>
            </a:r>
            <a:endParaRPr sz="1400">
              <a:solidFill>
                <a:srgbClr val="7F6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nieuprawnionym dostępem.</a:t>
            </a:r>
            <a:endParaRPr sz="1400">
              <a:solidFill>
                <a:srgbClr val="7F6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Dotyczy komputerów, smartfonów, Internetu, serwerów, chmur, sieci Wi-Fi.</a:t>
            </a:r>
            <a:endParaRPr b="1"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9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Cyberbezpieczeństwo służy do: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65" name="Google Shape;565;p9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❏"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ochrony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danych osobowych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(np. PESEL, hasła, oceny),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00"/>
              <a:buFont typeface="Tahoma"/>
              <a:buChar char="❏"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zabezpieczenia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systemów informatycznych</a:t>
            </a: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b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00"/>
              <a:buFont typeface="Tahoma"/>
              <a:buChar char="❏"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zapewnienia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ciągłości działania</a:t>
            </a: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 firmy, szkoły lub instytucji,</a:t>
            </a:r>
            <a:b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00"/>
              <a:buFont typeface="Tahoma"/>
              <a:buChar char="❏"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ochrony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użytkowników</a:t>
            </a: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 przed oszustwami i zagrożeniami w sieci,</a:t>
            </a:r>
            <a:b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00"/>
              <a:buFont typeface="Tahoma"/>
              <a:buChar char="❏"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zapobiegania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atakom hakerskim i wirusom</a:t>
            </a: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9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Zalety cyberbezpieczeństwa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1" name="Google Shape;571;p9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351C75"/>
                </a:solidFill>
                <a:latin typeface="Tahoma"/>
                <a:ea typeface="Tahoma"/>
                <a:cs typeface="Tahoma"/>
                <a:sym typeface="Tahoma"/>
              </a:rPr>
              <a:t>Najważniejsze zalety:</a:t>
            </a:r>
            <a:endParaRPr b="1" sz="1400">
              <a:solidFill>
                <a:srgbClr val="351C75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351C75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ochrona danych</a:t>
            </a:r>
            <a:r>
              <a:rPr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 przed wyciekiem i kradzieżą,</a:t>
            </a:r>
            <a:endParaRPr sz="14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bezpieczne działanie systemów</a:t>
            </a:r>
            <a:r>
              <a:rPr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 i sieci,</a:t>
            </a:r>
            <a:endParaRPr sz="14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ochrona użytkowników</a:t>
            </a:r>
            <a:r>
              <a:rPr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 przed phishingiem i malware,</a:t>
            </a:r>
            <a:endParaRPr sz="14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mniejsze straty finansowe</a:t>
            </a:r>
            <a:r>
              <a:rPr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endParaRPr sz="14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zgodność z prawem</a:t>
            </a:r>
            <a:r>
              <a:rPr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 (np. RODO),</a:t>
            </a:r>
            <a:endParaRPr sz="14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ochrona reputacji</a:t>
            </a:r>
            <a:r>
              <a:rPr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 szkoły lub firmy.</a:t>
            </a:r>
            <a:endParaRPr sz="14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9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990"/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Przykłady zagrożeń, przed którymi chroni </a:t>
            </a: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</a:t>
            </a: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yberbezpieczeństwo:</a:t>
            </a:r>
            <a:endParaRPr sz="2400"/>
          </a:p>
        </p:txBody>
      </p:sp>
      <p:sp>
        <p:nvSpPr>
          <p:cNvPr id="577" name="Google Shape;577;p9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5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5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81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05"/>
              <a:buFont typeface="Tahoma"/>
              <a:buChar char="❏"/>
            </a:pPr>
            <a:r>
              <a:rPr b="1" lang="pl" sz="1405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phishing (fałszywe maile),</a:t>
            </a:r>
            <a:br>
              <a:rPr b="1" lang="pl" sz="1405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</a:br>
            <a:endParaRPr b="1" sz="1405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81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05"/>
              <a:buFont typeface="Tahoma"/>
              <a:buChar char="❏"/>
            </a:pPr>
            <a:r>
              <a:rPr b="1" lang="pl" sz="1405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wirusy i ransomware,</a:t>
            </a:r>
            <a:br>
              <a:rPr b="1" lang="pl" sz="1405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</a:br>
            <a:endParaRPr b="1" sz="1405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81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05"/>
              <a:buFont typeface="Tahoma"/>
              <a:buChar char="❏"/>
            </a:pPr>
            <a:r>
              <a:rPr b="1" lang="pl" sz="1405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kradzież danych,</a:t>
            </a:r>
            <a:br>
              <a:rPr b="1" lang="pl" sz="1405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</a:br>
            <a:endParaRPr b="1" sz="1405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81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05"/>
              <a:buFont typeface="Tahoma"/>
              <a:buChar char="❏"/>
            </a:pPr>
            <a:r>
              <a:rPr b="1" lang="pl" sz="1405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ataki DDoS,</a:t>
            </a:r>
            <a:br>
              <a:rPr b="1" lang="pl" sz="1405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</a:br>
            <a:endParaRPr b="1" sz="1405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81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05"/>
              <a:buFont typeface="Tahoma"/>
              <a:buChar char="❏"/>
            </a:pPr>
            <a:r>
              <a:rPr b="1" lang="pl" sz="1405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podsłuchiwanie sieci Wi-Fi.</a:t>
            </a:r>
            <a:endParaRPr b="1" sz="1405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95"/>
          <p:cNvSpPr txBox="1"/>
          <p:nvPr>
            <p:ph type="title"/>
          </p:nvPr>
        </p:nvSpPr>
        <p:spPr>
          <a:xfrm>
            <a:off x="729450" y="1318650"/>
            <a:ext cx="82833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990"/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Cyberbezpieczeństwo zagrożenia i zabezpieczenia</a:t>
            </a:r>
            <a:endParaRPr sz="2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40"/>
          </a:p>
        </p:txBody>
      </p:sp>
      <p:sp>
        <p:nvSpPr>
          <p:cNvPr id="583" name="Google Shape;583;p9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Zagrożenie</a:t>
            </a: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						</a:t>
            </a:r>
            <a:r>
              <a:rPr b="1"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Zabezpieczenie</a:t>
            </a:r>
            <a:endParaRPr b="1"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660000"/>
                </a:solidFill>
                <a:latin typeface="Tahoma"/>
                <a:ea typeface="Tahoma"/>
                <a:cs typeface="Tahoma"/>
                <a:sym typeface="Tahoma"/>
              </a:rPr>
              <a:t>Phishing (fałszywe e-maile, SMS-y)	</a:t>
            </a:r>
            <a:r>
              <a:rPr lang="pl" sz="1400">
                <a:latin typeface="Tahoma"/>
                <a:ea typeface="Tahoma"/>
                <a:cs typeface="Tahoma"/>
                <a:sym typeface="Tahoma"/>
              </a:rPr>
              <a:t>		</a:t>
            </a:r>
            <a:r>
              <a:rPr lang="pl" sz="14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szkolenia użytkowników, filtry antyspamowe</a:t>
            </a:r>
            <a:endParaRPr sz="1400">
              <a:solidFill>
                <a:srgbClr val="188038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660000"/>
                </a:solidFill>
                <a:latin typeface="Tahoma"/>
                <a:ea typeface="Tahoma"/>
                <a:cs typeface="Tahoma"/>
                <a:sym typeface="Tahoma"/>
              </a:rPr>
              <a:t>Wirusy i malware	</a:t>
            </a:r>
            <a:r>
              <a:rPr lang="pl" sz="1400">
                <a:latin typeface="Tahoma"/>
                <a:ea typeface="Tahoma"/>
                <a:cs typeface="Tahoma"/>
                <a:sym typeface="Tahoma"/>
              </a:rPr>
              <a:t>					</a:t>
            </a:r>
            <a:r>
              <a:rPr lang="pl" sz="14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program antywirusowy, aktualizacje systemu</a:t>
            </a:r>
            <a:endParaRPr sz="1400">
              <a:solidFill>
                <a:srgbClr val="188038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660000"/>
                </a:solidFill>
                <a:latin typeface="Tahoma"/>
                <a:ea typeface="Tahoma"/>
                <a:cs typeface="Tahoma"/>
                <a:sym typeface="Tahoma"/>
              </a:rPr>
              <a:t>Ransomware (blokada plików)</a:t>
            </a:r>
            <a:r>
              <a:rPr lang="pl" sz="1400">
                <a:latin typeface="Tahoma"/>
                <a:ea typeface="Tahoma"/>
                <a:cs typeface="Tahoma"/>
                <a:sym typeface="Tahoma"/>
              </a:rPr>
              <a:t>			</a:t>
            </a:r>
            <a:r>
              <a:rPr lang="pl" sz="14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kopie zapasowe (backup), antywirus</a:t>
            </a:r>
            <a:endParaRPr sz="1400">
              <a:solidFill>
                <a:srgbClr val="188038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660000"/>
                </a:solidFill>
                <a:latin typeface="Tahoma"/>
                <a:ea typeface="Tahoma"/>
                <a:cs typeface="Tahoma"/>
                <a:sym typeface="Tahoma"/>
              </a:rPr>
              <a:t>Kradzież haseł	</a:t>
            </a:r>
            <a:r>
              <a:rPr lang="pl" sz="1400">
                <a:latin typeface="Tahoma"/>
                <a:ea typeface="Tahoma"/>
                <a:cs typeface="Tahoma"/>
                <a:sym typeface="Tahoma"/>
              </a:rPr>
              <a:t>					</a:t>
            </a:r>
            <a:r>
              <a:rPr lang="pl" sz="14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silne hasła, uwierzytelnianie dwuetapowe (2FA)</a:t>
            </a:r>
            <a:endParaRPr sz="1400">
              <a:solidFill>
                <a:srgbClr val="188038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400">
                <a:solidFill>
                  <a:srgbClr val="660000"/>
                </a:solidFill>
                <a:latin typeface="Tahoma"/>
                <a:ea typeface="Tahoma"/>
                <a:cs typeface="Tahoma"/>
                <a:sym typeface="Tahoma"/>
              </a:rPr>
              <a:t>Nieautoryzowany dostęp	</a:t>
            </a:r>
            <a:r>
              <a:rPr lang="pl" sz="1400">
                <a:latin typeface="Tahoma"/>
                <a:ea typeface="Tahoma"/>
                <a:cs typeface="Tahoma"/>
                <a:sym typeface="Tahoma"/>
              </a:rPr>
              <a:t>			</a:t>
            </a:r>
            <a:r>
              <a:rPr lang="pl" sz="14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kontrola dostępu, loginy i role</a:t>
            </a:r>
            <a:endParaRPr sz="1400">
              <a:solidFill>
                <a:srgbClr val="188038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96"/>
          <p:cNvSpPr txBox="1"/>
          <p:nvPr>
            <p:ph type="title"/>
          </p:nvPr>
        </p:nvSpPr>
        <p:spPr>
          <a:xfrm>
            <a:off x="606025" y="1318650"/>
            <a:ext cx="7925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Cyberbezpieczeństwo zagrożenia i zabezpieczenia</a:t>
            </a:r>
            <a:endParaRPr sz="2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40"/>
          </a:p>
        </p:txBody>
      </p:sp>
      <p:sp>
        <p:nvSpPr>
          <p:cNvPr id="589" name="Google Shape;589;p9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660000"/>
                </a:solidFill>
              </a:rPr>
              <a:t>Wycieki danych					</a:t>
            </a:r>
            <a:r>
              <a:rPr lang="pl">
                <a:solidFill>
                  <a:srgbClr val="274E13"/>
                </a:solidFill>
              </a:rPr>
              <a:t>szyfrowanie danych, ograniczenie uprawnień</a:t>
            </a:r>
            <a:endParaRPr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660000"/>
                </a:solidFill>
              </a:rPr>
              <a:t>Ataki hakerskie					</a:t>
            </a:r>
            <a:r>
              <a:rPr lang="pl">
                <a:solidFill>
                  <a:srgbClr val="274E13"/>
                </a:solidFill>
              </a:rPr>
              <a:t>firewall, monitoring sieci</a:t>
            </a:r>
            <a:endParaRPr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660000"/>
                </a:solidFill>
              </a:rPr>
              <a:t>Podsłuch w sieci Wi-Fi	</a:t>
            </a:r>
            <a:r>
              <a:rPr lang="pl">
                <a:solidFill>
                  <a:srgbClr val="274E13"/>
                </a:solidFill>
              </a:rPr>
              <a:t>			szyfrowanie Wi-Fi (WPA2/WPA3)</a:t>
            </a:r>
            <a:endParaRPr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660000"/>
                </a:solidFill>
              </a:rPr>
              <a:t>Utrata danych (awaria sprzętu)	</a:t>
            </a:r>
            <a:r>
              <a:rPr lang="pl">
                <a:solidFill>
                  <a:srgbClr val="274E13"/>
                </a:solidFill>
              </a:rPr>
              <a:t>		regularne kopie zapasowe</a:t>
            </a:r>
            <a:endParaRPr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>
                <a:solidFill>
                  <a:srgbClr val="660000"/>
                </a:solidFill>
              </a:rPr>
              <a:t>Błędy użytkownika</a:t>
            </a:r>
            <a:r>
              <a:rPr lang="pl">
                <a:solidFill>
                  <a:srgbClr val="274E13"/>
                </a:solidFill>
              </a:rPr>
              <a:t>				szkolenia, procedury bezpieczeństwa</a:t>
            </a:r>
            <a:endParaRPr>
              <a:solidFill>
                <a:srgbClr val="274E13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97"/>
          <p:cNvSpPr txBox="1"/>
          <p:nvPr>
            <p:ph type="title"/>
          </p:nvPr>
        </p:nvSpPr>
        <p:spPr>
          <a:xfrm>
            <a:off x="729450" y="1318650"/>
            <a:ext cx="8024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Przykłady systemów infor. opartych na chmurach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95" name="Google Shape;595;p97"/>
          <p:cNvSpPr txBox="1"/>
          <p:nvPr>
            <p:ph idx="1" type="body"/>
          </p:nvPr>
        </p:nvSpPr>
        <p:spPr>
          <a:xfrm>
            <a:off x="729450" y="2078875"/>
            <a:ext cx="7688700" cy="28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Platformy chmurowe (IaaS / PaaS)</a:t>
            </a:r>
            <a:endParaRPr b="1"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●"/>
            </a:pPr>
            <a:r>
              <a:rPr b="1" lang="pl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Amazon Web Services (AWS)</a:t>
            </a:r>
            <a:r>
              <a:rPr lang="pl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EC2, S3, Lambda</a:t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●"/>
            </a:pPr>
            <a:r>
              <a:rPr b="1" lang="pl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Microsoft Azure </a:t>
            </a:r>
            <a:r>
              <a:rPr lang="pl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– App Services, Azure SQL, Functions</a:t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●"/>
            </a:pPr>
            <a:r>
              <a:rPr b="1" lang="pl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Google Cloud Platform (GCP)</a:t>
            </a:r>
            <a:r>
              <a:rPr lang="pl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Compute Engine, BigQuery</a:t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●"/>
            </a:pPr>
            <a:r>
              <a:rPr b="1" lang="pl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Oracle Cloud Infrastructure</a:t>
            </a:r>
            <a:endParaRPr b="1"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Systemy biznesowe (SaaS)</a:t>
            </a:r>
            <a:endParaRPr b="1"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lang="pl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Salesforce</a:t>
            </a:r>
            <a:r>
              <a:rPr lang="pl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CRM</a:t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lang="pl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SAP S/4HANA Cloud</a:t>
            </a:r>
            <a:r>
              <a:rPr lang="pl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ERP</a:t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●"/>
            </a:pPr>
            <a:r>
              <a:rPr b="1" lang="pl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Microsoft Dynamics 365</a:t>
            </a:r>
            <a:endParaRPr b="1"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lang="pl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Workday</a:t>
            </a:r>
            <a:r>
              <a:rPr lang="pl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HR i finanse</a:t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lang="pl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HubSpot</a:t>
            </a:r>
            <a:r>
              <a:rPr lang="pl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marketing i CRM</a:t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Komunikacja i praca zespołowa</a:t>
            </a:r>
            <a:endParaRPr b="1"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lang="pl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Microsoft 365 (Office 365)</a:t>
            </a:r>
            <a:r>
              <a:rPr lang="pl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Outlook, Teams, OneDrive</a:t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lang="pl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Google Workspace</a:t>
            </a:r>
            <a:r>
              <a:rPr lang="pl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Gmail, Drive, Docs</a:t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●"/>
            </a:pPr>
            <a:r>
              <a:rPr b="1" lang="pl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Slack</a:t>
            </a:r>
            <a:endParaRPr b="1"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●"/>
            </a:pPr>
            <a:r>
              <a:rPr b="1" lang="pl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Zoom</a:t>
            </a:r>
            <a:br>
              <a:rPr b="1" lang="pl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b="1"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9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Budowa systemów infor. opartych na chmurach</a:t>
            </a:r>
            <a:endParaRPr sz="2400"/>
          </a:p>
        </p:txBody>
      </p:sp>
      <p:sp>
        <p:nvSpPr>
          <p:cNvPr id="601" name="Google Shape;601;p9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System informatyczny oparty na chmurze to zbiór </a:t>
            </a: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współpracujących warstw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które razem umożliwiają przechowywanie danych, przetwarzanie informacji oraz dostęp do aplikacji przez Internet.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99"/>
          <p:cNvSpPr txBox="1"/>
          <p:nvPr>
            <p:ph type="title"/>
          </p:nvPr>
        </p:nvSpPr>
        <p:spPr>
          <a:xfrm>
            <a:off x="189625" y="1318650"/>
            <a:ext cx="88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Warstwa infrastruktury (IaaS – Infrastructure as a Service)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07" name="Google Shape;607;p99"/>
          <p:cNvSpPr txBox="1"/>
          <p:nvPr>
            <p:ph idx="1" type="body"/>
          </p:nvPr>
        </p:nvSpPr>
        <p:spPr>
          <a:xfrm>
            <a:off x="729450" y="2078875"/>
            <a:ext cx="7688700" cy="27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 </a:t>
            </a: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podstawa całego systemu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Składa się z: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351C75"/>
                </a:solidFill>
                <a:latin typeface="Tahoma"/>
                <a:ea typeface="Tahoma"/>
                <a:cs typeface="Tahoma"/>
                <a:sym typeface="Tahoma"/>
              </a:rPr>
              <a:t>serwerów fizycznych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(data center dostawcy chmury)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400"/>
              <a:buFont typeface="Tahoma"/>
              <a:buChar char="●"/>
            </a:pPr>
            <a:r>
              <a:rPr b="1" lang="pl" sz="1400">
                <a:solidFill>
                  <a:srgbClr val="351C75"/>
                </a:solidFill>
                <a:latin typeface="Tahoma"/>
                <a:ea typeface="Tahoma"/>
                <a:cs typeface="Tahoma"/>
                <a:sym typeface="Tahoma"/>
              </a:rPr>
              <a:t>maszyn wirtualnych</a:t>
            </a:r>
            <a:endParaRPr b="1" sz="1400">
              <a:solidFill>
                <a:srgbClr val="351C75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351C75"/>
                </a:solidFill>
                <a:latin typeface="Tahoma"/>
                <a:ea typeface="Tahoma"/>
                <a:cs typeface="Tahoma"/>
                <a:sym typeface="Tahoma"/>
              </a:rPr>
              <a:t>pamięci masowych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(dyski, obiekty – np. S3)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351C75"/>
                </a:solidFill>
                <a:latin typeface="Tahoma"/>
                <a:ea typeface="Tahoma"/>
                <a:cs typeface="Tahoma"/>
                <a:sym typeface="Tahoma"/>
              </a:rPr>
              <a:t>sieci komputerowych</a:t>
            </a:r>
            <a:r>
              <a:rPr lang="pl" sz="1400">
                <a:solidFill>
                  <a:srgbClr val="351C75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(load balancery, firewalle)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Zapewnia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moc obliczeniową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przestrzeń dyskową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połączenia sieciowe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Przykład: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AWS EC2, Azure Virtual Machines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0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Warstwa platformy (PaaS – Platform as a Service)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13" name="Google Shape;613;p10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100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Ułatwia tworzenie i uruchamianie aplikacji. </a:t>
            </a:r>
            <a:endParaRPr b="1" sz="1100">
              <a:solidFill>
                <a:srgbClr val="351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Zawiera: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systemy operacyjne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środowiska uruchomieniowe (Java, .NET, Node.js)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serwery aplikacyjne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bazy danych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narzędzia developerskie</a:t>
            </a:r>
            <a:br>
              <a:rPr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Programista </a:t>
            </a:r>
            <a:r>
              <a:rPr b="1" lang="pl" sz="1100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nie zarządza serwerem</a:t>
            </a:r>
            <a:r>
              <a:rPr lang="pl" sz="1100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tylko kodem.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Przykład:</a:t>
            </a:r>
            <a:r>
              <a:rPr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Google App Engine, Azure App Service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0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Tahoma"/>
                <a:ea typeface="Tahoma"/>
                <a:cs typeface="Tahoma"/>
                <a:sym typeface="Tahoma"/>
              </a:rPr>
              <a:t>Warstwa aplikacji (SaaS – Software as a Service)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19" name="Google Shape;619;p10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 </a:t>
            </a:r>
            <a:r>
              <a:rPr b="1" lang="pl" sz="1400">
                <a:solidFill>
                  <a:srgbClr val="351C75"/>
                </a:solidFill>
                <a:latin typeface="Tahoma"/>
                <a:ea typeface="Tahoma"/>
                <a:cs typeface="Tahoma"/>
                <a:sym typeface="Tahoma"/>
              </a:rPr>
              <a:t>gotowe aplikacje dostępne przez przeglądarkę</a:t>
            </a:r>
            <a:r>
              <a:rPr lang="pl" sz="1400">
                <a:solidFill>
                  <a:srgbClr val="351C75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351C75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Charakterystyka: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brak instalacji lokalnej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dostęp z dowolnego miejsca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aktualizacje po stronie dostawcy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Przykłady:</a:t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Gmail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Microsoft 365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Salesforce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Dropbox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0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Warstwa danych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5" name="Google Shape;625;p10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pl" sz="1402">
                <a:solidFill>
                  <a:srgbClr val="351C75"/>
                </a:solidFill>
                <a:latin typeface="Tahoma"/>
                <a:ea typeface="Tahoma"/>
                <a:cs typeface="Tahoma"/>
                <a:sym typeface="Tahoma"/>
              </a:rPr>
              <a:t>Odpowiada za:</a:t>
            </a:r>
            <a:endParaRPr b="1" sz="1402">
              <a:solidFill>
                <a:srgbClr val="351C75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18"/>
              <a:buFont typeface="Tahoma"/>
              <a:buChar char="●"/>
            </a:pPr>
            <a:r>
              <a:rPr lang="pl" sz="1402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przechowywanie danych</a:t>
            </a:r>
            <a:endParaRPr sz="1402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18"/>
              <a:buFont typeface="Tahoma"/>
              <a:buChar char="●"/>
            </a:pPr>
            <a:r>
              <a:rPr lang="pl" sz="1402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kopie zapasowe (backup)</a:t>
            </a:r>
            <a:endParaRPr sz="1402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18"/>
              <a:buFont typeface="Tahoma"/>
              <a:buChar char="●"/>
            </a:pPr>
            <a:r>
              <a:rPr lang="pl" sz="1402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replikację danych</a:t>
            </a:r>
            <a:endParaRPr sz="1402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18"/>
              <a:buFont typeface="Tahoma"/>
              <a:buChar char="●"/>
            </a:pPr>
            <a:r>
              <a:rPr lang="pl" sz="1402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bezpieczeństwo informacji</a:t>
            </a:r>
            <a:br>
              <a:rPr lang="pl" sz="1402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2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pl" sz="1402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Rodzaje baz danych:</a:t>
            </a:r>
            <a:endParaRPr sz="1402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18"/>
              <a:buFont typeface="Tahoma"/>
              <a:buChar char="●"/>
            </a:pPr>
            <a:r>
              <a:rPr lang="pl" sz="1402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relacyjne (np. Azure SQL, Amazon RDS)</a:t>
            </a:r>
            <a:endParaRPr sz="1402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18"/>
              <a:buFont typeface="Tahoma"/>
              <a:buChar char="●"/>
            </a:pPr>
            <a:r>
              <a:rPr lang="pl" sz="1402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nierelacyjne (NoSQL – MongoDB, DynamoDB)</a:t>
            </a:r>
            <a:endParaRPr sz="1402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0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Warstwa bezpieczeństwa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1" name="Google Shape;631;p10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351C75"/>
                </a:solidFill>
                <a:latin typeface="Tahoma"/>
                <a:ea typeface="Tahoma"/>
                <a:cs typeface="Tahoma"/>
                <a:sym typeface="Tahoma"/>
              </a:rPr>
              <a:t>Chroni system i dane użytkowników.</a:t>
            </a:r>
            <a:endParaRPr b="1" sz="1400">
              <a:solidFill>
                <a:srgbClr val="351C75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351C75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Obejmuje: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ahoma"/>
              <a:buChar char="●"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uwierzytelnianie (logowanie)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ahoma"/>
              <a:buChar char="●"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autoryzację (role, uprawnienia)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ahoma"/>
              <a:buChar char="●"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szyfrowanie danych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ahoma"/>
              <a:buChar char="●"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zapory sieciowe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ahoma"/>
              <a:buChar char="●"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monitorowanie zagrożeń</a:t>
            </a:r>
            <a:b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Bardzo ważna w chmurze publicznej.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0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Warstwa zarządzania i monitoringu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7" name="Google Shape;637;p10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351C75"/>
                </a:solidFill>
                <a:latin typeface="Tahoma"/>
                <a:ea typeface="Tahoma"/>
                <a:cs typeface="Tahoma"/>
                <a:sym typeface="Tahoma"/>
              </a:rPr>
              <a:t>Umożliwia:</a:t>
            </a:r>
            <a:endParaRPr b="1" sz="1400">
              <a:solidFill>
                <a:srgbClr val="351C75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kontrolę zasobów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skalowanie systemu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monitorowanie wydajności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rozliczanie zużycia (pay-as-you-go)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Przykłady narzędzi:</a:t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AWS CloudWatch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Azure Monitor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10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Warstwa dostępu użytkownika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3" name="Google Shape;643;p10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351C75"/>
                </a:solidFill>
                <a:latin typeface="Tahoma"/>
                <a:ea typeface="Tahoma"/>
                <a:cs typeface="Tahoma"/>
                <a:sym typeface="Tahoma"/>
              </a:rPr>
              <a:t>To interfejs, przez który użytkownik korzysta z systemu:</a:t>
            </a:r>
            <a:endParaRPr b="1" sz="1400">
              <a:solidFill>
                <a:srgbClr val="351C75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ahoma"/>
              <a:buChar char="●"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przeglądarka internetowa</a:t>
            </a:r>
            <a:b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ahoma"/>
              <a:buChar char="●"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aplikacja mobilna</a:t>
            </a:r>
            <a:b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ahoma"/>
              <a:buChar char="●"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API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0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Schemat uproszczony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9" name="Google Shape;649;p10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Użytkownik</a:t>
            </a:r>
            <a:endParaRPr b="1">
              <a:solidFill>
                <a:srgbClr val="7F6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   ↓</a:t>
            </a:r>
            <a:endParaRPr b="1">
              <a:solidFill>
                <a:srgbClr val="7F6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Aplikacja (SaaS)</a:t>
            </a:r>
            <a:endParaRPr b="1">
              <a:solidFill>
                <a:srgbClr val="7F6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   ↓</a:t>
            </a:r>
            <a:endParaRPr b="1">
              <a:solidFill>
                <a:srgbClr val="7F6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Platforma (PaaS)</a:t>
            </a:r>
            <a:endParaRPr b="1">
              <a:solidFill>
                <a:srgbClr val="7F6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   ↓</a:t>
            </a:r>
            <a:endParaRPr b="1">
              <a:solidFill>
                <a:srgbClr val="7F6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Infrastruktura (IaaS)</a:t>
            </a:r>
            <a:endParaRPr b="1">
              <a:solidFill>
                <a:srgbClr val="7F6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   ↓</a:t>
            </a:r>
            <a:endParaRPr b="1">
              <a:solidFill>
                <a:srgbClr val="7F6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Centra danych</a:t>
            </a:r>
            <a:endParaRPr b="1">
              <a:solidFill>
                <a:srgbClr val="7F6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7F6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10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</a:t>
            </a:r>
            <a:r>
              <a:rPr lang="pl"/>
              <a:t>liki, bazy danych , aplikacje w Chmurze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07"/>
          <p:cNvSpPr txBox="1"/>
          <p:nvPr>
            <p:ph idx="1" type="body"/>
          </p:nvPr>
        </p:nvSpPr>
        <p:spPr>
          <a:xfrm>
            <a:off x="729450" y="2078875"/>
            <a:ext cx="7688700" cy="26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Chmura obliczeniowa (cloud computing) to model dostarczania zasobów IT do których masz dostęp przez internet, gdzie dane i aplikacje są przechowywane na zdalnych serwerach zarządzanych przez dostawców takich jak</a:t>
            </a:r>
            <a:r>
              <a:rPr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sz="14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Amazon Web Services (AWS), 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Google Cloud 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Microsoft Azure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Zamiast trzymać wszystko na lokalnym komputerze lub serwerze, dane są umieszczane w centrach danych rozproszonych po świecie. Czyli dane i aplikacje nie znajdują się na Twoim komputerze ani w serwerowni firmy, tylko na fizycznych serwerach należących do dostawcy chmury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0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Chmura i jej usługi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0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2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Przechowywanie odbywa się za pomocą specjalistycznych usług</a:t>
            </a:r>
            <a:r>
              <a:rPr lang="pl" sz="1200">
                <a:solidFill>
                  <a:srgbClr val="0A0A0A"/>
                </a:solidFill>
                <a:latin typeface="Tahoma"/>
                <a:ea typeface="Tahoma"/>
                <a:cs typeface="Tahoma"/>
                <a:sym typeface="Tahoma"/>
              </a:rPr>
              <a:t>, które zapewniają skalowalność, redundancję (kopie zapasowe) i dostępność. </a:t>
            </a:r>
            <a:endParaRPr sz="1200">
              <a:solidFill>
                <a:srgbClr val="0A0A0A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solidFill>
                  <a:srgbClr val="0A0A0A"/>
                </a:solidFill>
                <a:latin typeface="Tahoma"/>
                <a:ea typeface="Tahoma"/>
                <a:cs typeface="Tahoma"/>
                <a:sym typeface="Tahoma"/>
              </a:rPr>
              <a:t>Do tych usług należą </a:t>
            </a:r>
            <a:r>
              <a:rPr lang="pl" sz="1200">
                <a:solidFill>
                  <a:srgbClr val="0A0A0A"/>
                </a:solidFill>
                <a:latin typeface="Tahoma"/>
                <a:ea typeface="Tahoma"/>
                <a:cs typeface="Tahoma"/>
                <a:sym typeface="Tahoma"/>
              </a:rPr>
              <a:t>między</a:t>
            </a:r>
            <a:r>
              <a:rPr lang="pl" sz="1200">
                <a:solidFill>
                  <a:srgbClr val="0A0A0A"/>
                </a:solidFill>
                <a:latin typeface="Tahoma"/>
                <a:ea typeface="Tahoma"/>
                <a:cs typeface="Tahoma"/>
                <a:sym typeface="Tahoma"/>
              </a:rPr>
              <a:t> innymi </a:t>
            </a:r>
            <a:endParaRPr sz="1200">
              <a:solidFill>
                <a:srgbClr val="0A0A0A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1. </a:t>
            </a:r>
            <a:r>
              <a:rPr b="1"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Object Storage</a:t>
            </a: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(najczęściej spotykane). </a:t>
            </a:r>
            <a:r>
              <a:rPr b="1"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Object Storage</a:t>
            </a: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(przechowywanie obiektowe) to </a:t>
            </a:r>
            <a:r>
              <a:rPr b="1"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sposób przechowywania danych w chmurze</a:t>
            </a: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w którym pliki są trzymane jako </a:t>
            </a:r>
            <a:r>
              <a:rPr b="1"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niezależne obiekty</a:t>
            </a: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a nie jak na dysku w folderach. Przykłady: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AWS S3</a:t>
            </a:r>
            <a:endParaRPr sz="12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Azure Blob Storage</a:t>
            </a:r>
            <a:endParaRPr sz="12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Google Cloud Storage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Przechowuje</a:t>
            </a: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pliki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zdjęcia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PDF-y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backupy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logi</a:t>
            </a:r>
            <a:endParaRPr sz="1200">
              <a:solidFill>
                <a:srgbClr val="0A0A0A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0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Chmura i jej usługi, c.d.</a:t>
            </a:r>
            <a:endParaRPr/>
          </a:p>
        </p:txBody>
      </p:sp>
      <p:sp>
        <p:nvSpPr>
          <p:cNvPr id="667" name="Google Shape;667;p10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2. </a:t>
            </a:r>
            <a:r>
              <a:rPr b="1"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Block Storage</a:t>
            </a: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(wirtualne dyski)  to </a:t>
            </a:r>
            <a:r>
              <a:rPr b="1"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rodzaj przechowywania danych w chmurze</a:t>
            </a: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który działa </a:t>
            </a:r>
            <a:r>
              <a:rPr b="1"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jak klasyczny dysk twardy</a:t>
            </a: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podłączony do komputera lub serwera.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Przykłady: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AWS EBS</a:t>
            </a:r>
            <a:endParaRPr sz="12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Azure Managed Disks</a:t>
            </a:r>
            <a:b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Przechowuje</a:t>
            </a: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system plików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dane baz danych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aplikacje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1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Chmura i jej usługi, c.d.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1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3. </a:t>
            </a:r>
            <a:r>
              <a:rPr b="1"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File Storage</a:t>
            </a: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(jak sieciowy dysk). to </a:t>
            </a:r>
            <a:r>
              <a:rPr b="1"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współdzielone miejsce na pliki</a:t>
            </a: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do którego </a:t>
            </a:r>
            <a:r>
              <a:rPr b="1"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wiele komputerów lub serwerów ma jednoczesny dostęp</a:t>
            </a: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tak jak do </a:t>
            </a:r>
            <a:r>
              <a:rPr b="1"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dysku sieciowego w firmie</a:t>
            </a: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Przykłady: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AWS EFS</a:t>
            </a:r>
            <a:endParaRPr sz="12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Azure Files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Przechowuje</a:t>
            </a: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pliki współdzielone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uploady użytkowników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4. </a:t>
            </a:r>
            <a:r>
              <a:rPr b="1"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Bazy danych</a:t>
            </a: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jako usługa. Przykłady: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AWS RDS</a:t>
            </a:r>
            <a:endParaRPr sz="12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Azure SQL Database</a:t>
            </a:r>
            <a:endParaRPr sz="12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Cloud SQL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Przechowuje</a:t>
            </a: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dane strukturalne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1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Chmura i jej usługi, c.d.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1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5. </a:t>
            </a:r>
            <a:r>
              <a:rPr b="1"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Backup / Archive Storage</a:t>
            </a: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to </a:t>
            </a:r>
            <a:r>
              <a:rPr b="1"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specjalny typ przechowywania danych w chmurze</a:t>
            </a: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który służy </a:t>
            </a:r>
            <a:r>
              <a:rPr b="1"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do kopii zapasowych i długoterminowego archiwizowania danych</a:t>
            </a: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a nie do codziennej pracy z plikami. Przykłady: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4587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AWS Glacier</a:t>
            </a:r>
            <a:endParaRPr sz="12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Azure Archive Storage</a:t>
            </a:r>
            <a:b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l" sz="12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Przechowuje</a:t>
            </a: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archiwa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dane rzadko używane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1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1. </a:t>
            </a:r>
            <a:r>
              <a:rPr lang="pl" sz="2440">
                <a:latin typeface="Tahoma"/>
                <a:ea typeface="Tahoma"/>
                <a:cs typeface="Tahoma"/>
                <a:sym typeface="Tahoma"/>
              </a:rPr>
              <a:t>Przechowywanie plików w chmurze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60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85" name="Google Shape;685;p11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Pliki (np. dokumenty, zdjęcia, wideo) są przechowywane w usługach typu </a:t>
            </a: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object storage</a:t>
            </a:r>
            <a:r>
              <a:rPr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 lub </a:t>
            </a: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block storage</a:t>
            </a:r>
            <a:r>
              <a:rPr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endParaRPr sz="1400">
              <a:solidFill>
                <a:srgbClr val="741B4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To działa jak wirtualny dysk twardy, ale dane są dzielone na obiekty (pliki) i przechowywane w rozproszonych systemach.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Dostawca chmury zarządza replikacją danych (kopiami w różnych lokalizacjach), aby zapobiec utracie.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1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Przechowywanie plików w chmurze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40"/>
          </a:p>
        </p:txBody>
      </p:sp>
      <p:sp>
        <p:nvSpPr>
          <p:cNvPr id="691" name="Google Shape;691;p11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Jak to działa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Użytkownik uploaduje plik przez API, aplikację lub interfejs webowy. Plik jest dzielony na bloki, szyfrowany i rozproszony po serwerach. Dostęp odbywa się przez unikalny URL lub klucz dostępu.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Przykład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Amazon S3 (Simple Storage Service) – możesz wrzucić plik PDF, a S3 automatycznie stworzy kopie w różnych regionach geograficznych dla bezpieczeństwa.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Zastosowanie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W aplikacjach mobilnych, np. Instagram przechowuje zdjęcia użytkowników w chmurze, co pozwala na szybki dostęp z dowolnego urządzenia.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1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6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2. Przechowywanie baz danych w chmurze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97" name="Google Shape;697;p1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Bazy danych są hostowane w usługach </a:t>
            </a: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managed database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gdzie dostawca chmury zarządza serwerem, aktualizacjami i backupami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Mogą to być relacyjne bazy (SQL, jak MySQL) lub nierelacyjne (NoSQL, jak MongoDB).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1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711">
                <a:latin typeface="Tahoma"/>
                <a:ea typeface="Tahoma"/>
                <a:cs typeface="Tahoma"/>
                <a:sym typeface="Tahoma"/>
              </a:rPr>
              <a:t>Przechowywanie baz danych</a:t>
            </a:r>
            <a:endParaRPr sz="2711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Jak to działa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Tworzysz instancję bazy, łączysz się z nią przez połączenie sieciowe (np. JDBC). Dane są przechowywane na dyskach chmurowych z automatyczną replikacją i skalowaniem (np. dodawanie mocy obliczeniowej w razie wzrostu obciążenia).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Przykład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Google Cloud SQL – firma e-commerce przechowuje dane klientów (imiona, zamówienia) w bazie MySQL hostowanej w chmurze, co pozwala na automatyczne skalowanie podczas Black Friday.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Zastosowanie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W aplikacjach webowych, np. Netflix używa chmurowych baz do przechowywania preferencji użytkowników, co umożliwia personalizację treści na skalę globalną.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6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3. Przechowywanie aplikacji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9" name="Google Shape;709;p1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Aplikacje są wdrażane w chmurze za pomocą </a:t>
            </a: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kontenerów</a:t>
            </a:r>
            <a:r>
              <a:rPr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(np. Docker),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orkiestrantów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(Kubernetes) lub modeli </a:t>
            </a: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serverless</a:t>
            </a:r>
            <a:r>
              <a:rPr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bez serwerowych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). 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Kod aplikacji jest pakowany w kontener i uruchamiany na wirtualnych maszynach lub funkcjach chmurowych.</a:t>
            </a:r>
            <a:endParaRPr b="1" sz="1400">
              <a:solidFill>
                <a:srgbClr val="741B4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1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Przechowywanie aplikacji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40"/>
          </a:p>
        </p:txBody>
      </p:sp>
      <p:sp>
        <p:nvSpPr>
          <p:cNvPr id="715" name="Google Shape;715;p1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1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Jak to działa</a:t>
            </a: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Aplikacja jest budowana jako obraz (image), uploadowana do repozytorium chmurowego, a potem uruchamiana na żądanie. Chmura zarządza zasobami (CPU, RAM) dynamicznie.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1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Przykład</a:t>
            </a: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AWS Lambda – aplikacja do przetwarzania obrazów (np. automatyczne tagowanie zdjęć) jest przechowywana jako funkcja kodu, która uruchamia się tylko wtedy, gdy ktoś uploaduje plik, bez stałego serwera.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1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Zastosowanie</a:t>
            </a: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W DevOps, np. Uber deployuje aplikacje w chmurze, co pozwala na szybkie aktualizacje i skalowanie floty serwerów w zależności od liczby użytkowników.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Ogólne zastosowanie chmury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40"/>
          </a:p>
        </p:txBody>
      </p:sp>
      <p:sp>
        <p:nvSpPr>
          <p:cNvPr id="721" name="Google Shape;721;p1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Chmura jest używana w biznesie, edukacji i codziennym życiu. 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Na przykład, firma startupowa może przechowywać pliki w Dropbox (opartym na chmurze), bazy danych w Azure SQL i aplikacje w Heroku, co pozwala na szybki rozwój bez inwestycji w sprzęt. W medycynie chmura przechowuje dane pacjentów (zgodne z GDPR/HIPAA), enabling telemedycynę.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Zalety</a:t>
            </a:r>
            <a:endParaRPr/>
          </a:p>
        </p:txBody>
      </p:sp>
      <p:sp>
        <p:nvSpPr>
          <p:cNvPr id="727" name="Google Shape;727;p1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134F5C"/>
                </a:solidFill>
                <a:latin typeface="Tahoma"/>
                <a:ea typeface="Tahoma"/>
                <a:cs typeface="Tahoma"/>
                <a:sym typeface="Tahoma"/>
              </a:rPr>
              <a:t>Zalety</a:t>
            </a:r>
            <a:endParaRPr b="1" sz="1400">
              <a:solidFill>
                <a:srgbClr val="134F5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Skalowalność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Łatwo zwiększyć zasoby (np. z 1 TB do 100 TB) bez kupowania nowego sprzętu.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Dostępność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Dane dostępne z dowolnego miejsca z internetem, 24/7, z wysoką redundancją (np. 99.99% uptime).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Koszt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Płacisz tylko za użyte zasoby (pay-as-you-go), co jest tańsze niż utrzymanie własnego serwera.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Bezpieczeństwo i backup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Automatyczne szyfrowanie, firewalle i kopie zapasowe.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Łatwość zarządzania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Dostawcy obsługują aktualizacje i maintenance.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</a:t>
            </a:r>
            <a:r>
              <a:rPr lang="pl"/>
              <a:t>ady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1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A61C00"/>
                </a:solidFill>
                <a:latin typeface="Tahoma"/>
                <a:ea typeface="Tahoma"/>
                <a:cs typeface="Tahoma"/>
                <a:sym typeface="Tahoma"/>
              </a:rPr>
              <a:t>Wady</a:t>
            </a:r>
            <a:endParaRPr b="1" sz="1400">
              <a:solidFill>
                <a:srgbClr val="A61C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Zależność od internetu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Bez połączenia nie masz dostępu do danych.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Koszty ukryte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Przy dużym zużyciu (np. transfer danych) rachunki mogą wzrosnąć nieoczekiwanie.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Bezpieczeństwo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Ryzyko wycieków danych (np. ataki hakerskie), choć dostawcy mają zabezpieczenia – zależy od konfiguracji użytkownika.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Utrata kontroli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Dane są u trzeciej strony, co może budzić obawy o prywatność lub zgodność z prawem (np. gdzie fizycznie są serwery?).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Opóźnienia (latency)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Dla aplikacji wymagających szybkiego dostępu (np. gry online) chmura może być wolniejsza niż lokalny serwer.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